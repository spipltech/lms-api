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91695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Day 1: Computer Evolution,</a:t>
            </a:r>
          </a:p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Architecture &amp; Number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389120"/>
            <a:ext cx="8503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0">
                <a:solidFill>
                  <a:srgbClr val="5B9BD5"/>
                </a:solidFill>
                <a:latin typeface="Calibri"/>
              </a:defRPr>
            </a:pPr>
            <a:r>
              <a:t>C-CAT Preparation Course — Module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669280"/>
            <a:ext cx="8503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99AACC"/>
                </a:solidFill>
                <a:latin typeface="Calibri"/>
              </a:defRPr>
            </a:pPr>
            <a:r>
              <a:t>CDAC PG-DAC Entrance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IPO Cycle — Input, Processing,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286000" cy="1371600"/>
          </a:xfrm>
          <a:prstGeom prst="round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  <a:br/>
            <a:r>
              <a:t>DEVICES</a:t>
            </a:r>
            <a:br/>
            <a:br/>
            <a:r>
              <a:t>Keyboard, Mouse,</a:t>
            </a:r>
            <a:br/>
            <a:r>
              <a:t>Scanner, Mic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743200"/>
            <a:ext cx="731520" cy="457200"/>
          </a:xfrm>
          <a:prstGeom prst="rightArrow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645920"/>
            <a:ext cx="3840480" cy="2743200"/>
          </a:xfrm>
          <a:prstGeom prst="roundRect">
            <a:avLst/>
          </a:prstGeom>
          <a:solidFill>
            <a:srgbClr val="1B2A4A"/>
          </a:solidFill>
          <a:ln w="381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840480" y="1737360"/>
            <a:ext cx="3474720" cy="54864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CPU (PROCESSING)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468880"/>
            <a:ext cx="1554480" cy="64008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468880"/>
            <a:ext cx="1554480" cy="64008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Control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291840"/>
            <a:ext cx="3291840" cy="64008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Registers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846320"/>
            <a:ext cx="2926080" cy="9144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MEMORY</a:t>
            </a:r>
            <a:br/>
            <a:r>
              <a:t>(RAM / Cache)</a:t>
            </a:r>
          </a:p>
        </p:txBody>
      </p:sp>
      <p:sp>
        <p:nvSpPr>
          <p:cNvPr id="13" name="Right Arrow 12"/>
          <p:cNvSpPr/>
          <p:nvPr/>
        </p:nvSpPr>
        <p:spPr>
          <a:xfrm rot="5400000">
            <a:off x="5120640" y="4434840"/>
            <a:ext cx="457200" cy="32004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589520" y="2743200"/>
            <a:ext cx="731520" cy="457200"/>
          </a:xfrm>
          <a:prstGeom prst="rightArrow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286000"/>
            <a:ext cx="228600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  <a:br/>
            <a:r>
              <a:t>DEVICES</a:t>
            </a:r>
            <a:br/>
            <a:br/>
            <a:r>
              <a:t>Monitor, Printer,</a:t>
            </a:r>
            <a:br/>
            <a:r>
              <a:t>Speaker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4846320"/>
            <a:ext cx="2560320" cy="9144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STORAGE</a:t>
            </a:r>
            <a:br/>
            <a:r>
              <a:t>(HDD, SSD, USB)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Computer Generations — Timeline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11247120" cy="7315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1st Gen</a:t>
            </a:r>
            <a:br/>
            <a:r>
              <a:t>1940-1956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315468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9888" y="2286000"/>
            <a:ext cx="73152" cy="8686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201168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Vacuum</a:t>
            </a:r>
            <a:br/>
            <a:r>
              <a:t>Tubes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9144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2nd Gen</a:t>
            </a:r>
            <a:br/>
            <a:r>
              <a:t>1956-1963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154680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5888" y="2286000"/>
            <a:ext cx="73152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3657600"/>
            <a:ext cx="201168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Transistors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011680" cy="914400"/>
          </a:xfrm>
          <a:prstGeom prst="round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3rd Gen</a:t>
            </a:r>
            <a:br/>
            <a:r>
              <a:t>1964-1971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154680"/>
            <a:ext cx="320040" cy="320040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2286000"/>
            <a:ext cx="73152" cy="86868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3657600"/>
            <a:ext cx="201168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Integrated</a:t>
            </a:r>
            <a:br/>
            <a:r>
              <a:t>Circuits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201168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4th Gen</a:t>
            </a:r>
            <a:br/>
            <a:r>
              <a:t>1971-Present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315468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47888" y="2286000"/>
            <a:ext cx="73152" cy="8686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3657600"/>
            <a:ext cx="201168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Micro-</a:t>
            </a:r>
            <a:br/>
            <a:r>
              <a:t>processors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2011680" cy="91440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5th Gen</a:t>
            </a:r>
            <a:br/>
            <a:r>
              <a:t>Present+</a:t>
            </a:r>
          </a:p>
        </p:txBody>
      </p:sp>
      <p:sp>
        <p:nvSpPr>
          <p:cNvPr id="23" name="Oval 22"/>
          <p:cNvSpPr/>
          <p:nvPr/>
        </p:nvSpPr>
        <p:spPr>
          <a:xfrm>
            <a:off x="10424160" y="3154680"/>
            <a:ext cx="320040" cy="32004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33888" y="2286000"/>
            <a:ext cx="73152" cy="86868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0" y="3657600"/>
            <a:ext cx="201168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AI / ULSI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663440"/>
            <a:ext cx="1097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1940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663440"/>
            <a:ext cx="1097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1956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663440"/>
            <a:ext cx="1097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1964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1971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4663440"/>
            <a:ext cx="1097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Present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Generations are classified by the primary electronic component used — know which technology belongs to which generation!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First Generation (1940-1956): Vacuum Tubes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Used Vacuum Tubes as the primary electronic component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ENIAC — First general-purpose computer (30 tons, 18,000 vacuum tubes!)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Programmed in Machine Language (binary 0s and 1s only)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Enormous size — occupied entire rooms, consumed huge power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Magnetic drum memory used for storage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Examples: ENIAC, UNIVAC I, IBM 701, EDVAC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ENIAC facts are frequently tested: 30 tons, 18,000 vacuum tubes, 1946. Also remember UNIVAC I was the first commercial computer.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Second Generation (1956-1963): Transistors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Transistors replaced vacuum tubes — smaller, faster, more reliable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Cheaper and consumed much less power than 1st generation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Assembly language introduced; also FORTRAN &amp; COBOL (HLLs)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Magnetic Core Memory used as primary memory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Punched cards still used for input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Examples: IBM 1401, IBM 7094, CDC 1604, UNIVAC 1108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Transistor = 2nd Gen. FORTRAN (1957) and COBOL (1959) were born in this era. Magnetic core memory is the key storage tech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Third Generation (1964-1971): Integrated Circuits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Integrated Circuits (ICs) — many transistors on a single silicon chip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Keyboard and Monitor introduced (replacing punched cards)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High-Level Languages: BASIC, Pascal, C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Time-sharing Operating Systems enabled multiple users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Smaller, cheaper, more efficient than 2nd generation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Examples: IBM 360 series, PDP-8, Honeywell 6000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IC = 3rd Gen (not 4th!). IBM 360 is the most important example. Time-sharing OS started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Fourth Generation (1971-Present): Microprocessors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VLSI (Very Large Scale Integration) — entire CPU on a single chip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Intel 4004 — first commercial microprocessor (1971)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Personal Computers (PCs) became affordable for individuals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GUI-based Operating Systems (Windows, Mac OS)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Intel Evolution: 4004 → 8086 → 80386 → Pentium → Core i-series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Examples: IBM PC, Apple Macintosh, modern desktops &amp; laptops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Intel 4004 (1971) = first microprocessor. VLSI is 4th Gen, ULSI is 5th Gen. Don't confuse IC (3rd) with VLSI (4th)!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Fifth Generation (Present &amp; Beyond):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ULSI (Ultra Large Scale Integration) technology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Parallel Processing &amp; Superconductors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Natural Language Processing (NLP) and understanding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Machine Learning and Deep Learning capabilities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Expert Systems and Knowledge-based computing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Examples: IBM Watson, Google AlphaGo, ChatGPT, Self-driving cars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5th Gen = AI + ULSI. Focus areas: NLP, ML, parallel processing. This generation is about computers that THINK and 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Computer Generations — Summary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560320"/>
                <a:gridCol w="256032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1st Generation</a:t>
                      </a:r>
                    </a:p>
                  </a:txBody>
                  <a:tcPr anchor="ctr">
                    <a:solidFill>
                      <a:srgbClr val="FAE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1940-1956</a:t>
                      </a:r>
                    </a:p>
                  </a:txBody>
                  <a:tcPr anchor="ctr">
                    <a:solidFill>
                      <a:srgbClr val="FAE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Vacuum Tubes</a:t>
                      </a:r>
                    </a:p>
                  </a:txBody>
                  <a:tcPr anchor="ctr">
                    <a:solidFill>
                      <a:srgbClr val="FAE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Machine Language</a:t>
                      </a:r>
                    </a:p>
                  </a:txBody>
                  <a:tcPr anchor="ctr">
                    <a:solidFill>
                      <a:srgbClr val="FAE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ENIAC, UNIVAC I</a:t>
                      </a:r>
                    </a:p>
                  </a:txBody>
                  <a:tcPr anchor="ctr">
                    <a:solidFill>
                      <a:srgbClr val="FAE5E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2nd Generation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1956-1963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Transistors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Assembly, FORTRAN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IBM 1401, IBM 7094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3rd Generation</a:t>
                      </a:r>
                    </a:p>
                  </a:txBody>
                  <a:tcPr anchor="ctr"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1964-1971</a:t>
                      </a:r>
                    </a:p>
                  </a:txBody>
                  <a:tcPr anchor="ctr"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ICs</a:t>
                      </a:r>
                    </a:p>
                  </a:txBody>
                  <a:tcPr anchor="ctr"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BASIC, Pascal, C</a:t>
                      </a:r>
                    </a:p>
                  </a:txBody>
                  <a:tcPr anchor="ctr"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IBM 360, PDP-8</a:t>
                      </a:r>
                    </a:p>
                  </a:txBody>
                  <a:tcPr anchor="ctr">
                    <a:solidFill>
                      <a:srgbClr val="FCF3C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4th Generation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1971-Present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Microprocessors</a:t>
                      </a:r>
                    </a:p>
                    <a:p>
                      <a:r>
                        <a:t>(VLSI)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C, C++, Java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IBM PC, Mac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5th Generation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Present+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/ ULSI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NLP, ML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Watson, ChatGPT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Classification by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3200400"/>
          </a:xfrm>
          <a:prstGeom prst="roundRect">
            <a:avLst/>
          </a:prstGeom>
          <a:solidFill>
            <a:srgbClr val="3A7CB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MICRO-</a:t>
            </a:r>
            <a:br/>
            <a:r>
              <a:t>COMPUTER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──────────────────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PC, Laptop, Tablet</a:t>
            </a:r>
            <a:br/>
            <a:r>
              <a:t>Single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2560320" cy="3474720"/>
          </a:xfrm>
          <a:prstGeom prst="roundRect">
            <a:avLst/>
          </a:prstGeom>
          <a:solidFill>
            <a:srgbClr val="1ABC9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MINI-</a:t>
            </a:r>
            <a:br/>
            <a:r>
              <a:t>COMPUTER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──────────────────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PDP-11, AS/400</a:t>
            </a:r>
            <a:br/>
            <a:r>
              <a:t>Up to 200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280160"/>
            <a:ext cx="2560320" cy="3749039"/>
          </a:xfrm>
          <a:prstGeom prst="roundRect">
            <a:avLst/>
          </a:prstGeom>
          <a:solidFill>
            <a:srgbClr val="2C3E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MAINFRAME</a:t>
            </a:r>
            <a:br/>
            <a:r>
              <a:t>COMPUTER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──────────────────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IBM zSeries</a:t>
            </a:r>
            <a:br/>
            <a:r>
              <a:t>Thousands of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560320" cy="393192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SUPER-</a:t>
            </a:r>
            <a:br/>
            <a:r>
              <a:t>COMPUTER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──────────────────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PARAM, Fugaku</a:t>
            </a:r>
            <a:br/>
            <a:r>
              <a:t>Scientific computing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14400" y="5486400"/>
            <a:ext cx="10058400" cy="45720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Increasing Size, Power &amp; Cost 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Classification by Data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731520"/>
          </a:xfrm>
          <a:prstGeom prst="round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474720" cy="3200400"/>
          </a:xfrm>
          <a:prstGeom prst="rect">
            <a:avLst/>
          </a:prstGeom>
          <a:solidFill>
            <a:srgbClr val="F2F2F2"/>
          </a:solidFill>
          <a:ln w="254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Processes continuous data</a:t>
            </a:r>
            <a:br/>
            <a:r>
              <a:t>(physical quantities)</a:t>
            </a:r>
            <a:br/>
            <a:br/>
            <a:r>
              <a:t>Measures: temperature,</a:t>
            </a:r>
            <a:br/>
            <a:r>
              <a:t>pressure, voltage</a:t>
            </a:r>
            <a:br/>
            <a:br/>
            <a:r>
              <a:t>Example: Speedometer,</a:t>
            </a:r>
            <a:br/>
            <a:r>
              <a:t>Oscilloscope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474720" cy="7315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194560"/>
            <a:ext cx="3474720" cy="3200400"/>
          </a:xfrm>
          <a:prstGeom prst="rect">
            <a:avLst/>
          </a:prstGeom>
          <a:solidFill>
            <a:srgbClr val="F2F2F2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Processes discrete</a:t>
            </a:r>
            <a:br/>
            <a:r>
              <a:t>binary data (0s and 1s)</a:t>
            </a:r>
            <a:br/>
            <a:br/>
            <a:r>
              <a:t>All modern PCs and</a:t>
            </a:r>
            <a:br/>
            <a:r>
              <a:t>servers are digital</a:t>
            </a:r>
            <a:br/>
            <a:br/>
            <a:r>
              <a:t>Example: Desktops,</a:t>
            </a:r>
            <a:br/>
            <a:r>
              <a:t>Laptops, Smartphones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474720" cy="7315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194560"/>
            <a:ext cx="3474720" cy="3200400"/>
          </a:xfrm>
          <a:prstGeom prst="rect">
            <a:avLst/>
          </a:prstGeom>
          <a:solidFill>
            <a:srgbClr val="F2F2F2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Combination of</a:t>
            </a:r>
            <a:br/>
            <a:r>
              <a:t>Analog + Digital</a:t>
            </a:r>
            <a:br/>
            <a:br/>
            <a:r>
              <a:t>Analog input →</a:t>
            </a:r>
            <a:br/>
            <a:r>
              <a:t>Digital processing</a:t>
            </a:r>
            <a:br/>
            <a:br/>
            <a:r>
              <a:t>Example: ICU monitors,</a:t>
            </a:r>
            <a:br/>
            <a:r>
              <a:t>Petrol pump 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Digital = discrete (0/1), Analog = continuous. Hybrid combines both. ICU monitor is a classic hybrid example!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Von Neumann Architecture —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828800" cy="1097280"/>
          </a:xfrm>
          <a:prstGeom prst="round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  <a:br/>
            <a:r>
              <a:t>UNIT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3017520"/>
            <a:ext cx="640080" cy="365760"/>
          </a:xfrm>
          <a:prstGeom prst="rightArrow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5029200" cy="3657600"/>
          </a:xfrm>
          <a:prstGeom prst="rect">
            <a:avLst/>
          </a:prstGeom>
          <a:noFill/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371600"/>
            <a:ext cx="5029200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CPU (Central Processing Unit)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94560"/>
            <a:ext cx="2103120" cy="9144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ALU</a:t>
            </a:r>
            <a:br/>
            <a:r>
              <a:t>(Arithmetic &amp; Logic Unit)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194560"/>
            <a:ext cx="2103120" cy="9144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CONTROL UNIT</a:t>
            </a:r>
            <a:br/>
            <a:r>
              <a:t>(Directs &amp; Coordinates)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383280"/>
            <a:ext cx="4480560" cy="82296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REGISTERS  (PC, IR, ACC, MAR, MDR)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389120"/>
            <a:ext cx="4480560" cy="457200"/>
          </a:xfrm>
          <a:prstGeom prst="round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Internal Bus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3017520"/>
            <a:ext cx="640080" cy="365760"/>
          </a:xfrm>
          <a:prstGeom prst="rightArrow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2743200"/>
            <a:ext cx="18288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  <a:br/>
            <a:r>
              <a:t>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5486400"/>
            <a:ext cx="3657600" cy="8229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MEMORY UNIT (RAM / ROM)</a:t>
            </a:r>
          </a:p>
        </p:txBody>
      </p:sp>
      <p:sp>
        <p:nvSpPr>
          <p:cNvPr id="16" name="Right Arrow 15"/>
          <p:cNvSpPr/>
          <p:nvPr/>
        </p:nvSpPr>
        <p:spPr>
          <a:xfrm rot="5400000">
            <a:off x="5303520" y="4937760"/>
            <a:ext cx="457200" cy="32004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486400"/>
            <a:ext cx="3200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392B"/>
                </a:solidFill>
                <a:latin typeface="Calibri"/>
              </a:defRPr>
            </a:pPr>
            <a:r>
              <a:t>System Bus (Address + Data + Control)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43600"/>
            <a:ext cx="114300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CPU Internal Structure — Zoomed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9418320" cy="4754880"/>
          </a:xfrm>
          <a:prstGeom prst="rect">
            <a:avLst/>
          </a:prstGeom>
          <a:noFill/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280160"/>
            <a:ext cx="9418320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CENTRAL PROCESSING UNIT (CPU)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4114800" cy="18288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645920" y="2103120"/>
            <a:ext cx="4114800" cy="5029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ALU — Arithmetic &amp; Logic 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743200"/>
            <a:ext cx="3657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333333"/>
                </a:solidFill>
                <a:latin typeface="Calibri"/>
              </a:defRPr>
            </a:pPr>
            <a:r>
              <a:t>• Arithmetic: +, –, ×, ÷</a:t>
            </a: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• Logic: AND, OR, NOT, XOR</a:t>
            </a: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• Comparison: &lt;, &gt;, =, 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4297680" cy="1828800"/>
          </a:xfrm>
          <a:prstGeom prst="roundRect">
            <a:avLst/>
          </a:prstGeom>
          <a:solidFill>
            <a:srgbClr val="D5F5E3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429768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Control Unit — Directs &amp; Coordinates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38404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333333"/>
                </a:solidFill>
                <a:latin typeface="Calibri"/>
              </a:defRPr>
            </a:pPr>
            <a:r>
              <a:t>• Fetches instructions from memory</a:t>
            </a: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• Decodes instructions</a:t>
            </a: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• Controls data flow between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297680"/>
            <a:ext cx="8869680" cy="45720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REGISTERS — High-Speed Temporary Storage Inside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937760"/>
            <a:ext cx="128016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PC</a:t>
            </a:r>
            <a:br/>
            <a:r>
              <a:t>Program</a:t>
            </a:r>
            <a:br/>
            <a:r>
              <a:t>Counter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4937760"/>
            <a:ext cx="128016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IR</a:t>
            </a:r>
            <a:br/>
            <a:r>
              <a:t>Instruction</a:t>
            </a:r>
            <a:br/>
            <a:r>
              <a:t>Register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937760"/>
            <a:ext cx="128016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ACC</a:t>
            </a:r>
            <a:br/>
            <a:r>
              <a:t>Accumulator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937760"/>
            <a:ext cx="128016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MAR</a:t>
            </a:r>
            <a:br/>
            <a:r>
              <a:t>Memory Address</a:t>
            </a:r>
            <a:br/>
            <a:r>
              <a:t>Register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937760"/>
            <a:ext cx="128016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MDR</a:t>
            </a:r>
            <a:br/>
            <a:r>
              <a:t>Memory Data</a:t>
            </a:r>
            <a:br/>
            <a:r>
              <a:t>Register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937760"/>
            <a:ext cx="1280160" cy="1005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FLAGS</a:t>
            </a:r>
            <a:br/>
            <a:r>
              <a:t>Status</a:t>
            </a:r>
            <a:br/>
            <a:r>
              <a:t>Register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Bus — Address, Data &amp;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32004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CPU</a:t>
            </a:r>
            <a:br/>
            <a:br/>
            <a:r>
              <a:t>(Processor)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828800"/>
            <a:ext cx="2286000" cy="32004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MEMORY</a:t>
            </a:r>
            <a:br/>
            <a:br/>
            <a:r>
              <a:t>(RAM / ROM)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303520"/>
            <a:ext cx="2286000" cy="82296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I/O Devices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48840"/>
            <a:ext cx="548640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691640"/>
            <a:ext cx="34747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0392B"/>
                </a:solidFill>
                <a:latin typeface="Calibri"/>
              </a:rPr>
              <a:t>ADDRESS BUS  </a:t>
            </a:r>
            <a:r>
              <a:rPr sz="1200">
                <a:solidFill>
                  <a:srgbClr val="333333"/>
                </a:solidFill>
                <a:latin typeface="Calibri"/>
              </a:rPr>
              <a:t>— Unidirectional (CPU → Memory)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15200" y="2057400"/>
            <a:ext cx="1280160" cy="36576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3337560"/>
            <a:ext cx="5486400" cy="228600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880360"/>
            <a:ext cx="34747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A7CBD"/>
                </a:solidFill>
                <a:latin typeface="Calibri"/>
              </a:rPr>
              <a:t>DATA BUS  </a:t>
            </a:r>
            <a:r>
              <a:rPr sz="1200">
                <a:solidFill>
                  <a:srgbClr val="333333"/>
                </a:solidFill>
                <a:latin typeface="Calibri"/>
              </a:rPr>
              <a:t>— Bidirectional (CPU ↔ Memory)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15200" y="3246120"/>
            <a:ext cx="1280160" cy="365760"/>
          </a:xfrm>
          <a:prstGeom prst="rightArrow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10800000">
            <a:off x="4114800" y="3246120"/>
            <a:ext cx="1280160" cy="365760"/>
          </a:xfrm>
          <a:prstGeom prst="rightArrow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4526280"/>
            <a:ext cx="5486400" cy="2286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069080"/>
            <a:ext cx="34747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7AE60"/>
                </a:solidFill>
                <a:latin typeface="Calibri"/>
              </a:rPr>
              <a:t>CONTROL BUS  </a:t>
            </a:r>
            <a:r>
              <a:rPr sz="1200">
                <a:solidFill>
                  <a:srgbClr val="333333"/>
                </a:solidFill>
                <a:latin typeface="Calibri"/>
              </a:rPr>
              <a:t>— Bidirectional (CPU ↔ Memory)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15200" y="4434840"/>
            <a:ext cx="1280160" cy="365760"/>
          </a:xfrm>
          <a:prstGeom prst="rightArrow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10800000">
            <a:off x="4114800" y="4434840"/>
            <a:ext cx="1280160" cy="365760"/>
          </a:xfrm>
          <a:prstGeom prst="rightArrow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Address Bus is ONE-WAY (CPU→Memory). Data Bus and Control Bus are TWO-WAY. This is a very common C-CAT question!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Memory Hierarchy — Speed vs. Cost vs.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00400" cy="914400"/>
          </a:xfrm>
          <a:prstGeom prst="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Registers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Fastest | Smallest | Most Expensive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377440"/>
            <a:ext cx="5029200" cy="914400"/>
          </a:xfrm>
          <a:prstGeom prst="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Cache (SRAM)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Very Fast | Small | Expensive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383280"/>
            <a:ext cx="7315200" cy="914400"/>
          </a:xfrm>
          <a:prstGeom prst="rect">
            <a:avLst/>
          </a:prstGeom>
          <a:solidFill>
            <a:srgbClr val="F1C40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RAM (DRAM)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Fast | Medium | Moderate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Secondary Storage
(HDD / SSD)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Slowest | Largest | Cheapest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548640" cy="411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C0392B"/>
                </a:solidFill>
                <a:latin typeface="Calibri"/>
              </a:defRPr>
            </a:pPr>
            <a:r>
              <a:t>S</a:t>
            </a:r>
            <a:br/>
            <a:r>
              <a:t>P</a:t>
            </a:r>
            <a:br/>
            <a:r>
              <a:t>E</a:t>
            </a:r>
            <a:br/>
            <a:r>
              <a:t>E</a:t>
            </a:r>
            <a:br/>
            <a: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0" y="1371600"/>
            <a:ext cx="548640" cy="411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</a:t>
            </a:r>
            <a:br/>
            <a:r>
              <a:t>I</a:t>
            </a:r>
            <a:br/>
            <a:r>
              <a:t>Z</a:t>
            </a:r>
            <a:br/>
            <a:r>
              <a:t>E</a:t>
            </a:r>
          </a:p>
        </p:txBody>
      </p:sp>
      <p:sp>
        <p:nvSpPr>
          <p:cNvPr id="11" name="Right Arrow 10"/>
          <p:cNvSpPr/>
          <p:nvPr/>
        </p:nvSpPr>
        <p:spPr>
          <a:xfrm rot="16200000">
            <a:off x="137160" y="3200400"/>
            <a:ext cx="457200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 rot="5400000">
            <a:off x="11292840" y="3200400"/>
            <a:ext cx="457200" cy="274320"/>
          </a:xfrm>
          <a:prstGeom prst="rightArrow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Memory hierarchy order: Registers &gt; Cache &gt; RAM &gt; Secondary Storage. Speed decreases, size increases going down.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Volatile vs. Non-Volatile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7315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VOLATILE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03520" cy="27432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RAM (Random Access Memory)</a:t>
            </a:r>
          </a:p>
          <a:p>
            <a:pPr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Cache Memory (SRAM)</a:t>
            </a:r>
          </a:p>
          <a:p>
            <a:pPr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CPU Registers</a:t>
            </a:r>
          </a:p>
          <a:p>
            <a:pPr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C0392B"/>
                </a:solidFill>
                <a:latin typeface="Calibri"/>
              </a:defRPr>
            </a:pPr>
            <a:r>
              <a:t>Data is LOST when power is OFF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2743200"/>
            <a:ext cx="1097280" cy="109728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7315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NON-VOLATILE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03520" cy="2743200"/>
          </a:xfrm>
          <a:prstGeom prst="roundRect">
            <a:avLst/>
          </a:prstGeom>
          <a:solidFill>
            <a:srgbClr val="D5F5E3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ROM (Read-Only Memory)</a:t>
            </a:r>
          </a:p>
          <a:p>
            <a:pPr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HDD / SSD</a:t>
            </a:r>
          </a:p>
          <a:p>
            <a:pPr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Flash Drives / USB</a:t>
            </a:r>
          </a:p>
          <a:p>
            <a:pPr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27AE60"/>
                </a:solidFill>
                <a:latin typeface="Calibri"/>
              </a:defRPr>
            </a:pPr>
            <a:r>
              <a:t>Data is RETAINED when power is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RAM = Volatile (lost on power off). ROM, HDD, SSD = Non-Volatile (data retained). Cache is also volatile!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Number Systems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2011680"/>
                <a:gridCol w="2011680"/>
                <a:gridCol w="29260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Number System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(Radix)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Digits Used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Binary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0, 1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1010₂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Machine-level, digital circuits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Octal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0-7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752₈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Compact binary (3-bit groups)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Decimal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0-9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459₁₀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 counting (everyday)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Hexadecimal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0-9, A-F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2AF₁₆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Memory addresses, colors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Key: Subscript denotes the base. E.g., 1010₂ means 1010 in base 2 (binary).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Hexadecimal uses A=10, B=11, C=12, D=13, E=14, F=15. Don't forget the letters!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Powers of 2 — MEMORIZE THIS!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188720"/>
            <a:ext cx="758952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These values appear in almost EVERY C-CAT exam!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194560"/>
          <a:ext cx="11612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2⁴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2⁶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2⁷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2¹⁰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512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1024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Relationships: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1 Byte = 8 bits  |  1 KB = 1024 Bytes  |  1 MB = 1024 KB  |  1 GB = 1024 MB  |  1 TB = 1024 GB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Calibri"/>
              </a:defRPr>
            </a:pPr>
            <a:r>
              <a:t>1 Nibble = 4 bits  |  1 Word = 16/32/64 bits (depends on architecture)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2¹⁰ = 1024 (not 1000!). This is why 1 KB = 1024 bytes. Also know: 2¹⁶ = 65536, 2²⁰ = 1048576.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Conversion: Decimal to Binary (Division Method)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572000" cy="6400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Convert 45₁₀ to Binary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188720"/>
            <a:ext cx="59436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Method: Divide by 2 repeatedly, note remainders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Quotient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Remainder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 ÷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 ÷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 ÷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÷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÷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÷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2103120"/>
            <a:ext cx="4572000" cy="13716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Read remainders BOTTOM to TOP:</a:t>
            </a:r>
          </a:p>
          <a:p>
            <a:pPr>
              <a:spcBef>
                <a:spcPts val="1000"/>
              </a:spcBef>
              <a:defRPr sz="2400" b="1">
                <a:solidFill>
                  <a:srgbClr val="C0392B"/>
                </a:solidFill>
                <a:latin typeface="Calibri"/>
              </a:defRPr>
            </a:pPr>
            <a:r>
              <a:t>↑  1  0  1  1  0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457200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Answer:  45₁₀  =  101101₂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Always read remainders from BOTTOM to TOP. The last remainder is the MSB (Most Significant Bit).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Conversion: Binary to Decimal (Position Value Method)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6400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Convert 101101₂  to Decimal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2⁵=32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2⁴=16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2³=8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2²=4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2¹=2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2⁰=1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1×32=32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0×16=0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1×8=8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1×4=4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0×2=0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1×1=1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515600" cy="7315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Sum:  32 + 0 + 8 + 4 + 0 + 1  =  45₁₀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Multiply each bit by its positional power of 2, then add all products. Rightmost position = 2⁰.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Binary ↔ Octal: Group in 3s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000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001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010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011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Example: Convert 110101011₂ to Octal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Step 1: Group binary digits in sets of 3 (from right):  110  |  101  |  011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Step 2: Convert each group:  110 = 6  |  101 = 5  |  011 = 3</a:t>
            </a:r>
          </a:p>
          <a:p>
            <a:pPr>
              <a:spcBef>
                <a:spcPts val="800"/>
              </a:spcBef>
              <a:defRPr sz="1800" b="1">
                <a:solidFill>
                  <a:srgbClr val="27AE60"/>
                </a:solidFill>
                <a:latin typeface="Calibri"/>
              </a:defRPr>
            </a:pPr>
            <a:r>
              <a:t>Answer:  110101011₂  =  653₈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Octal uses 3-bit groups. Always group from RIGHT to LEFT. Pad with leading zeros if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Binary ↔ Hexadecimal: Group in 4s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" y="1280160"/>
          <a:ext cx="11887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  <a:gridCol w="74295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8E44A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0000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0001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0010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0011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0100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0101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0110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0111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1001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1010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1011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1100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1101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1110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1111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Remember: </a:t>
            </a:r>
            <a:r>
              <a:rPr sz="1600">
                <a:solidFill>
                  <a:srgbClr val="8E44AD"/>
                </a:solidFill>
                <a:latin typeface="Calibri"/>
              </a:rPr>
              <a:t>A=10, B=11, C=12, D=13, E=14, F=15 (Purple columns above)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1124712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700" b="1">
                <a:solidFill>
                  <a:srgbClr val="1B2A4A"/>
                </a:solidFill>
                <a:latin typeface="Calibri"/>
              </a:defRPr>
            </a:pPr>
            <a:r>
              <a:t>Example: Convert 10101111₂ to Hexadecimal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Group in 4s from right:  1010  |  1111    →    A  |  F    →    AF₁₆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Hex uses 4-bit groups. Each hex digit = exactly 4 binary bits. Group from RIGHT to LEFT!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Binary Addition — Rules &amp; Worked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029200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Binary Addition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828800" cy="41148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 + 0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920240"/>
            <a:ext cx="36576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920240"/>
            <a:ext cx="2286000" cy="4114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828800" cy="41148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 + 1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23160"/>
            <a:ext cx="36576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423160"/>
            <a:ext cx="2286000" cy="4114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828800" cy="41148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 + 0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926080"/>
            <a:ext cx="36576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926080"/>
            <a:ext cx="2286000" cy="4114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1828800" cy="41148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 + 1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429000"/>
            <a:ext cx="36576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429000"/>
            <a:ext cx="2286000" cy="41148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10  (write 0, carry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1828800" cy="41148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 + 1 + 1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931920"/>
            <a:ext cx="36576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931920"/>
            <a:ext cx="2286000" cy="41148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11  (write 1, carry 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188720"/>
            <a:ext cx="5760720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Worked Example: 1011 + 1101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920240"/>
            <a:ext cx="5760720" cy="3474720"/>
          </a:xfrm>
          <a:prstGeom prst="rect">
            <a:avLst/>
          </a:prstGeom>
          <a:solidFill>
            <a:srgbClr val="F2F2F2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ctr">
              <a:spcBef>
                <a:spcPts val="200"/>
              </a:spcBef>
              <a:defRPr sz="1800" b="1">
                <a:solidFill>
                  <a:srgbClr val="E67E22"/>
                </a:solidFill>
                <a:latin typeface="Courier New"/>
              </a:defRPr>
            </a:pPr>
            <a:r>
              <a:t>Carries:    1 1 1 1 0</a:t>
            </a:r>
          </a:p>
          <a:p>
            <a:pPr>
              <a:spcBef>
                <a:spcPts val="200"/>
              </a:spcBef>
              <a:defRPr sz="600" b="0">
                <a:solidFill>
                  <a:srgbClr val="333333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2200" b="1">
                <a:solidFill>
                  <a:srgbClr val="1B2A4A"/>
                </a:solidFill>
                <a:latin typeface="Courier New"/>
              </a:defRPr>
            </a:pPr>
            <a:r>
              <a:t>              1 0 1 1</a:t>
            </a:r>
          </a:p>
          <a:p>
            <a:pPr>
              <a:spcBef>
                <a:spcPts val="200"/>
              </a:spcBef>
              <a:defRPr sz="2200" b="1">
                <a:solidFill>
                  <a:srgbClr val="1B2A4A"/>
                </a:solidFill>
                <a:latin typeface="Courier New"/>
              </a:defRPr>
            </a:pPr>
            <a:r>
              <a:t>  +          1 1 0 1</a:t>
            </a:r>
          </a:p>
          <a:p>
            <a:pPr>
              <a:spcBef>
                <a:spcPts val="200"/>
              </a:spcBef>
              <a:defRPr sz="1800" b="0">
                <a:solidFill>
                  <a:srgbClr val="333333"/>
                </a:solidFill>
                <a:latin typeface="Courier New"/>
              </a:defRPr>
            </a:pPr>
            <a:r>
              <a:t>          ────────</a:t>
            </a:r>
          </a:p>
          <a:p>
            <a:pPr>
              <a:spcBef>
                <a:spcPts val="200"/>
              </a:spcBef>
              <a:defRPr sz="2400" b="1">
                <a:solidFill>
                  <a:srgbClr val="27AE60"/>
                </a:solidFill>
                <a:latin typeface="Courier New"/>
              </a:defRPr>
            </a:pPr>
            <a:r>
              <a:t>          1 1 0 0 0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486400"/>
            <a:ext cx="5760720" cy="4572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Verify: 1011(11) + 1101(13) = 11000(24) 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502920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1+1=10 in binary (not 2!). Always work right to left. Don't forget to carry!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2's Complement — Representing Negative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6400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is  -5  stored in 8-bit binary?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548640"/>
          </a:xfrm>
          <a:prstGeom prst="round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1: Write +5 in binary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474720" cy="731520"/>
          </a:xfrm>
          <a:prstGeom prst="rect">
            <a:avLst/>
          </a:prstGeom>
          <a:solidFill>
            <a:srgbClr val="D6EAF8"/>
          </a:solidFill>
          <a:ln w="254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A7CBD"/>
                </a:solidFill>
                <a:latin typeface="Calibri"/>
              </a:defRPr>
            </a:pPr>
            <a:r>
              <a:t>0 0 0 0 0 1 0 1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2743200"/>
            <a:ext cx="457200" cy="320040"/>
          </a:xfrm>
          <a:prstGeom prst="rightArrow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3200400" cy="5486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2: Flip ALL 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651760"/>
            <a:ext cx="3200400" cy="731520"/>
          </a:xfrm>
          <a:prstGeom prst="rect">
            <a:avLst/>
          </a:prstGeom>
          <a:solidFill>
            <a:srgbClr val="FDEBD0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Calibri"/>
              </a:defRPr>
            </a:pPr>
            <a:r>
              <a:t>1 1 1 1 1 0 1 0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46720" y="2743200"/>
            <a:ext cx="457200" cy="320040"/>
          </a:xfrm>
          <a:prstGeom prst="rightArrow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0" y="2103120"/>
            <a:ext cx="310896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3: Add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651760"/>
            <a:ext cx="3108960" cy="73152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1 1 1 1 1 0 1 1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840480"/>
            <a:ext cx="9418320" cy="9144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2's Complement Formula:   Flip all bits  +  Add 1   =   Negative number representation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937760"/>
            <a:ext cx="758952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-5 in 8-bit 2's complement  =  11111011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2's complement = Flip bits + Add 1. MSB (leftmost bit) = sign bit (0=positive, 1=negative).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2's Complement — Range of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9144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Range Formula:   – 2ⁿ⁻¹   to   + 2ⁿ⁻¹ – 1     (where n = number of bits)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56032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Bits (n)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 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Values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bits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-8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+7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8 bits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-128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+127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 bits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-32,768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+32,767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65,536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 bits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-2,147,483,648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+2,147,483,647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4,294,967,296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solidFill>
            <a:srgbClr val="FDEDEC"/>
          </a:solidFill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800" b="1">
                <a:solidFill>
                  <a:srgbClr val="C0392B"/>
                </a:solidFill>
                <a:latin typeface="Calibri"/>
              </a:rPr>
              <a:t>C-CAT TRAP:  </a:t>
            </a:r>
            <a:r>
              <a:rPr sz="1500">
                <a:solidFill>
                  <a:srgbClr val="333333"/>
                </a:solidFill>
                <a:latin typeface="Calibri"/>
              </a:rPr>
              <a:t>For 8-bit: 255 is the max for UNSIGNED representation (0 to 255). For 2's complement (SIGNED), it's -128 to +127. Don't mix them up!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BCD vs. Binary — Know the Difference!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188720"/>
            <a:ext cx="8503920" cy="6400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Represent the decimal number 59 in both BCD and Binary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03520" cy="548640"/>
          </a:xfrm>
          <a:prstGeom prst="round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BCD (Binary Coded Decimal)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5303520" cy="2286000"/>
          </a:xfrm>
          <a:prstGeom prst="rect">
            <a:avLst/>
          </a:prstGeom>
          <a:solidFill>
            <a:srgbClr val="D6EAF8"/>
          </a:solidFill>
          <a:ln w="254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333333"/>
                </a:solidFill>
                <a:latin typeface="Calibri"/>
              </a:defRPr>
            </a:pPr>
            <a:r>
              <a:t>Each decimal digit encoded separately:</a:t>
            </a:r>
          </a:p>
          <a:p>
            <a:pPr>
              <a:spcBef>
                <a:spcPts val="1200"/>
              </a:spcBef>
              <a:defRPr sz="2200" b="1">
                <a:solidFill>
                  <a:srgbClr val="1B2A4A"/>
                </a:solidFill>
                <a:latin typeface="Courier New"/>
              </a:defRPr>
            </a:pPr>
            <a:r>
              <a:t>5  →  0101     |     9  →  1001</a:t>
            </a:r>
          </a:p>
          <a:p>
            <a:pPr>
              <a:spcBef>
                <a:spcPts val="1200"/>
              </a:spcBef>
              <a:defRPr sz="2200" b="1">
                <a:solidFill>
                  <a:srgbClr val="3A7CBD"/>
                </a:solidFill>
                <a:latin typeface="Courier New"/>
              </a:defRPr>
            </a:pPr>
            <a:r>
              <a:t>BCD of 59 = 0101 1001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t>(8 bits total — 4 bits per digit)</a:t>
            </a:r>
          </a:p>
        </p:txBody>
      </p:sp>
      <p:sp>
        <p:nvSpPr>
          <p:cNvPr id="8" name="Oval 7"/>
          <p:cNvSpPr/>
          <p:nvPr/>
        </p:nvSpPr>
        <p:spPr>
          <a:xfrm>
            <a:off x="5394960" y="3200400"/>
            <a:ext cx="1097280" cy="914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03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Pure Binary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303520" cy="228600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333333"/>
                </a:solidFill>
                <a:latin typeface="Calibri"/>
              </a:defRPr>
            </a:pPr>
            <a:r>
              <a:t>Entire number converted at once: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59 ÷ 2 repeatedly...</a:t>
            </a:r>
          </a:p>
          <a:p>
            <a:pPr>
              <a:spcBef>
                <a:spcPts val="1200"/>
              </a:spcBef>
              <a:defRPr sz="2200" b="1">
                <a:solidFill>
                  <a:srgbClr val="27AE60"/>
                </a:solidFill>
                <a:latin typeface="Courier New"/>
              </a:defRPr>
            </a:pPr>
            <a:r>
              <a:t>Binary of 59 = 111011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t>(6 bits total — whole number converted)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solidFill>
            <a:srgbClr val="FDEDEC"/>
          </a:solidFill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1">
                <a:solidFill>
                  <a:srgbClr val="C0392B"/>
                </a:solidFill>
                <a:latin typeface="Calibri"/>
              </a:rPr>
              <a:t>THESE ARE DIFFERENT!   </a:t>
            </a:r>
            <a:r>
              <a:rPr sz="1600">
                <a:solidFill>
                  <a:srgbClr val="333333"/>
                </a:solidFill>
                <a:latin typeface="Calibri"/>
              </a:rPr>
              <a:t>BCD(59) = 01011001  vs  Binary(59) = 00111011.  C-CAT frequently tests this distinction!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Day 1 — Quick Revision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Day 1: Computer Evolution, Architecture &amp; Number Systems | C-CAT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76072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Computer Generations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1st: Vacuum Tubes (ENIAC)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2nd: Transistors (IBM 1401)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3rd: ICs (IBM 360)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4th: Microprocessors / VLSI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5th: AI / ULSI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383280"/>
            <a:ext cx="576072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CPU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CPU = ALU + CU + Registers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ALU: Arithmetic &amp; Logic 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CU: Fetches, decodes, controls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Key Registers: PC, IR, ACC, MAR, MDR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66928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System Bus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Address Bus: Unidirectional (CPU→Mem)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Data Bus: Bidirectional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Control Bus: Bidirectional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66928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Hierarchy: Registers &gt; Cache &gt; RAM &gt; HDD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Volatile: RAM, Cache (lost on power off)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Non-Volatile: ROM, HDD, SSD (retained)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566928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Number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5488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Binary(2), Octal(8), Decimal(10), Hex(16)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07492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2's Complement = Flip bits + Add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39496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8-bit signed range: -128 to +127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715000"/>
            <a:ext cx="53035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BCD ≠ Binary (different encoding!)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C-CAT Tip: </a:t>
            </a:r>
            <a:r>
              <a:rPr sz="1300" b="0">
                <a:solidFill>
                  <a:srgbClr val="333333"/>
                </a:solidFill>
                <a:latin typeface="Calibri"/>
              </a:rPr>
              <a:t>Review these key facts before the exam. Focus on generation technologies, bus directions, and number system conversions!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