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Array Memory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5 contiguous memory blocks with addresses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3  |  Slide 1/8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E8A4C"/>
                </a:solidFill>
                <a:latin typeface="Calibri"/>
              </a:defRPr>
            </a:pPr>
            <a:r>
              <a:t>int arr[5] = {10, 20, 30, 40, 50};     // sizeof(int) = 4 bytes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1828800" cy="137160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1E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8A4C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1E8A4C"/>
                </a:solidFill>
                <a:latin typeface="Calibri"/>
              </a:defRPr>
            </a:pPr>
            <a:r>
              <a:t>arr[0]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Addr: 1000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286000"/>
            <a:ext cx="1828800" cy="137160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1E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8A4C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92024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1E8A4C"/>
                </a:solidFill>
                <a:latin typeface="Calibri"/>
              </a:defRPr>
            </a:pPr>
            <a:r>
              <a:t>arr[1]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749039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Addr: 1004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2286000"/>
            <a:ext cx="1828800" cy="137160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1E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8A4C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92024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1E8A4C"/>
                </a:solidFill>
                <a:latin typeface="Calibri"/>
              </a:defRPr>
            </a:pPr>
            <a:r>
              <a:t>arr[2]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749039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Addr: 1008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2286000"/>
            <a:ext cx="1828800" cy="137160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1E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8A4C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92024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1E8A4C"/>
                </a:solidFill>
                <a:latin typeface="Calibri"/>
              </a:defRPr>
            </a:pPr>
            <a:r>
              <a:t>arr[3]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749039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Addr: 1012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2286000"/>
            <a:ext cx="1828800" cy="137160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1E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8A4C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92024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1E8A4C"/>
                </a:solidFill>
                <a:latin typeface="Calibri"/>
              </a:defRPr>
            </a:pPr>
            <a:r>
              <a:t>arr[4]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749039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Addr: 1016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8912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Arrays are stored in CONTIGUOUS 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36592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Address of arr[i] = Base + i * sizeof(type)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arr[0] address = 1000, arr[1] = 1004, arr[2] = 1008...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31536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Array name 'arr' is a pointer to first element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arr == &amp;arr[0]  (always true!)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Array-Pointer Equivalence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4 ways to access arr[2]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3  |  Slide 2/8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Given: int arr[5] = {10, 20, 30, 40, 50};  →  All 4 below give 30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19456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103120"/>
            <a:ext cx="2743200" cy="82296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E86C1"/>
                </a:solidFill>
                <a:latin typeface="Calibri"/>
              </a:defRPr>
            </a:pPr>
            <a:r>
              <a:t>arr[2]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4884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E86C1"/>
                </a:solidFill>
                <a:latin typeface="Calibri"/>
              </a:defRPr>
            </a:pPr>
            <a:r>
              <a:t>Direct indexing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51460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The standard way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200400"/>
            <a:ext cx="640080" cy="6400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108960"/>
            <a:ext cx="2743200" cy="82296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7AE60"/>
                </a:solidFill>
                <a:latin typeface="Calibri"/>
              </a:defRPr>
            </a:pPr>
            <a:r>
              <a:t>*(arr + 2)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15468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Pointer arithmetic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52044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arr is base, +2 offsets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206240"/>
            <a:ext cx="640080" cy="6400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114800"/>
            <a:ext cx="2743200" cy="822960"/>
          </a:xfrm>
          <a:prstGeom prst="roundRect">
            <a:avLst/>
          </a:prstGeom>
          <a:solidFill>
            <a:srgbClr val="FDE8D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E67E22"/>
                </a:solidFill>
                <a:latin typeface="Calibri"/>
              </a:defRPr>
            </a:pPr>
            <a:r>
              <a:t>*(2 + arr)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16052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Commutative!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52628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Addition is commutative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5212080"/>
            <a:ext cx="640080" cy="6400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120640"/>
            <a:ext cx="2743200" cy="822960"/>
          </a:xfrm>
          <a:prstGeom prst="roundRect">
            <a:avLst/>
          </a:prstGeom>
          <a:solidFill>
            <a:srgbClr val="EBDEF0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8E44AD"/>
                </a:solidFill>
                <a:latin typeface="Calibri"/>
              </a:defRPr>
            </a:pPr>
            <a:r>
              <a:t>2[arr]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16636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8E44AD"/>
                </a:solidFill>
                <a:latin typeface="Calibri"/>
              </a:defRPr>
            </a:pPr>
            <a:r>
              <a:t>Reverse indexing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53212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a[b] = *(a+b) = *(b+a) = b[a]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669280"/>
            <a:ext cx="10058400" cy="73152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33333"/>
                </a:solidFill>
                <a:latin typeface="Calibri"/>
              </a:defRPr>
            </a:pPr>
            <a:r>
              <a:t>EXAM TIP:  2[arr] is valid C!  Because a[b] is defined as *(a+b) by the C standard.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sizeof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Array size: in-function vs passed-to-function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3  |  Slide 3/8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48640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 DECLARING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int arr[5] = {1,2,3,4,5};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50592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2798064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sizeof(arr) = 20  (5 x 4 bytes)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45536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sizeof(arr)/sizeof(arr[0]) =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93008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Works correctly!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371600"/>
            <a:ext cx="45720" cy="4572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548640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PASSED TO ANOTHER 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031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void func(int arr[])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450592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675120" y="2798064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sizeof(arr) = 8  (pointer size!)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145536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sizeof(arr)/sizeof(arr[0]) =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493008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675120" y="38404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WRONG! Array decays to pointer!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572000"/>
            <a:ext cx="10332720" cy="164592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SOLUTION: Always pass array size as a separate parameter!</a:t>
            </a:r>
            <a:br/>
            <a:br/>
            <a:r>
              <a:t>void func(int arr[], int size) { ... }</a:t>
            </a:r>
            <a:br/>
            <a:r>
              <a:t>func(arr, 5);  // pass size explicitly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char[] vs char*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Modifiable array vs Read-only pointer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3  |  Slide 4/8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486400" cy="6400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char str[] = "Hello";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  Stored on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Creates a COPY of the string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str[0] = 'J';  →  Works fine!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sizeof(str) = 6  (5 chars + \0)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  CAN be modified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45720" cy="4572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548640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char *str = "Hello";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2860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  Stored in READ-ONLY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5176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Points to string LITERAL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175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str[0] = 'J';  →  CRASH! (Seg fault)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3832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sizeof(str) = 8  (pointer size)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74904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  CANNOT be modified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46320"/>
            <a:ext cx="10332720" cy="1097280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74C3C"/>
                </a:solidFill>
                <a:latin typeface="Calibri"/>
              </a:defRPr>
            </a:pPr>
            <a:r>
              <a:t>EXAM TRAP: char *str = "Hello"; str[0]='J'; compiles but CRASHES at runtime!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strlen vs sizeof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Triple comparison for "Hello"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3  |  Slide 5/8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3716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E8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char s[]="Hello"</a:t>
                      </a:r>
                    </a:p>
                  </a:txBody>
                  <a:tcPr>
                    <a:solidFill>
                      <a:srgbClr val="1E8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char *s="Hello"</a:t>
                      </a:r>
                    </a:p>
                  </a:txBody>
                  <a:tcPr>
                    <a:solidFill>
                      <a:srgbClr val="1E8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char s[20]="Hello"</a:t>
                      </a:r>
                    </a:p>
                  </a:txBody>
                  <a:tcPr>
                    <a:solidFill>
                      <a:srgbClr val="1E8A4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strlen(s)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sizeof(s)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 (ptr!)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Includes \0?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sizeof: YES</a:t>
                      </a:r>
                      <a:br/>
                      <a:r>
                        <a:t>strlen: NO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 (ptr size)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sizeof: full buffer</a:t>
                      </a:r>
                      <a:br/>
                      <a:r>
                        <a:t>strlen: NO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Modifiable?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(read-only)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5029200"/>
            <a:ext cx="10058400" cy="118872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REMEMBER:</a:t>
            </a:r>
            <a:br/>
            <a:r>
              <a:t>  strlen() counts characters UNTIL \0 (does NOT count \0)</a:t>
            </a:r>
            <a:br/>
            <a:r>
              <a:t>  sizeof() counts total BYTES allocated (INCLUDES \0 for char[])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struct vs union Memory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Side-by-side memory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3  |  Slide 6/8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486400" cy="5486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struct { int a; char b; float c;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2560320" cy="6400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int a: 4 bytes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2560320" cy="6400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char b: 1 byte (+3 pad)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2560320" cy="6400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float c: 4 bytes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60320"/>
            <a:ext cx="22860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2E86C1"/>
                </a:solidFill>
                <a:latin typeface="Calibri"/>
              </a:defRPr>
            </a:pPr>
            <a:r>
              <a:t>Total: 12 bytes</a:t>
            </a:r>
            <a:br/>
            <a:r>
              <a:t>(with padding)</a:t>
            </a:r>
            <a:br/>
            <a:br/>
            <a:r>
              <a:t>Each member has</a:t>
            </a:r>
            <a:br/>
            <a:r>
              <a:t>its OWN space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371600"/>
            <a:ext cx="45720" cy="4572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48640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union  { int a; char b; float c;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194560"/>
            <a:ext cx="3200400" cy="1920240"/>
          </a:xfrm>
          <a:prstGeom prst="roundRect">
            <a:avLst/>
          </a:prstGeom>
          <a:solidFill>
            <a:srgbClr val="FDE8D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SHARED MEMORY</a:t>
            </a:r>
            <a:br/>
            <a:br/>
            <a:r>
              <a:t>int a    (4 bytes)</a:t>
            </a:r>
            <a:br/>
            <a:r>
              <a:t>char b   (1 byte)  ← overlaps</a:t>
            </a:r>
            <a:br/>
            <a:r>
              <a:t>float c  (4 bytes) ← overlaps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560320"/>
            <a:ext cx="1828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67E22"/>
                </a:solidFill>
                <a:latin typeface="Calibri"/>
              </a:defRPr>
            </a:pPr>
            <a:r>
              <a:t>Total: 4 bytes</a:t>
            </a:r>
            <a:br/>
            <a:r>
              <a:t>(size of largest)</a:t>
            </a:r>
            <a:br/>
            <a:br/>
            <a:r>
              <a:t>Members SHARE</a:t>
            </a:r>
            <a:br/>
            <a:r>
              <a:t>the same 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029200"/>
            <a:ext cx="10332720" cy="109728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KEY: struct allocates memory for ALL members. union allocates for the LARGEST member only.</a:t>
            </a:r>
            <a:br/>
            <a:r>
              <a:t>In union, only ONE member can hold a value at any time!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Macro Expansion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SQ(2+3) = 11, NOT 25!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3  |  Slide 7/8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914400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74C3C"/>
                </a:solidFill>
                <a:latin typeface="Calibri"/>
              </a:defRPr>
            </a:pPr>
            <a:r>
              <a:t>#define SQ(x)  x*x     →     SQ(2+3)  =  2+3*2+3  =  2+6+3  = 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2E86C1"/>
                </a:solidFill>
                <a:latin typeface="Calibri"/>
              </a:defRPr>
            </a:pPr>
            <a:r>
              <a:t>Step 1: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60320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Macro: #define SQ(x)  x*x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2E86C1"/>
                </a:solidFill>
                <a:latin typeface="Calibri"/>
              </a:defRPr>
            </a:pPr>
            <a:r>
              <a:t>Step 2: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971800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Call: SQ(2+3)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E67E22"/>
                </a:solidFill>
                <a:latin typeface="Calibri"/>
              </a:defRPr>
            </a:pPr>
            <a:r>
              <a:t>Step 3: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383280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Textual substitution: 2+3 * 2+3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9476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E67E22"/>
                </a:solidFill>
                <a:latin typeface="Calibri"/>
              </a:defRPr>
            </a:pPr>
            <a:r>
              <a:t>Step 4: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794760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Operator precedence: 2 + (3*2) + 3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Step 5: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206240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Result: 2 + 6 + 3 = 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46320"/>
            <a:ext cx="11247120" cy="137160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FIX: #define SQ(x)  ((x)*(x))    →    SQ(2+3) = ((2+3)*(2+3)) = (5*5) = 25</a:t>
            </a:r>
            <a:br/>
            <a:br/>
            <a:r>
              <a:t>ALWAYS parenthesize macro parameters AND the entire expression!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Bitwise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Truth tables for &amp; | ^ ~ &lt;&lt; &gt;&gt;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3  |  Slide 8/8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56032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AND (&amp;)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920240"/>
            <a:ext cx="594360" cy="4114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0&amp;0=0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920240"/>
            <a:ext cx="594360" cy="4114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0&amp;1=0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920240"/>
            <a:ext cx="594360" cy="4114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1&amp;0=0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59" y="1920240"/>
            <a:ext cx="594360" cy="41148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1&amp;1=1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371600"/>
            <a:ext cx="256032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OR (|)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920240"/>
            <a:ext cx="594360" cy="4114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0|0=0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1920240"/>
            <a:ext cx="594360" cy="41148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0|1=1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920240"/>
            <a:ext cx="594360" cy="41148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1|0=1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9" y="1920240"/>
            <a:ext cx="594360" cy="41148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1|1=1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371600"/>
            <a:ext cx="256032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XOR (^)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920240"/>
            <a:ext cx="594360" cy="4114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0^0=0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1920240"/>
            <a:ext cx="594360" cy="41148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0^1=1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1920240"/>
            <a:ext cx="594360" cy="41148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1^0=1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599" y="1920240"/>
            <a:ext cx="594360" cy="4114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1^1=0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1371600"/>
            <a:ext cx="2560320" cy="4572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NOT (~)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920240"/>
            <a:ext cx="594360" cy="41148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~0=1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1920240"/>
            <a:ext cx="594360" cy="4114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~1=0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3200400"/>
            <a:ext cx="5486400" cy="137160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LEFT SHIFT  (&lt;&lt;)</a:t>
            </a:r>
            <a:br/>
            <a:br/>
            <a:r>
              <a:t>5 &lt;&lt; 1  →  0101 &lt;&lt; 1  →  1010  =  10</a:t>
            </a:r>
            <a:br/>
            <a:r>
              <a:t>Multiplies by 2^n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200400"/>
            <a:ext cx="5486400" cy="137160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RIGHT SHIFT  (&gt;&gt;)</a:t>
            </a:r>
            <a:br/>
            <a:br/>
            <a:r>
              <a:t>20 &gt;&gt; 2  →  10100 &gt;&gt; 2  →  00101  =  5</a:t>
            </a:r>
            <a:br/>
            <a:r>
              <a:t>Divides by 2^n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4846320"/>
            <a:ext cx="11430000" cy="137160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EXAM TRICKS:  n &amp; 1 → check odd/even  |  n ^ n = 0  |  n ^ 0 = n  |  n &amp; (n-1) → turn off rightmost set bit  |  ~0 = -1 (two's complement)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