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2011680" cy="640080"/>
          </a:xfrm>
          <a:prstGeom prst="roundRect">
            <a:avLst/>
          </a:prstGeom>
          <a:solidFill>
            <a:srgbClr val="3A7CB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DAY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822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Arrays &amp; Pointers — The Deep Connection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17520"/>
            <a:ext cx="2743200" cy="4572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Array Declaration &amp; Contiguous Memory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Array-Pointer Equivalence (4 ways!)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sizeof Decay Trap (TRAP CARD #5)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Pointer to Array vs Array of Pointers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2D Arrays: Row-Major &amp; Column-Major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Pointer Notation for 2D Arrays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0"/>
                </a:solidFill>
                <a:latin typeface="Calibri"/>
              </a:rPr>
              <a:t>Pre-DAC C-CAT Preparation  |  SPIPL CDAC ATC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Array Declaration &amp; Memory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Contiguous memory allocation — the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029200" cy="91440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onsolas"/>
              </a:rPr>
              <a:t>int arr[5] = {10, 20, 30, 40, 50};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60320"/>
            <a:ext cx="1645920" cy="73152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0B1D51"/>
                </a:solidFill>
                <a:latin typeface="Consola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C8F"/>
                </a:solidFill>
                <a:latin typeface="Consolas"/>
              </a:rPr>
              <a:t>arr[0]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&amp;1000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560320"/>
            <a:ext cx="1645920" cy="73152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0B1D51"/>
                </a:solidFill>
                <a:latin typeface="Consolas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C8F"/>
                </a:solidFill>
                <a:latin typeface="Consolas"/>
              </a:rPr>
              <a:t>arr[1]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&amp;1004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2560320"/>
            <a:ext cx="1645920" cy="73152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0B1D51"/>
                </a:solidFill>
                <a:latin typeface="Consolas"/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C8F"/>
                </a:solidFill>
                <a:latin typeface="Consolas"/>
              </a:rPr>
              <a:t>arr[2]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&amp;1008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560320"/>
            <a:ext cx="1645920" cy="73152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0B1D51"/>
                </a:solidFill>
                <a:latin typeface="Consolas"/>
              </a:rPr>
              <a:t>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C8F"/>
                </a:solidFill>
                <a:latin typeface="Consolas"/>
              </a:rPr>
              <a:t>arr[3]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&amp;1012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2560320"/>
            <a:ext cx="1645920" cy="73152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0B1D51"/>
                </a:solidFill>
                <a:latin typeface="Consolas"/>
              </a:rP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C8F"/>
                </a:solidFill>
                <a:latin typeface="Consolas"/>
              </a:rPr>
              <a:t>arr[4]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&amp;1016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14800"/>
            <a:ext cx="10972800" cy="9144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062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KEY INSIGHT: Each int = 4 bytes. Addresses differ by 4.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arr = &amp;arr[0] = 1000  (array name IS a pointer to first element)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Next address = Base + (index x sizeof(int))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D51"/>
                </a:solidFill>
                <a:latin typeface="Calibri"/>
              </a:rPr>
              <a:t>Memory is CONTIGUOUS (no gaps) — this is what makes array access O(1)!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Array-Pointer 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4 Ways to Access arr[2] — All produce the SAME result!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48640" cy="548640"/>
          </a:xfrm>
          <a:prstGeom prst="roundRect">
            <a:avLst/>
          </a:prstGeom>
          <a:solidFill>
            <a:srgbClr val="1B7A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1371600"/>
            <a:ext cx="3200400" cy="548640"/>
          </a:xfrm>
          <a:prstGeom prst="roundRect">
            <a:avLst/>
          </a:prstGeom>
          <a:solidFill>
            <a:srgbClr val="262D3D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onsolas"/>
              </a:rPr>
              <a:t>arr[2]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Standard subscript notation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548640" cy="548640"/>
          </a:xfrm>
          <a:prstGeom prst="roundRect">
            <a:avLst/>
          </a:prstGeom>
          <a:solidFill>
            <a:srgbClr val="1B7A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2606040"/>
            <a:ext cx="3200400" cy="548640"/>
          </a:xfrm>
          <a:prstGeom prst="roundRect">
            <a:avLst/>
          </a:prstGeom>
          <a:solidFill>
            <a:srgbClr val="262D3D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onsolas"/>
              </a:rPr>
              <a:t>*(arr + 2)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97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Pointer arithmetic + dereference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48640" cy="548640"/>
          </a:xfrm>
          <a:prstGeom prst="roundRect">
            <a:avLst/>
          </a:prstGeom>
          <a:solidFill>
            <a:srgbClr val="1A3C8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3840480"/>
            <a:ext cx="3200400" cy="548640"/>
          </a:xfrm>
          <a:prstGeom prst="roundRect">
            <a:avLst/>
          </a:prstGeom>
          <a:solidFill>
            <a:srgbClr val="262D3D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onsolas"/>
              </a:rPr>
              <a:t>*(2 + arr)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931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Addition is commutative!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74920"/>
            <a:ext cx="548640" cy="548640"/>
          </a:xfrm>
          <a:prstGeom prst="roundRect">
            <a:avLst/>
          </a:prstGeom>
          <a:solidFill>
            <a:srgbClr val="E65C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5074920"/>
            <a:ext cx="3200400" cy="548640"/>
          </a:xfrm>
          <a:prstGeom prst="roundRect">
            <a:avLst/>
          </a:prstGeom>
          <a:solidFill>
            <a:srgbClr val="262D3D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onsolas"/>
              </a:rPr>
              <a:t>2[arr]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166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Yes, this is VALID C! (a[b] == *(a+b) == *(b+a) == b[a])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86400"/>
            <a:ext cx="10972800" cy="6400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ALL FOUR expressions evaluate to 30 (the value at index 2). This is a favorite C-CAT question!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9A825"/>
                </a:solidFill>
                <a:latin typeface="Calibri"/>
              </a:rPr>
              <a:t>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 TRAP CARD #5:  sizeof Decay — Array Loses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A825"/>
                </a:solidFill>
                <a:latin typeface="Calibri"/>
              </a:rPr>
              <a:t>Frequently tested in C-CAT — Memorize this!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5486400" cy="256032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void func(int arr[]) {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printf("%zu", sizeof(arr));  // prints 8!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// arr decayed to int* pointer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int main() {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int arr[5] = {10,20,30,40,50};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printf("%zu", sizeof(arr));  // prints 20!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// 5 elements x 4 bytes = 20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03520" cy="10058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7A2B"/>
                </a:solidFill>
                <a:latin typeface="Calibri"/>
              </a:rPr>
              <a:t>In DECLARING function (main):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7A2B"/>
                </a:solidFill>
                <a:latin typeface="Consolas"/>
              </a:rPr>
              <a:t>sizeof(arr) = 5 x 4 = 20 bytes (FULL array size)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5303520" cy="10058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alibri"/>
              </a:rPr>
              <a:t>In CALLED function (func):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Consolas"/>
              </a:rPr>
              <a:t>sizeof(arr) = 8 bytes (just a pointer!)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297680"/>
            <a:ext cx="11338560" cy="9144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TRAP: When array is passed to a function, it DECAYS to a pointer!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The function receives int* not int[5]. Array size information is LOST.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Always pass array size as a separate parameter!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394960"/>
            <a:ext cx="11338560" cy="7315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TIP: Number of elements = sizeof(arr) / sizeof(arr[0])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This works ONLY in the function where the array is declared!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Pointer to Array vs Array of 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Look similar, behave COMPLETELY differently!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5486400" cy="475488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1D51"/>
                </a:solidFill>
                <a:latin typeface="Calibri"/>
              </a:rPr>
              <a:t>Pointer TO an Array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4754880" cy="54864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int (*p)[5];  // p points to array of 5 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ONE pointer that points to an entire array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sizeof(*p) = 20  (5 ints x 4 bytes)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p+1 moves by 20 bytes (whole array)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Usage: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  int arr[5] = {1,2,3,4,5};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  int (*p)[5] = &amp;arr;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  (*p)[2] = 3; // access element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486400" cy="4754880"/>
          </a:xfrm>
          <a:prstGeom prst="roundRect">
            <a:avLst/>
          </a:prstGeom>
          <a:solidFill>
            <a:srgbClr val="FEF3E2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5C00"/>
                </a:solidFill>
                <a:latin typeface="Calibri"/>
              </a:rPr>
              <a:t>Array OF Pointers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828800"/>
            <a:ext cx="4754880" cy="54864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int *p[5];   // array of 5 int pointers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FIVE separate pointers, each to an int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sizeof(p) = 40  (5 pointers x 8 bytes)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Each p[i] can point to different location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Usage: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  int a=1, b=2, c=3, d=4, e=5;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  int *p[5] = {&amp;a,&amp;b,&amp;c,&amp;d,&amp;e};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  *p[2] = 3; // access via pointer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6172200"/>
            <a:ext cx="11338560" cy="4572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REMEMBER: Parentheses matter!  (*p)[5] != *p[5]. Read declarations inside-out!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2D Array Memory Layout — Row-Major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C stores 2D arrays row by row in contiguous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486400" cy="54864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int arr[3][4] = {{1,2,3,4}, {5,6,7,8}, {9,10,11,12}};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48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C8F"/>
                </a:solidFill>
                <a:latin typeface="Calibri"/>
              </a:rPr>
              <a:t>Row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103120"/>
            <a:ext cx="1005840" cy="50292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1D51"/>
                </a:solidFill>
                <a:latin typeface="Consola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103120"/>
            <a:ext cx="1005840" cy="50292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1D51"/>
                </a:solidFill>
                <a:latin typeface="Consola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40" y="2103120"/>
            <a:ext cx="1005840" cy="50292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1D51"/>
                </a:solidFill>
                <a:latin typeface="Consolas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103120"/>
            <a:ext cx="1005840" cy="50292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1D51"/>
                </a:solidFill>
                <a:latin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788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C8F"/>
                </a:solidFill>
                <a:latin typeface="Calibri"/>
              </a:rPr>
              <a:t>Row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2743200"/>
            <a:ext cx="1005840" cy="50292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1D51"/>
                </a:solidFill>
                <a:latin typeface="Consola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2743200"/>
            <a:ext cx="1005840" cy="50292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1D51"/>
                </a:solidFill>
                <a:latin typeface="Consolas"/>
              </a:rPr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2743200"/>
            <a:ext cx="1005840" cy="50292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1D51"/>
                </a:solidFill>
                <a:latin typeface="Consolas"/>
              </a:rP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2743200"/>
            <a:ext cx="1005840" cy="50292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1D51"/>
                </a:solidFill>
                <a:latin typeface="Consolas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429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C8F"/>
                </a:solidFill>
                <a:latin typeface="Calibri"/>
              </a:rPr>
              <a:t>Row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3383280"/>
            <a:ext cx="1005840" cy="50292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1D51"/>
                </a:solidFill>
                <a:latin typeface="Consolas"/>
              </a:rPr>
              <a:t>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3383280"/>
            <a:ext cx="1005840" cy="50292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1D51"/>
                </a:solidFill>
                <a:latin typeface="Consolas"/>
              </a:rPr>
              <a:t>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40" y="3383280"/>
            <a:ext cx="1005840" cy="50292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1D51"/>
                </a:solidFill>
                <a:latin typeface="Consolas"/>
              </a:rPr>
              <a:t>11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3383280"/>
            <a:ext cx="1005840" cy="50292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1D51"/>
                </a:solidFill>
                <a:latin typeface="Consolas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D51"/>
                </a:solidFill>
                <a:latin typeface="Calibri"/>
              </a:rPr>
              <a:t>Actual Memory (Linear, Row-Major):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920240"/>
            <a:ext cx="1097280" cy="50292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D51"/>
                </a:solidFill>
                <a:latin typeface="Consola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23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onsolas"/>
              </a:rPr>
              <a:t>1000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1920240"/>
            <a:ext cx="1097280" cy="50292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D51"/>
                </a:solidFill>
                <a:latin typeface="Consola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423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onsolas"/>
              </a:rPr>
              <a:t>1004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1920240"/>
            <a:ext cx="1097280" cy="50292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D51"/>
                </a:solidFill>
                <a:latin typeface="Consola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423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onsolas"/>
              </a:rPr>
              <a:t>1008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79" y="1920240"/>
            <a:ext cx="1097280" cy="50292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D51"/>
                </a:solidFill>
                <a:latin typeface="Consola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79" y="2423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onsolas"/>
              </a:rPr>
              <a:t>1012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606040"/>
            <a:ext cx="1097280" cy="50292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D51"/>
                </a:solidFill>
                <a:latin typeface="Consola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onsolas"/>
              </a:rPr>
              <a:t>1016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2606040"/>
            <a:ext cx="1097280" cy="50292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D51"/>
                </a:solidFill>
                <a:latin typeface="Consola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onsolas"/>
              </a:rPr>
              <a:t>1020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2606040"/>
            <a:ext cx="1097280" cy="50292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D51"/>
                </a:solidFill>
                <a:latin typeface="Consola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onsolas"/>
              </a:rPr>
              <a:t>1024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79" y="2606040"/>
            <a:ext cx="1097280" cy="50292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D51"/>
                </a:solidFill>
                <a:latin typeface="Consolas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79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onsolas"/>
              </a:rPr>
              <a:t>1028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291840"/>
            <a:ext cx="1097280" cy="50292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D51"/>
                </a:solidFill>
                <a:latin typeface="Consolas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794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onsolas"/>
              </a:rPr>
              <a:t>1032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80960" y="3291840"/>
            <a:ext cx="1097280" cy="50292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D51"/>
                </a:solidFill>
                <a:latin typeface="Consolas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3794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onsolas"/>
              </a:rPr>
              <a:t>1036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3291840"/>
            <a:ext cx="1097280" cy="50292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D51"/>
                </a:solidFill>
                <a:latin typeface="Consolas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3794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onsolas"/>
              </a:rPr>
              <a:t>1040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41279" y="3291840"/>
            <a:ext cx="1097280" cy="50292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D51"/>
                </a:solidFill>
                <a:latin typeface="Consolas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79" y="3794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onsolas"/>
              </a:rPr>
              <a:t>1044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572000"/>
            <a:ext cx="11155680" cy="15544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6634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ROW-MAJOR (C, C++, Java): Row 0 stored first, then Row 1, then Row 2...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arr[0][0], arr[0][1], arr[0][2], arr[0][3], arr[1][0], arr[1][1], ...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COLUMN-MAJOR (Fortran, MATLAB): Column 0 first, then Column 1...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arr[0][0], arr[1][0], arr[2][0], arr[0][1], arr[1][1], arr[2][1],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Row-Major Address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How to calculate exact memory address of any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371600"/>
            <a:ext cx="9418320" cy="914400"/>
          </a:xfrm>
          <a:prstGeom prst="roundRect">
            <a:avLst/>
          </a:prstGeom>
          <a:solidFill>
            <a:srgbClr val="0B1D5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onsolas"/>
              </a:rPr>
              <a:t>Address = Base + (i x COLS + j) x sizeof(element)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D51"/>
                </a:solidFill>
                <a:latin typeface="Calibri"/>
              </a:rPr>
              <a:t>Worked Example:  Find address of arr[2][1] in int arr[3][4], Base = 1000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onsolas"/>
              </a:rPr>
              <a:t>Step 1:  i = 2, j = 1, COLS = 4, sizeof(int) =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onsolas"/>
              </a:rPr>
              <a:t>Step 2:  Offset = (2 x 4 + 1) = 9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onsolas"/>
              </a:rPr>
              <a:t>Step 3:  Byte offset = 9 x 4 = 36 bytes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7A2B"/>
                </a:solidFill>
                <a:latin typeface="Consolas"/>
              </a:rPr>
              <a:t>Step 4:  Address = 1000 + 36 = 1036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120640"/>
            <a:ext cx="10332720" cy="6400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2120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arr[2][1] is at memory address 1036. Verify: it's the 10th element (index 9) from 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897880"/>
            <a:ext cx="10332720" cy="5486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9893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C-CAT loves this formula! Practice with different base addresses and array sizes.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Column-Major Address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Used in Fortran, MATLAB — but tested in C-CAT!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371600"/>
            <a:ext cx="9418320" cy="914400"/>
          </a:xfrm>
          <a:prstGeom prst="roundRect">
            <a:avLst/>
          </a:prstGeom>
          <a:solidFill>
            <a:srgbClr val="1A3C8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onsolas"/>
              </a:rPr>
              <a:t>Address = Base + (j x ROWS + i) x sizeof(element)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C8F"/>
                </a:solidFill>
                <a:latin typeface="Calibri"/>
              </a:rPr>
              <a:t>Same Example:  arr[2][1] in int arr[3][4], Base = 1000 (Column-Major)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onsolas"/>
              </a:rPr>
              <a:t>Step 1:  i = 2, j = 1, ROWS = 3, sizeof(int) =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onsolas"/>
              </a:rPr>
              <a:t>Step 2:  Offset = (1 x 3 + 2) = 5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onsolas"/>
              </a:rPr>
              <a:t>Step 3:  Byte offset = 5 x 4 = 20 bytes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7A2B"/>
                </a:solidFill>
                <a:latin typeface="Consolas"/>
              </a:rPr>
              <a:t>Step 4:  Address = 1000 + 20 = 1020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10607040" cy="12801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D51"/>
                </a:solidFill>
                <a:latin typeface="Calibri"/>
              </a:rPr>
              <a:t>Row-Major vs Column-Major Comparison: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Row-Major (C):      arr[2][1] at 1000 + (2x4+1)x4 = 1036     Formula: Base + (i*COLS + j)*size</a:t>
            </a:r>
          </a:p>
          <a:p>
            <a:pPr algn="l">
              <a:lnSpc>
                <a:spcPts val="1679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Column-Major:       arr[2][1] at 1000 + (1x3+2)x4 = 1020     Formula: Base + (j*ROWS + i)*size</a:t>
            </a:r>
          </a:p>
          <a:p>
            <a:pPr algn="l">
              <a:lnSpc>
                <a:spcPts val="1679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KEY: Row-major uses COLS, Column-major uses ROWS. Swap i,j positions!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2D Array Pointer 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arr[i][j] == *(*(arr+i)+j) —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371600"/>
            <a:ext cx="8503920" cy="731520"/>
          </a:xfrm>
          <a:prstGeom prst="roundRect">
            <a:avLst/>
          </a:prstGeom>
          <a:solidFill>
            <a:srgbClr val="0B1D5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onsolas"/>
              </a:rPr>
              <a:t>arr[i][j]  ==  *(*(arr + i) + j)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3200400" cy="594360"/>
          </a:xfrm>
          <a:prstGeom prst="roundRect">
            <a:avLst/>
          </a:prstGeom>
          <a:solidFill>
            <a:srgbClr val="262D3D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487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Base address of 2D array (pointer to first row)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3200400" cy="594360"/>
          </a:xfrm>
          <a:prstGeom prst="roundRect">
            <a:avLst/>
          </a:prstGeom>
          <a:solidFill>
            <a:srgbClr val="262D3D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arr +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2644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C8F"/>
                </a:solidFill>
                <a:latin typeface="Calibri"/>
              </a:rPr>
              <a:t>Points to row i (moves i*COLS*sizeof(int) bytes)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3200400" cy="594360"/>
          </a:xfrm>
          <a:prstGeom prst="roundRect">
            <a:avLst/>
          </a:prstGeom>
          <a:solidFill>
            <a:srgbClr val="262D3D"/>
          </a:solidFill>
          <a:ln w="254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*(arr + 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0416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A7CBD"/>
                </a:solidFill>
                <a:latin typeface="Calibri"/>
              </a:rPr>
              <a:t>Dereferences to get row i (now a 1D array / pointer to first element of row 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09160"/>
            <a:ext cx="3200400" cy="594360"/>
          </a:xfrm>
          <a:prstGeom prst="roundRect">
            <a:avLst/>
          </a:prstGeom>
          <a:solidFill>
            <a:srgbClr val="262D3D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*(arr + i) + 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8188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5C00"/>
                </a:solidFill>
                <a:latin typeface="Calibri"/>
              </a:rPr>
              <a:t>Moves j elements within row 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486400"/>
            <a:ext cx="3200400" cy="594360"/>
          </a:xfrm>
          <a:prstGeom prst="roundRect">
            <a:avLst/>
          </a:prstGeom>
          <a:solidFill>
            <a:srgbClr val="262D3D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*(*(arr + i) + j)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59612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A2B"/>
                </a:solidFill>
                <a:latin typeface="Calibri"/>
              </a:rPr>
              <a:t>Dereferences to get the VALUE at arr[i][j]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263640"/>
            <a:ext cx="11247120" cy="3657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Also valid: (*(arr+i))[j] and i[arr][j] — but *(*(arr+i)+j) is the classic form!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2011680" cy="640080"/>
          </a:xfrm>
          <a:prstGeom prst="roundRect">
            <a:avLst/>
          </a:prstGeom>
          <a:solidFill>
            <a:srgbClr val="3A7CB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DAY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822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Strings — Tricky Territory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17520"/>
            <a:ext cx="2743200" cy="4572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char[] vs char* — The Critical Difference (TRAP #6)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strlen vs sizeof — Triple Comparison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String Functions Reference Table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strcmp Return Values &amp; Comparison Traps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scanf %s Trap &amp; fgets()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0"/>
                </a:solidFill>
                <a:latin typeface="Calibri"/>
              </a:rPr>
              <a:t>Pre-DAC C-CAT Preparation  |  SPIPL CDAC ATC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9A825"/>
                </a:solidFill>
                <a:latin typeface="Calibri"/>
              </a:rPr>
              <a:t>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 TRAP CARD #6:  char[] vs char* — Modifiable vs Read-Only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A825"/>
                </a:solidFill>
                <a:latin typeface="Calibri"/>
              </a:rPr>
              <a:t>Frequently tested in C-CAT — Memorize this!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5486400" cy="274320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7A2B"/>
                </a:solidFill>
                <a:latin typeface="Calibri"/>
              </a:rPr>
              <a:t>SAFE: Character Array (MODIFIABLE)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28800"/>
            <a:ext cx="4754880" cy="91440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char str[] = "Hello";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str[0] = 'J';  // OK! Now "Jello"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Array lives on STACK — modifiable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Allocates 6 bytes on stack (5 chars + '\0')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Each character can be modified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sizeof(str) = 6 (full array size)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486400" cy="2743200"/>
          </a:xfrm>
          <a:prstGeom prst="roundRect">
            <a:avLst/>
          </a:prstGeom>
          <a:solidFill>
            <a:srgbClr val="FFEBEE"/>
          </a:solidFill>
          <a:ln w="381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62828"/>
                </a:solidFill>
                <a:latin typeface="Calibri"/>
              </a:rPr>
              <a:t>DANGER: String Literal (READ-ONLY)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828800"/>
            <a:ext cx="4754880" cy="91440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9202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char *str = "Hello";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str[0] = 'J';  // CRASH! Seg fault!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Literal in READ-ONLY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26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C62828"/>
                </a:solidFill>
                <a:latin typeface="Calibri"/>
              </a:rPr>
              <a:t>Pointer (8 bytes) on stack, string in .rodata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C62828"/>
                </a:solidFill>
                <a:latin typeface="Calibri"/>
              </a:rPr>
              <a:t>Modifying causes UNDEFINED BEHAVIOR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C62828"/>
                </a:solidFill>
                <a:latin typeface="Calibri"/>
              </a:rPr>
              <a:t>sizeof(str) = 8 (just the pointer!)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297680"/>
            <a:ext cx="11338560" cy="9144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C-CAT QUESTION PATTERN: 'What happens when you modify str[0]?'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If char[] =&gt; modification works.  If char* =&gt; UNDEFINED BEHAVIOR (usually crash).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This is the #1 most tested string trap in C-CAT!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394960"/>
            <a:ext cx="11338560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MEMORY RULE:  char[] = copies string to stack (YOUR copy, modifiable)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              char*  = points to original in ROM (museum piece, look but don't touch!)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strlen vs sizeof — The Triple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Three different answers from the same string!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54864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onsolas"/>
              </a:rPr>
              <a:t>char str[] = "Hello";    char *ptr = "Hello";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3474720" cy="3840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7A2B"/>
                </a:solidFill>
                <a:latin typeface="Consolas"/>
              </a:rPr>
              <a:t>strlen(str)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2834640"/>
            <a:ext cx="1280160" cy="822960"/>
          </a:xfrm>
          <a:prstGeom prst="roundRect">
            <a:avLst/>
          </a:prstGeom>
          <a:solidFill>
            <a:srgbClr val="1B7A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7A2B"/>
                </a:solidFill>
                <a:latin typeface="Calibri"/>
              </a:rPr>
              <a:t>Counts characters ONLY (excludes \0)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strlen() walks the string until it finds \0.</a:t>
            </a:r>
          </a:p>
          <a:p>
            <a:pPr algn="l">
              <a:lnSpc>
                <a:spcPts val="1679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Works the same for char[] and char*.</a:t>
            </a:r>
          </a:p>
          <a:p>
            <a:pPr algn="l">
              <a:lnSpc>
                <a:spcPts val="1679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Returns size_t (unsigned).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286000"/>
            <a:ext cx="3474720" cy="384048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377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C8F"/>
                </a:solidFill>
                <a:latin typeface="Consolas"/>
              </a:rPr>
              <a:t>sizeof(str)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2834640"/>
            <a:ext cx="1280160" cy="822960"/>
          </a:xfrm>
          <a:prstGeom prst="roundRect">
            <a:avLst/>
          </a:prstGeom>
          <a:solidFill>
            <a:srgbClr val="1A3C8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749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C8F"/>
                </a:solidFill>
                <a:latin typeface="Calibri"/>
              </a:rPr>
              <a:t>Array size including \0 terminator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062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sizeof on char[] = total bytes allocated.</a:t>
            </a:r>
          </a:p>
          <a:p>
            <a:pPr algn="l">
              <a:lnSpc>
                <a:spcPts val="1679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Includes the null terminator.</a:t>
            </a:r>
          </a:p>
          <a:p>
            <a:pPr algn="l">
              <a:lnSpc>
                <a:spcPts val="1679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"Hello" = 5 chars + 1 \0 = 6 bytes.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286000"/>
            <a:ext cx="3474720" cy="384048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377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62828"/>
                </a:solidFill>
                <a:latin typeface="Consolas"/>
              </a:rPr>
              <a:t>sizeof(ptr)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834640"/>
            <a:ext cx="1280160" cy="822960"/>
          </a:xfrm>
          <a:prstGeom prst="roundRect">
            <a:avLst/>
          </a:prstGeom>
          <a:solidFill>
            <a:srgbClr val="C628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749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Calibri"/>
              </a:rPr>
              <a:t>Pointer size (NOT string length!)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2062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sizeof on char* = size of POINTER (8 bytes on 64-bit).</a:t>
            </a:r>
          </a:p>
          <a:p>
            <a:pPr algn="l">
              <a:lnSpc>
                <a:spcPts val="1679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Has NOTHING to do with the string!</a:t>
            </a:r>
          </a:p>
          <a:p>
            <a:pPr algn="l">
              <a:lnSpc>
                <a:spcPts val="1679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This is Trap Card #5 again (sizeof decay).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String Functions Reference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#include &lt;string.h&gt; — Know these cold for C-CAT!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118872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Function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280160"/>
            <a:ext cx="384048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Prototype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280160"/>
            <a:ext cx="18288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Returns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280160"/>
            <a:ext cx="438912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Key 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11887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strlen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1737360"/>
            <a:ext cx="38404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size_t strlen(const char *s)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737360"/>
            <a:ext cx="18288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Length (no \0)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737360"/>
            <a:ext cx="43891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Does NOT count null terminator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12848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strcpy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2212848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char* strcpy(dest, src)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2212848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dest pointer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212848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No bounds check — UNSAFE!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88336"/>
            <a:ext cx="11887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strncpy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2688336"/>
            <a:ext cx="38404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char* strncpy(dest, src, 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2688336"/>
            <a:ext cx="18288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dest pointer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2688336"/>
            <a:ext cx="43891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May NOT null-terminate if n &lt;= strlen(src)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163824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strcmp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3163824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int strcmp(s1, s2)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3163824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&lt;0, 0, &gt;0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163824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Lexicographic comparison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39312"/>
            <a:ext cx="11887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strncmp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3639312"/>
            <a:ext cx="38404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int strncmp(s1, s2, 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3639312"/>
            <a:ext cx="18288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&lt;0, 0, &gt;0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3639312"/>
            <a:ext cx="43891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Compares only first n chars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114800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strcat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4114800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char* strcat(dest, src)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60" y="4114800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dest pointer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4114800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dest must have enough space!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590288"/>
            <a:ext cx="11887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strncat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" y="4590288"/>
            <a:ext cx="38404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char* strncat(dest, src, 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4590288"/>
            <a:ext cx="18288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dest pointer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4590288"/>
            <a:ext cx="43891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Appends at most n chars + \0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065776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strstr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54480" y="5065776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char* strstr(haystack, needle)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94960" y="5065776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ptr or NULL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5065776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Finds first occurrence of substring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541264"/>
            <a:ext cx="11887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onsolas"/>
              </a:rPr>
              <a:t>strchr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5541264"/>
            <a:ext cx="38404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Consolas"/>
              </a:rPr>
              <a:t>char* strchr(s, c)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94960" y="5541264"/>
            <a:ext cx="18288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ptr or NULL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5541264"/>
            <a:ext cx="43891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Finds first occurrence of character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5852160"/>
            <a:ext cx="11247120" cy="4572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94360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Always prefer strncpy/strncat over strcpy/strcat — bounded versions prevent buffer overflows!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strcmp() Return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NOT just 0/1 — understand the three-way return!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1371600" cy="640080"/>
          </a:xfrm>
          <a:prstGeom prst="roundRect">
            <a:avLst/>
          </a:prstGeom>
          <a:solidFill>
            <a:srgbClr val="C628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onsolas"/>
              </a:rPr>
              <a:t>&lt;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  <a:latin typeface="Calibri"/>
              </a:rPr>
              <a:t>s1 is SMALLER than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strcmp("apple","banana")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Returns negative (e.g., -1)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459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Comparison is character-by-character</a:t>
            </a:r>
            <a:br/>
            <a:r>
              <a:t>using ASCII values (lexicographic)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1124712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200400"/>
            <a:ext cx="1371600" cy="640080"/>
          </a:xfrm>
          <a:prstGeom prst="roundRect">
            <a:avLst/>
          </a:prstGeom>
          <a:solidFill>
            <a:srgbClr val="1B7A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onsolas"/>
              </a:rPr>
              <a:t>==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7A2B"/>
                </a:solidFill>
                <a:latin typeface="Calibri"/>
              </a:rPr>
              <a:t>s1 EQUALS s2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strcmp("hello","hello")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Returns exactly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2918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Comparison is character-by-character</a:t>
            </a:r>
            <a:br/>
            <a:r>
              <a:t>using ASCII values (lexicographic)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11247120" cy="137160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846320"/>
            <a:ext cx="1371600" cy="640080"/>
          </a:xfrm>
          <a:prstGeom prst="roundRect">
            <a:avLst/>
          </a:prstGeom>
          <a:solidFill>
            <a:srgbClr val="1A3C8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onsolas"/>
              </a:rPr>
              <a:t>&gt;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C8F"/>
                </a:solidFill>
                <a:latin typeface="Calibri"/>
              </a:rPr>
              <a:t>s1 is LARGER than s2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strcmp("banana","apple")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Returns positive (e.g., 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937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Comparison is character-by-character</a:t>
            </a:r>
            <a:br/>
            <a:r>
              <a:t>using ASCII values (lexicographic)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309360"/>
            <a:ext cx="11247120" cy="4114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strcmp returns an INTEGER, not a boolean. Never compare with == 1 or == -1!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String Comparison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The == operator does NOT compare string content!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303520" cy="27432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WRONG — Compares ADDRESSES, not content: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char s1[] = "Hello";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char s2[] = "Hello";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if (s1 == s2)  // FALSE!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// s1 and s2 are different arrays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// at different memory addresses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// even though content is same!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2743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CORRECT — Use strcmp():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char s1[] = "Hello";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char s2[] = "Hello";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if (strcmp(s1, s2) == 0)  // TRUE!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// Compares actual characters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// Returns 0 when strings match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// This is the ONLY correct way!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064240" cy="9144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== compares pointers (memory addresses) not string content!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Two separate arrays ALWAYS have different addresses, even with identical content.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ALWAYS use strcmp() (or strncmp()) for string comparison in C!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86400"/>
            <a:ext cx="11064240" cy="7315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EXCEPTION: char *s1 = "Hello"; char *s2 = "Hello";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s1 == s2 MIGHT be true due to string literal pooling, but NEVER rely on this!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scanf("%s") Trap — Stops at Space!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Input: 'Hello World' =&gt; Only reads 'Hello'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PROBLEM: scanf("%s", str)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Input: Hello World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scanf reads: "Hello" only!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scanf %s stops reading at: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  - Space, Tab, Newline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  - No bounds checking either!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SOLUTION: fgets(str, size, stdin)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Input: Hello World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fgets reads: "Hello World\n"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fgets advantages: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  - Reads entire line including spaces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  - Has buffer size limit (safe!)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303520" cy="164592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7CBD"/>
                </a:solidFill>
                <a:latin typeface="Calibri"/>
              </a:rPr>
              <a:t>BAD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DANGEROUS — avoid!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char name[50];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scanf("%s", name);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"John Doe" =&gt; only "John"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No overflow protection!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303520" cy="164592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7CBD"/>
                </a:solidFill>
                <a:latin typeface="Calibri"/>
              </a:rPr>
              <a:t>BEST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6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SAFE — recommended!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char name[50];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fgets(name, 50, stdin);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"John Doe" =&gt; "John Doe\n"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Reads full line, bounded!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60720"/>
            <a:ext cx="11064240" cy="5486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NOTE: fgets() includes the newline '\n'. Remove it: name[strcspn(name,"\n")] = '\0';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Alternative to scanf: scanf("%49[^\n]", name); — reads until newline, bounded.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2011680" cy="640080"/>
          </a:xfrm>
          <a:prstGeom prst="roundRect">
            <a:avLst/>
          </a:prstGeom>
          <a:solidFill>
            <a:srgbClr val="3A7CB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DAY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822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Structures, Unions &amp; Enums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17520"/>
            <a:ext cx="2743200" cy="4572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Structure Definition, Dot &amp; Arrow Operators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struct vs union Memory Diagrams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Structure Padding Trap (TRAP CARD #7)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Union sizeof — Largest Member Only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enum Values — Default &amp; Custom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Self-Referential Structures (Linked Lists)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0"/>
                </a:solidFill>
                <a:latin typeface="Calibri"/>
              </a:rPr>
              <a:t>Pre-DAC C-CAT Preparation  |  SPIPL CDAC ATC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Structures — Grouping Related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Dot operator (.) vs Arrow operator (-&gt;)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5029200" cy="228600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7CBD"/>
                </a:solidFill>
                <a:latin typeface="Calibri"/>
              </a:rPr>
              <a:t>Structure Definition &amp; Initialization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4663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struct Student {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int id;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char name[50];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float marks;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};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struct Student s1 = {101, "Alice", 92.5};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struct Student *ptr = &amp;s1;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280160"/>
            <a:ext cx="5943600" cy="228600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D51"/>
                </a:solidFill>
                <a:latin typeface="Calibri"/>
              </a:rPr>
              <a:t>Two Ways to Access Members: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783080"/>
            <a:ext cx="2560320" cy="7315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7A2B"/>
                </a:solidFill>
                <a:latin typeface="Calibri"/>
              </a:rPr>
              <a:t>Dot Operator (.)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Consolas"/>
              </a:rPr>
              <a:t>s1.name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783080"/>
            <a:ext cx="2560320" cy="731520"/>
          </a:xfrm>
          <a:prstGeom prst="roundRect">
            <a:avLst/>
          </a:prstGeom>
          <a:solidFill>
            <a:srgbClr val="FEF3E2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65C00"/>
                </a:solidFill>
                <a:latin typeface="Calibri"/>
              </a:rPr>
              <a:t>Arrow Operator (-&gt;)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Consolas"/>
              </a:rPr>
              <a:t>ptr-&gt;name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74320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ptr-&gt;member  ==  (*ptr).member</a:t>
            </a:r>
            <a:br/>
            <a:r>
              <a:t>Parentheses required due to operator precedence!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8404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</a:pPr>
            <a:r>
              <a:rPr sz="1800" b="1">
                <a:solidFill>
                  <a:srgbClr val="0B1D51"/>
                </a:solidFill>
                <a:latin typeface="Calibri"/>
              </a:rPr>
              <a:t>Key Points:</a:t>
            </a:r>
          </a:p>
          <a:p>
            <a:pPr algn="l">
              <a:lnSpc>
                <a:spcPts val="224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Use DOT (.) when you have the actual struct variable:  s1.id = 101;</a:t>
            </a:r>
          </a:p>
          <a:p>
            <a:pPr algn="l">
              <a:lnSpc>
                <a:spcPts val="224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Use ARROW (-&gt;) when you have a POINTER to struct:  ptr-&gt;id = 101;</a:t>
            </a:r>
          </a:p>
          <a:p>
            <a:pPr algn="l">
              <a:lnSpc>
                <a:spcPts val="224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Arrow is syntactic sugar:  ptr-&gt;id is exactly same as (*ptr).id</a:t>
            </a:r>
          </a:p>
          <a:p>
            <a:pPr algn="l">
              <a:lnSpc>
                <a:spcPts val="224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Structures can contain arrays, other structures, and pointers</a:t>
            </a:r>
          </a:p>
          <a:p>
            <a:pPr algn="l">
              <a:lnSpc>
                <a:spcPts val="2240"/>
              </a:lnSpc>
              <a:spcAft>
                <a:spcPts val="400"/>
              </a:spcAft>
            </a:pPr>
            <a:r>
              <a:rPr sz="1500" b="0">
                <a:solidFill>
                  <a:srgbClr val="1B7A2B"/>
                </a:solidFill>
                <a:latin typeface="Calibri"/>
              </a:rPr>
              <a:t>Structure variables can be assigned:  s2 = s1; (copies all members)</a:t>
            </a:r>
          </a:p>
          <a:p>
            <a:pPr algn="l">
              <a:lnSpc>
                <a:spcPts val="2240"/>
              </a:lnSpc>
              <a:spcAft>
                <a:spcPts val="400"/>
              </a:spcAft>
            </a:pPr>
            <a:r>
              <a:rPr sz="1500" b="0">
                <a:solidFill>
                  <a:srgbClr val="C62828"/>
                </a:solidFill>
                <a:latin typeface="Calibri"/>
              </a:rPr>
              <a:t>But arrays CANNOT be assigned:  arr2 = arr1; is ILLEGAL in C!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struct vs union — Memory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struct: ALL members get space | union: members SHARE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280160"/>
            <a:ext cx="5669280" cy="484632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1D51"/>
                </a:solidFill>
                <a:latin typeface="Calibri"/>
              </a:rPr>
              <a:t>struct 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5120640" cy="100584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struct Data {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int a;      // 4 bytes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double b;   // 8 bytes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char c;     // 1 byte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};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1828800" cy="54864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D51"/>
                </a:solidFill>
                <a:latin typeface="Consolas"/>
              </a:rPr>
              <a:t>int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4 bytes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108960"/>
            <a:ext cx="3657600" cy="548640"/>
          </a:xfrm>
          <a:prstGeom prst="roundRect">
            <a:avLst/>
          </a:prstGeom>
          <a:solidFill>
            <a:srgbClr val="C5E1A5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D51"/>
                </a:solidFill>
                <a:latin typeface="Consolas"/>
              </a:rPr>
              <a:t>double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657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8 bytes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108960"/>
            <a:ext cx="914400" cy="548640"/>
          </a:xfrm>
          <a:prstGeom prst="roundRect">
            <a:avLst/>
          </a:prstGeom>
          <a:solidFill>
            <a:srgbClr val="FFCCBC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D51"/>
                </a:solidFill>
                <a:latin typeface="Consolas"/>
              </a:rPr>
              <a:t>char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1 byte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D51"/>
                </a:solidFill>
                <a:latin typeface="Consolas"/>
              </a:rPr>
              <a:t>sizeof(struct Data) = 24 bytes (with padding!)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Each member has its OWN memory location.</a:t>
            </a:r>
            <a:br/>
            <a:r>
              <a:t>All members accessible simultaneously.</a:t>
            </a:r>
            <a:br/>
            <a:r>
              <a:t>Total size &gt;= sum of all member sizes</a:t>
            </a:r>
            <a:br/>
            <a:r>
              <a:t>(due to alignment padding).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280160"/>
            <a:ext cx="5669280" cy="4846320"/>
          </a:xfrm>
          <a:prstGeom prst="roundRect">
            <a:avLst/>
          </a:prstGeom>
          <a:solidFill>
            <a:srgbClr val="FEF3E2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5C00"/>
                </a:solidFill>
                <a:latin typeface="Calibri"/>
              </a:rPr>
              <a:t>union Example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828800"/>
            <a:ext cx="5120640" cy="100584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9202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union Data {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int a;      // 4 bytes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double b;   // 8 bytes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char c;     // 1 byte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};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3108960"/>
            <a:ext cx="4206240" cy="548640"/>
          </a:xfrm>
          <a:prstGeom prst="roundRect">
            <a:avLst/>
          </a:prstGeom>
          <a:solidFill>
            <a:srgbClr val="FFCCBC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62828"/>
                </a:solidFill>
                <a:latin typeface="Consolas"/>
              </a:rPr>
              <a:t>ALL members share THIS SAME memory (8 bytes)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5C00"/>
                </a:solidFill>
                <a:latin typeface="Consolas"/>
              </a:rPr>
              <a:t>sizeof(union Data) = 8 bytes (largest member!)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34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All members share the SAME memory.</a:t>
            </a:r>
            <a:br/>
            <a:r>
              <a:t>Only ONE member valid at a time!</a:t>
            </a:r>
            <a:br/>
            <a:r>
              <a:t>Size = largest member (double = 8).</a:t>
            </a:r>
            <a:br/>
            <a:r>
              <a:t>Changing one member corrupts others.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6217920"/>
            <a:ext cx="11612880" cy="41148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0936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struct = AND (all members)  |  union = OR (one member at a time)  |  C-CAT loves sizeof questions!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9A825"/>
                </a:solidFill>
                <a:latin typeface="Calibri"/>
              </a:rPr>
              <a:t>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 TRAP CARD #7:  Structure Padding — sizeof Surprise!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A825"/>
                </a:solidFill>
                <a:latin typeface="Calibri"/>
              </a:rPr>
              <a:t>Frequently tested in C-CAT — Memorize this!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5029200" cy="137160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struct Padded {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char a;    // 1 byte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int b;     // 4 bytes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char c;    // 1 byte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};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You'd expect: 1+4+1 = 6 bytes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Actual sizeof = 12 bytes!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D51"/>
                </a:solidFill>
                <a:latin typeface="Calibri"/>
              </a:rPr>
              <a:t>Actual Memory Layout (4-byte alignment):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28800"/>
            <a:ext cx="438912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D51"/>
                </a:solidFill>
                <a:latin typeface="Consolas"/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438912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62828"/>
                </a:solidFill>
                <a:latin typeface="Consolas"/>
              </a:rPr>
              <a:t>pad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828800"/>
            <a:ext cx="438912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62828"/>
                </a:solidFill>
                <a:latin typeface="Consolas"/>
              </a:rPr>
              <a:t>pad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828800"/>
            <a:ext cx="438912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62828"/>
                </a:solidFill>
                <a:latin typeface="Consolas"/>
              </a:rPr>
              <a:t>pad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828800"/>
            <a:ext cx="438912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D51"/>
                </a:solidFill>
                <a:latin typeface="Consolas"/>
              </a:rPr>
              <a:t>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438912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D51"/>
                </a:solidFill>
                <a:latin typeface="Consolas"/>
              </a:rPr>
              <a:t>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828800"/>
            <a:ext cx="438912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D51"/>
                </a:solidFill>
                <a:latin typeface="Consolas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828800"/>
            <a:ext cx="438912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D51"/>
                </a:solidFill>
                <a:latin typeface="Consolas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828800"/>
            <a:ext cx="438912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D51"/>
                </a:solidFill>
                <a:latin typeface="Consolas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1828800"/>
            <a:ext cx="438912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62828"/>
                </a:solidFill>
                <a:latin typeface="Consolas"/>
              </a:rPr>
              <a:t>pad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828800"/>
            <a:ext cx="438912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62828"/>
                </a:solidFill>
                <a:latin typeface="Consolas"/>
              </a:rPr>
              <a:t>pad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0" y="1828800"/>
            <a:ext cx="438912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62828"/>
                </a:solidFill>
                <a:latin typeface="Consolas"/>
              </a:rPr>
              <a:t>pad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423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alibri"/>
              </a:rPr>
              <a:t>Total: 12 bytes (3 padding bytes wasted!)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017520"/>
            <a:ext cx="5029200" cy="16459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089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FIX — Reorder members by size (large to small):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struct Optimized {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    int b;     // 4 bytes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    char a;    // 1 byte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    char c;    // 1 byte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};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// sizeof = 8 bytes (only 2 bytes padding)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017520"/>
            <a:ext cx="5760720" cy="16459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1089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D51"/>
                </a:solidFill>
                <a:latin typeface="Calibri"/>
              </a:rPr>
              <a:t>PADDING RULES: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47472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1. Each member aligned to its own size boundary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2. int (4 bytes) must start at address divisible by 4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3. struct total padded to multiple of largest member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4. Reorder members large-to-small to minimize waste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937760"/>
            <a:ext cx="11338560" cy="109728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C-CAT CLASSIC:  'What is sizeof(struct {char a; int b; char c;})?'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Wrong answer: 6 (just adding sizes)    Correct answer: 12 (with padding!)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RULE: sizeof(struct) = sum of members + padding for alignment + trailing padding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Union sizeof — Largest Member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All members share the same memory 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486400" cy="164592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onsolas"/>
              </a:rPr>
              <a:t>union Mixed {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onsolas"/>
              </a:rPr>
              <a:t>    int a;       // 4 bytes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onsolas"/>
              </a:rPr>
              <a:t>    double b;    // 8 bytes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onsolas"/>
              </a:rPr>
              <a:t>    char c;      // 1 byte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onsolas"/>
              </a:rPr>
              <a:t>};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onsolas"/>
              </a:rPr>
              <a:t>// sizeof(union Mixed) =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303520" cy="164592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D51"/>
                </a:solidFill>
                <a:latin typeface="Calibri"/>
              </a:rPr>
              <a:t>Shared Memory (8 bytes total):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920240"/>
            <a:ext cx="731520" cy="274320"/>
          </a:xfrm>
          <a:prstGeom prst="roundRect">
            <a:avLst/>
          </a:prstGeom>
          <a:solidFill>
            <a:srgbClr val="FFCCB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Consolas"/>
              </a:rPr>
              <a:t>char c (1 byte)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240280"/>
            <a:ext cx="2743200" cy="274320"/>
          </a:xfrm>
          <a:prstGeom prst="roundRect">
            <a:avLst/>
          </a:prstGeom>
          <a:solidFill>
            <a:srgbClr val="C5E1A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Consolas"/>
              </a:rPr>
              <a:t>int a (4 bytes)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2560320"/>
            <a:ext cx="4754880" cy="274320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Consolas"/>
              </a:rPr>
              <a:t>double b (8 bytes)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D51"/>
                </a:solidFill>
                <a:latin typeface="Calibri"/>
              </a:rPr>
              <a:t>More Examples: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union { char a; short b; int c;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A2B"/>
                </a:solidFill>
                <a:latin typeface="Consolas"/>
              </a:rPr>
              <a:t>sizeof =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7490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Largest is int (4 bytes)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7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union { int a; int b; int c;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2976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A2B"/>
                </a:solidFill>
                <a:latin typeface="Consolas"/>
              </a:rPr>
              <a:t>sizeof =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2976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All same size — still 4, NOT 12!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4631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union { char a[20]; int b;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8463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A2B"/>
                </a:solidFill>
                <a:latin typeface="Consolas"/>
              </a:rPr>
              <a:t>sizeof =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84631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Array is 20 bytes &gt; int's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9495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union { double a; char b[3]; short c;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39495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A2B"/>
                </a:solidFill>
                <a:latin typeface="Consolas"/>
              </a:rPr>
              <a:t>sizeof =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39495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double (8) is largest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35040"/>
            <a:ext cx="11247120" cy="5486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union sizeof = max(all member sizes), possibly rounded up for alignment.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TRAP: union {int a; int b; int c;} is 4, not 12! Members SHARE memory, not stack!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enum Values — Default &amp; Custom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Enumerations create named integer constants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5486400" cy="182880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7CBD"/>
                </a:solidFill>
                <a:latin typeface="Calibri"/>
              </a:rPr>
              <a:t>DEFAULT VALUES (start at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Default: starts at 0, increments by 1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enum Color { RED, GREEN, BLUE };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RED = 0, GREEN = 1, BLUE = 2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enum Color c = GREEN;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printf("%d", c);  // prints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7CBD"/>
                </a:solidFill>
                <a:latin typeface="Calibri"/>
              </a:rPr>
              <a:t>CUSTOM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Custom: set specific values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enum Day { MON=1, TUE, WED, THU=10, FRI };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MON=1, TUE=2, WED=3, THU=10, FRI=11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After THU=10, FRI auto-increments to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6616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20"/>
              </a:lnSpc>
              <a:spcAft>
                <a:spcPts val="400"/>
              </a:spcAft>
            </a:pPr>
            <a:r>
              <a:rPr sz="2000" b="1">
                <a:solidFill>
                  <a:srgbClr val="0B1D51"/>
                </a:solidFill>
                <a:latin typeface="Calibri"/>
              </a:rPr>
              <a:t>enum Rules:</a:t>
            </a:r>
          </a:p>
          <a:p>
            <a:pPr algn="l">
              <a:lnSpc>
                <a:spcPts val="2320"/>
              </a:lnSpc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1. Default values start at 0 and increment by 1</a:t>
            </a:r>
          </a:p>
          <a:p>
            <a:pPr algn="l">
              <a:lnSpc>
                <a:spcPts val="2320"/>
              </a:lnSpc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2. You can assign custom values at any point</a:t>
            </a:r>
          </a:p>
          <a:p>
            <a:pPr algn="l">
              <a:lnSpc>
                <a:spcPts val="2320"/>
              </a:lnSpc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3. Values after a custom assignment auto-increment from that value</a:t>
            </a:r>
          </a:p>
          <a:p>
            <a:pPr algn="l">
              <a:lnSpc>
                <a:spcPts val="2320"/>
              </a:lnSpc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4. enum values are just integers — you can use them in arithmetic</a:t>
            </a:r>
          </a:p>
          <a:p>
            <a:pPr algn="l">
              <a:lnSpc>
                <a:spcPts val="2320"/>
              </a:lnSpc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5. Two enum members CAN have the same value: enum {A=1, B=1} is valid</a:t>
            </a:r>
          </a:p>
          <a:p>
            <a:pPr algn="l">
              <a:lnSpc>
                <a:spcPts val="2320"/>
              </a:lnSpc>
              <a:spcAft>
                <a:spcPts val="400"/>
              </a:spcAft>
            </a:pPr>
            <a:r>
              <a:rPr sz="1600" b="0">
                <a:solidFill>
                  <a:srgbClr val="1B7A2B"/>
                </a:solidFill>
                <a:latin typeface="Calibri"/>
              </a:rPr>
              <a:t>6. sizeof(enum) = sizeof(int) = 4 on most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6035040"/>
            <a:ext cx="11247120" cy="5486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126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C-CAT PATTERN: 'What is the value of FRI in enum {MON=1,TUE,WED,THU=10,FRI}?'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Answer: 11 (auto-increments from THU=10). NOT 5!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Self-Referential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Foundation for Linked Lists, Trees,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029200" cy="182880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7CBD"/>
                </a:solidFill>
                <a:latin typeface="Calibri"/>
              </a:rPr>
              <a:t>Self-Referential Structure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4663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struct Node {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int data;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struct Node *next;  // pointer to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};                      // same type!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// Create nodes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struct Node n1 = {10, NULL};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struct Node n2 = {20, NULL};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struct Node n3 = {30, NULL};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n1.next = &amp;n2;  // Link n1 -&gt; n2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n2.next = &amp;n3;  // Link n2 -&gt; n3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D51"/>
                </a:solidFill>
                <a:latin typeface="Calibri"/>
              </a:rPr>
              <a:t>Linked List Visualization: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011680"/>
            <a:ext cx="1645920" cy="109728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057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D51"/>
                </a:solidFill>
                <a:latin typeface="Consolas"/>
              </a:rPr>
              <a:t>data: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5146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3C8F"/>
                </a:solidFill>
                <a:latin typeface="Consolas"/>
              </a:rPr>
              <a:t>next: 0x200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423160"/>
            <a:ext cx="365760" cy="4572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80" y="2011680"/>
            <a:ext cx="1645920" cy="109728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057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D51"/>
                </a:solidFill>
                <a:latin typeface="Consolas"/>
              </a:rPr>
              <a:t>data: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5146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3C8F"/>
                </a:solidFill>
                <a:latin typeface="Consolas"/>
              </a:rPr>
              <a:t>next: 0x300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2423160"/>
            <a:ext cx="365760" cy="4572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66960" y="2011680"/>
            <a:ext cx="1645920" cy="109728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057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D51"/>
                </a:solidFill>
                <a:latin typeface="Consolas"/>
              </a:rPr>
              <a:t>data: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5146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62828"/>
                </a:solidFill>
                <a:latin typeface="Consolas"/>
              </a:rPr>
              <a:t>next: NULL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20"/>
              </a:lnSpc>
              <a:spcAft>
                <a:spcPts val="400"/>
              </a:spcAft>
            </a:pPr>
            <a:r>
              <a:rPr sz="1800" b="1">
                <a:solidFill>
                  <a:srgbClr val="0B1D51"/>
                </a:solidFill>
                <a:latin typeface="Calibri"/>
              </a:rPr>
              <a:t>Key Concepts:</a:t>
            </a:r>
          </a:p>
          <a:p>
            <a:pPr algn="l">
              <a:lnSpc>
                <a:spcPts val="232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A struct CANNOT contain itself (infinite size!), but CAN contain a POINTER to itself</a:t>
            </a:r>
          </a:p>
          <a:p>
            <a:pPr algn="l">
              <a:lnSpc>
                <a:spcPts val="232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sizeof(struct Node) = sizeof(int) + sizeof(pointer) = 4 + 8 = 12 (+ possible padding = 16)</a:t>
            </a:r>
          </a:p>
          <a:p>
            <a:pPr algn="l">
              <a:lnSpc>
                <a:spcPts val="232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The last node's next pointer is NULL — marks the end of the list</a:t>
            </a:r>
          </a:p>
          <a:p>
            <a:pPr algn="l">
              <a:lnSpc>
                <a:spcPts val="232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onsolas"/>
              </a:rPr>
              <a:t>Traversal:  while(ptr != NULL) { process(ptr-&gt;data); ptr = ptr-&gt;next; }</a:t>
            </a:r>
          </a:p>
          <a:p>
            <a:pPr algn="l">
              <a:lnSpc>
                <a:spcPts val="2320"/>
              </a:lnSpc>
              <a:spcAft>
                <a:spcPts val="400"/>
              </a:spcAft>
            </a:pPr>
            <a:r>
              <a:rPr sz="1500" b="1">
                <a:solidFill>
                  <a:srgbClr val="1B7A2B"/>
                </a:solidFill>
                <a:latin typeface="Calibri"/>
              </a:rPr>
              <a:t>This is the foundation for: Linked Lists, Stacks, Queues, Trees, Graphs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989320"/>
            <a:ext cx="11247120" cy="5029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TRAP: struct Node { int data; struct Node next; }; is ILLEGAL! Must use struct Node *next;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2011680" cy="640080"/>
          </a:xfrm>
          <a:prstGeom prst="roundRect">
            <a:avLst/>
          </a:prstGeom>
          <a:solidFill>
            <a:srgbClr val="3A7CB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DAY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822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Preprocessor, Bitwise, File I/O &amp; Dynamic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17520"/>
            <a:ext cx="2743200" cy="4572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Macro Traps (TRAP CARDS #8 &amp; #9)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Conditional Compilation &amp; Include Guards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Bitwise Operations — Visual Truth Tables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Bitwise Applications &amp; Tricks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File Modes &amp; I/O Flow</a:t>
            </a:r>
          </a:p>
          <a:p>
            <a:pPr algn="l">
              <a:lnSpc>
                <a:spcPts val="3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  malloc vs calloc &amp; Memory Management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0"/>
                </a:solidFill>
                <a:latin typeface="Calibri"/>
              </a:rPr>
              <a:t>Pre-DAC C-CAT Preparation  |  SPIPL CDAC ATC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9A825"/>
                </a:solidFill>
                <a:latin typeface="Calibri"/>
              </a:rPr>
              <a:t>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 TRAP CARD #8:  MACRO TRAP — #define SQ(x) x*x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A825"/>
                </a:solidFill>
                <a:latin typeface="Calibri"/>
              </a:rPr>
              <a:t>Frequently tested in C-CAT — Memorize this!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D51"/>
                </a:solidFill>
                <a:latin typeface="Calibri"/>
              </a:rPr>
              <a:t>THE single most tested C trap in competitive exams!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737360"/>
            <a:ext cx="5303520" cy="25603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BROKEN MACRO: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#define SQ(x)  x*x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SQ(2+3)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= 2+3 * 2+3     // text substitution!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= 2 + 6 + 3     // * before +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= 11             // NOT 25!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Expected 25, Got 11!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737360"/>
            <a:ext cx="5669280" cy="25603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FIXED MACRO: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#define SQ(x)  ((x)*(x))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SQ(2+3)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= ((2+3)*(2+3))  // parenthesized!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= ((5)*(5))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= 25              // CORRECT!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Always wrap parameters AND result in ()!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572000"/>
            <a:ext cx="11338560" cy="1554480"/>
          </a:xfrm>
          <a:prstGeom prst="roundRect">
            <a:avLst/>
          </a:prstGeom>
          <a:solidFill>
            <a:srgbClr val="FFF8E1"/>
          </a:solidFill>
          <a:ln w="381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D51"/>
                </a:solidFill>
                <a:latin typeface="Calibri"/>
              </a:rPr>
              <a:t>THE GOLDEN MACRO RULE: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1. Macros do TEXT SUBSTITUTION, not value calculation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2. Always parenthesize EVERY parameter: ((x)*(x))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3. Always parenthesize the ENTIRE expression: ((x)*(x)) not (x)*(x)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4. When in doubt, use inline functions instead of macros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More Macro Traps — Text Substitution Strikes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Every unparenthesized macro is a bug waiting to happen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5486400" cy="18288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TRAP: #define DOUBLE(x)  x+x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10 * DOUBLE(5)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= 10 * 5+5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= 50 + 5 = 55    // NOT 100!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1828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FIX: #define DOUBLE(x)  ((x)+(x))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10 * DOUBLE(5)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= 10 * ((5)+(5))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= 10 * 10 = 100  // CORRECT!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383280"/>
            <a:ext cx="5486400" cy="18288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TRAP: #define CUBE(x)  x*x*x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CUBE(1+2)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= 1+2*1+2*1+2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= 1+2+2+2 = 7    // NOT 27!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83280"/>
            <a:ext cx="5486400" cy="1828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FIX: #define CUBE(x)  ((x)*(x)*(x))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CUBE(1+2)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= ((1+2)*(1+2)*(1+2))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= 3*3*3 = 27     // CORRECT!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486400"/>
            <a:ext cx="11338560" cy="9144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PATTERN: C-CAT gives a macro WITHOUT parentheses and asks for output.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ALWAYS mentally do text substitution first, then apply operator precedence.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If the answer isn't what you'd expect, the macro needs parentheses around each param!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Conditional 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#ifdef, #ifndef, #endif — Compile-time decision making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5486400" cy="256032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7CBD"/>
                </a:solidFill>
                <a:latin typeface="Calibri"/>
              </a:rPr>
              <a:t>INCLUDE GUARDS (Most Common Use)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1206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Include Guards (prevent double inclusion)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#ifndef MYHEADER_H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#define MYHEADER_H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Header contents here...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void myFunction(void);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struct MyStruct { int x; };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#endif  // MYHEADER_H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7CBD"/>
                </a:solidFill>
                <a:latin typeface="Calibri"/>
              </a:rPr>
              <a:t>CONDITIONAL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// Debug mode toggle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#define DEBUG 1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#ifdef DEBUG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printf("x = %d\n", x);  // compiled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#endif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#ifndef RELEASE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printf("Debug build\n"); // compiled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#endif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976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800" b="1">
                <a:solidFill>
                  <a:srgbClr val="0B1D51"/>
                </a:solidFill>
                <a:latin typeface="Calibri"/>
              </a:rPr>
              <a:t>Preprocessor Directives Reference: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onsolas"/>
              </a:rPr>
              <a:t>#ifdef NAME   — compile if NAME is defined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onsolas"/>
              </a:rPr>
              <a:t>#ifndef NAME  — compile if NAME is NOT defined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onsolas"/>
              </a:rPr>
              <a:t>#if expr      — compile if expression is true (non-zero)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onsolas"/>
              </a:rPr>
              <a:t>#elif expr    — else if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onsolas"/>
              </a:rPr>
              <a:t>#else         — else branch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onsolas"/>
              </a:rPr>
              <a:t>#endif        — end of conditional block (REQUIRED!)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onsolas"/>
              </a:rPr>
              <a:t>#undef NAME   — undefine a macro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Bitwise Operations — Visual Truth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Work on individual bits of integers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280160"/>
            <a:ext cx="26517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C8F"/>
                </a:solidFill>
                <a:latin typeface="Calibri"/>
              </a:rPr>
              <a:t>AND (&amp;)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0&amp;0=0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0&amp;1=0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1&amp;0=0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1&amp;1=1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C8F"/>
                </a:solidFill>
                <a:latin typeface="Calibri"/>
              </a:rPr>
              <a:t>Both bits must be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280160"/>
            <a:ext cx="26517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7A2B"/>
                </a:solidFill>
                <a:latin typeface="Calibri"/>
              </a:rPr>
              <a:t>OR (|)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373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0|0=0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0|1=1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1|0=1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1|1=1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7A2B"/>
                </a:solidFill>
                <a:latin typeface="Calibri"/>
              </a:rPr>
              <a:t>Either bit can be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280160"/>
            <a:ext cx="26517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5C00"/>
                </a:solidFill>
                <a:latin typeface="Calibri"/>
              </a:rPr>
              <a:t>XOR (^)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0^0=0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0^1=1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1^0=1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1^1=0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5C00"/>
                </a:solidFill>
                <a:latin typeface="Calibri"/>
              </a:rPr>
              <a:t>Bits must be different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280160"/>
            <a:ext cx="26517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62828"/>
                </a:solidFill>
                <a:latin typeface="Calibri"/>
              </a:rPr>
              <a:t>NOT (~)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7373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~0=1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onsolas"/>
              </a:rPr>
              <a:t>~1=0</a:t>
            </a:r>
          </a:p>
          <a:p>
            <a:pPr algn="l">
              <a:lnSpc>
                <a:spcPts val="1950"/>
              </a:lnSpc>
              <a:spcAft>
                <a:spcPts val="400"/>
              </a:spcAft>
            </a:pPr>
          </a:p>
          <a:p>
            <a:pPr algn="l">
              <a:lnSpc>
                <a:spcPts val="1950"/>
              </a:lnSpc>
              <a:spcAft>
                <a:spcPts val="40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914400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62828"/>
                </a:solidFill>
                <a:latin typeface="Calibri"/>
              </a:rPr>
              <a:t>Flips all bits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D51"/>
                </a:solidFill>
                <a:latin typeface="Calibri"/>
              </a:rPr>
              <a:t>Worked Examples (5 = 0101, 3 = 0011 in binary):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C8F"/>
                </a:solidFill>
                <a:latin typeface="Consolas"/>
              </a:rPr>
              <a:t>5 &amp;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0101 &amp; 0011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C8F"/>
                </a:solidFill>
                <a:latin typeface="Consolas"/>
              </a:rPr>
              <a:t>= 0001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C8F"/>
                </a:solidFill>
                <a:latin typeface="Consolas"/>
              </a:rPr>
              <a:t>=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09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7A2B"/>
                </a:solidFill>
                <a:latin typeface="Consolas"/>
              </a:rPr>
              <a:t>5 |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0101 | 0011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7A2B"/>
                </a:solidFill>
                <a:latin typeface="Consolas"/>
              </a:rPr>
              <a:t>= 0111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7A2B"/>
                </a:solidFill>
                <a:latin typeface="Consolas"/>
              </a:rPr>
              <a:t>=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12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5C00"/>
                </a:solidFill>
                <a:latin typeface="Consolas"/>
              </a:rPr>
              <a:t>5 ^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0101 ^ 0011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5C00"/>
                </a:solidFill>
                <a:latin typeface="Consolas"/>
              </a:rPr>
              <a:t>= 0110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5C00"/>
                </a:solidFill>
                <a:latin typeface="Consolas"/>
              </a:rPr>
              <a:t>=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715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Consolas"/>
              </a:rPr>
              <a:t>~5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715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~00000101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715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onsolas"/>
              </a:rPr>
              <a:t>= 11111010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715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Consolas"/>
              </a:rPr>
              <a:t>= -6 (2's complement)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6263640"/>
            <a:ext cx="11612880" cy="4114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355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Left Shift (&lt;&lt;): multiply by 2.  Right Shift (&gt;&gt;): divide by 2.  5&lt;&lt;1=10, 5&gt;&gt;1=2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Bitwise Applications — Interview &amp; C-CAT Favorites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Common bit manipulation tricks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280160"/>
            <a:ext cx="2286000" cy="411480"/>
          </a:xfrm>
          <a:prstGeom prst="roundRect">
            <a:avLst/>
          </a:prstGeom>
          <a:solidFill>
            <a:srgbClr val="1B7A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Check if ODD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2801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D51"/>
                </a:solidFill>
                <a:latin typeface="Consolas"/>
              </a:rPr>
              <a:t>n &amp;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28016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If result is 1, n is odd;</a:t>
            </a:r>
            <a:br/>
            <a:r>
              <a:t>if 0, n is even.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28016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7A2B"/>
                </a:solidFill>
                <a:latin typeface="Consolas"/>
              </a:rPr>
              <a:t>7 &amp; 1 = 1 (odd)</a:t>
            </a:r>
            <a:br/>
            <a:r>
              <a:t>6 &amp; 1 = 0 (even)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331720"/>
            <a:ext cx="2286000" cy="411480"/>
          </a:xfrm>
          <a:prstGeom prst="roundRect">
            <a:avLst/>
          </a:prstGeom>
          <a:solidFill>
            <a:srgbClr val="E65C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Swap without temp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3172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D51"/>
                </a:solidFill>
                <a:latin typeface="Consolas"/>
              </a:rPr>
              <a:t>a ^= b;</a:t>
            </a:r>
            <a:br/>
            <a:r>
              <a:t>b ^= a;</a:t>
            </a:r>
            <a:br/>
            <a:r>
              <a:t>a ^= b;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33172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XOR swap trick.</a:t>
            </a:r>
            <a:br/>
            <a:r>
              <a:t>No temporary variable needed!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33172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7A2B"/>
                </a:solidFill>
                <a:latin typeface="Consolas"/>
              </a:rPr>
              <a:t>a=5,b=3 =&gt; a=3,b=5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383280"/>
            <a:ext cx="2286000" cy="411480"/>
          </a:xfrm>
          <a:prstGeom prst="roundRect">
            <a:avLst/>
          </a:prstGeom>
          <a:solidFill>
            <a:srgbClr val="1A3C8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Check Power of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38328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D51"/>
                </a:solidFill>
                <a:latin typeface="Consolas"/>
              </a:rPr>
              <a:t>n &amp; (n-1) ==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38328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Powers of 2 have exactly</a:t>
            </a:r>
            <a:br/>
            <a:r>
              <a:t>one bit 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38328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7A2B"/>
                </a:solidFill>
                <a:latin typeface="Consolas"/>
              </a:rPr>
              <a:t>8: 1000 &amp; 0111 = 0 (yes)</a:t>
            </a:r>
            <a:br/>
            <a:r>
              <a:t>6: 0110 &amp; 0101 != 0 (no)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434839"/>
            <a:ext cx="2286000" cy="411480"/>
          </a:xfrm>
          <a:prstGeom prst="roundRect">
            <a:avLst/>
          </a:prstGeom>
          <a:solidFill>
            <a:srgbClr val="3A7CB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Multiply by 2^k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434839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D51"/>
                </a:solidFill>
                <a:latin typeface="Consolas"/>
              </a:rPr>
              <a:t>n &lt;&lt; 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434839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Left shift by k positions</a:t>
            </a:r>
            <a:br/>
            <a:r>
              <a:t>= multiply by 2^k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434839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7A2B"/>
                </a:solidFill>
                <a:latin typeface="Consolas"/>
              </a:rPr>
              <a:t>5 &lt;&lt; 1 = 10</a:t>
            </a:r>
            <a:br/>
            <a:r>
              <a:t>5 &lt;&lt; 3 = 40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486400"/>
            <a:ext cx="2286000" cy="411480"/>
          </a:xfrm>
          <a:prstGeom prst="roundRect">
            <a:avLst/>
          </a:prstGeom>
          <a:solidFill>
            <a:srgbClr val="8E24A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Divide by 2^k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48640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D51"/>
                </a:solidFill>
                <a:latin typeface="Consolas"/>
              </a:rPr>
              <a:t>n &gt;&gt; 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48640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Right shift by k positions</a:t>
            </a:r>
            <a:br/>
            <a:r>
              <a:t>= divide by 2^k (integer)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48640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7A2B"/>
                </a:solidFill>
                <a:latin typeface="Consolas"/>
              </a:rPr>
              <a:t>20 &gt;&gt; 1 = 10</a:t>
            </a:r>
            <a:br/>
            <a:r>
              <a:t>20 &gt;&gt; 2 =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6263640"/>
            <a:ext cx="11612880" cy="41148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355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C-CAT loves: 'What is 5 &amp; 3?' (1), 'Is 8 a power of 2?' (yes, 8&amp;7==0), XOR swap questions!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File Modes — fopen() Mode 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Know what happens when file exists vs doesn't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914400" cy="50292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371600"/>
            <a:ext cx="1097280" cy="50292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Read?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371600"/>
            <a:ext cx="1097280" cy="50292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Write?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1371600"/>
            <a:ext cx="2560320" cy="50292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If Exists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286000" cy="50292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If Not Exists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371600"/>
            <a:ext cx="2011680" cy="50292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874520"/>
            <a:ext cx="9144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33333"/>
                </a:solidFill>
                <a:latin typeface="Consolas"/>
              </a:rPr>
              <a:t>"r"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1874520"/>
            <a:ext cx="10972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874520"/>
            <a:ext cx="10972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1874520"/>
            <a:ext cx="256032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Opens normally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874520"/>
            <a:ext cx="2286000" cy="548640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C62828"/>
                </a:solidFill>
                <a:latin typeface="Calibri"/>
              </a:rPr>
              <a:t>Returns NULL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1874520"/>
            <a:ext cx="20116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Beginning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42316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33333"/>
                </a:solidFill>
                <a:latin typeface="Consolas"/>
              </a:rPr>
              <a:t>"w"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2423160"/>
            <a:ext cx="1097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2423160"/>
            <a:ext cx="1097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2423160"/>
            <a:ext cx="2560320" cy="548640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C62828"/>
                </a:solidFill>
                <a:latin typeface="Calibri"/>
              </a:rPr>
              <a:t>TRUNCATES (erases!)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423160"/>
            <a:ext cx="228600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B7A2B"/>
                </a:solidFill>
                <a:latin typeface="Calibri"/>
              </a:rPr>
              <a:t>Creates new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42316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Beginning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971800"/>
            <a:ext cx="9144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33333"/>
                </a:solidFill>
                <a:latin typeface="Consolas"/>
              </a:rPr>
              <a:t>"a"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2971800"/>
            <a:ext cx="10972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2971800"/>
            <a:ext cx="10972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40" y="2971800"/>
            <a:ext cx="256032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Opens normally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971800"/>
            <a:ext cx="228600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B7A2B"/>
                </a:solidFill>
                <a:latin typeface="Calibri"/>
              </a:rPr>
              <a:t>Creates new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2971800"/>
            <a:ext cx="20116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End (append)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520439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33333"/>
                </a:solidFill>
                <a:latin typeface="Consolas"/>
              </a:rPr>
              <a:t>"r+"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3520439"/>
            <a:ext cx="1097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3520439"/>
            <a:ext cx="1097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40" y="3520439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Opens normally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520439"/>
            <a:ext cx="2286000" cy="548640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C62828"/>
                </a:solidFill>
                <a:latin typeface="Calibri"/>
              </a:rPr>
              <a:t>Returns NULL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3520439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Beginning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069080"/>
            <a:ext cx="9144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33333"/>
                </a:solidFill>
                <a:latin typeface="Consolas"/>
              </a:rPr>
              <a:t>"w+"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4069080"/>
            <a:ext cx="10972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4069080"/>
            <a:ext cx="10972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40" y="4069080"/>
            <a:ext cx="2560320" cy="548640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C62828"/>
                </a:solidFill>
                <a:latin typeface="Calibri"/>
              </a:rPr>
              <a:t>TRUNCATES (erases!)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069080"/>
            <a:ext cx="228600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B7A2B"/>
                </a:solidFill>
                <a:latin typeface="Calibri"/>
              </a:rPr>
              <a:t>Creates new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4069080"/>
            <a:ext cx="20116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Beginning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61772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33333"/>
                </a:solidFill>
                <a:latin typeface="Consolas"/>
              </a:rPr>
              <a:t>"a+"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4617720"/>
            <a:ext cx="1097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4617720"/>
            <a:ext cx="1097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40" y="461772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Opens normally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617720"/>
            <a:ext cx="228600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B7A2B"/>
                </a:solidFill>
                <a:latin typeface="Calibri"/>
              </a:rPr>
              <a:t>Creates new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461772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End (append)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029200"/>
            <a:ext cx="10789920" cy="7315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1206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DANGER: 'w' and 'w+' DESTROY existing file contents! They truncate to zero length.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If you want to add to a file, use 'a' (append). If you want to read + write, use 'r+'.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897880"/>
            <a:ext cx="10789920" cy="5486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9893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C-CAT PATTERN: 'What happens when fopen("data.txt","w") is called on existing file?'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Answer: File is opened and TRUNCATED (all existing data is erased!).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File I/O Flow — The Complete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fopen -&gt; read/write -&gt; fclose (with error checking!)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5669280" cy="411480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7CBD"/>
                </a:solidFill>
                <a:latin typeface="Calibri"/>
              </a:rPr>
              <a:t>COMPLETE FILE I/O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3035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#include &lt;stdio.h&gt;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int main() {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// 1. OPEN with error check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FILE *fp = fopen("data.txt", "r");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if (fp == NULL) {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printf("Error opening file!\n");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return 1;  // Exit on failure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// 2. READ/WRITE operations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char buffer[100];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while (fgets(buffer, 100, fp) != NULL) {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printf("%s", buffer);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// 3. CLOSE the file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fclose(fp);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fp = NULL;  // Good practice!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return 0;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303520" cy="77724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C8F"/>
                </a:solidFill>
                <a:latin typeface="Consolas"/>
              </a:rPr>
              <a:t>1. fopen()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Open file, get FILE*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148840"/>
            <a:ext cx="137160" cy="18288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331720"/>
            <a:ext cx="5303520" cy="7772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Consolas"/>
              </a:rPr>
              <a:t>2. Check 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97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ALWAYS verify fp != NULL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108960"/>
            <a:ext cx="137160" cy="182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291840"/>
            <a:ext cx="5303520" cy="7772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337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7A2B"/>
                </a:solidFill>
                <a:latin typeface="Consolas"/>
              </a:rPr>
              <a:t>3. Read/Write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57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fgets, fprintf, fscanf...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4069080"/>
            <a:ext cx="137160" cy="182880"/>
          </a:xfrm>
          <a:prstGeom prst="rect">
            <a:avLst/>
          </a:prstGeom>
          <a:solidFill>
            <a:srgbClr val="1B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4251960"/>
            <a:ext cx="5303520" cy="7772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297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5C00"/>
                </a:solidFill>
                <a:latin typeface="Consolas"/>
              </a:rPr>
              <a:t>4. fclose()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617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Release resources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5029200"/>
            <a:ext cx="137160" cy="1828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5212080"/>
            <a:ext cx="5303520" cy="77724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5257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E24AA"/>
                </a:solidFill>
                <a:latin typeface="Consolas"/>
              </a:rPr>
              <a:t>5. Set NULL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577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Prevent dangling pointer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669280"/>
            <a:ext cx="11338560" cy="8229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Common File Functions: fgets()/fputs() for strings, fprintf()/fscanf() for formatted,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fread()/fwrite() for binary, fgetc()/fputc() for characters, fseek()/ftell() for positioning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malloc vs calloc — Dynamic Memory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Allocate memory at runtime from the HEAP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280160"/>
            <a:ext cx="5669280" cy="2743200"/>
          </a:xfrm>
          <a:prstGeom prst="roundRect">
            <a:avLst/>
          </a:prstGeom>
          <a:solidFill>
            <a:srgbClr val="FEF3E2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65C00"/>
                </a:solidFill>
                <a:latin typeface="Calibri"/>
              </a:rPr>
              <a:t>malloc() — Memory ALLOCation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5120640" cy="91440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int *p = (int*)malloc(5 * sizeof(int));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// Allocates 20 bytes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// Content: GARBAGE (uninitialized!)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Takes ONE argument: total bytes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Does NOT initialize memory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Content is unpredictable garbage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Returns NULL on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669280" cy="2743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7A2B"/>
                </a:solidFill>
                <a:latin typeface="Calibri"/>
              </a:rPr>
              <a:t>calloc() — Contiguous ALLOCation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828800"/>
            <a:ext cx="5120640" cy="91440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int *p = (int*)calloc(5, sizeof(int));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// Allocates 20 bytes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// Content: ALL ZEROS (initialized!)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Takes TWO arguments: count, element size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Initializes ALL memory to ZERO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Safer — no garbage values</a:t>
            </a:r>
          </a:p>
          <a:p>
            <a:pPr algn="l">
              <a:lnSpc>
                <a:spcPts val="189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Returns NULL on failure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297680"/>
            <a:ext cx="5669280" cy="91440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3434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7CBD"/>
                </a:solidFill>
                <a:latin typeface="Calibri"/>
              </a:rPr>
              <a:t>realloc()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17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// realloc — resize allocated memory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p = (int*)realloc(p, 10 * sizeof(int));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// Now 40 bytes, old data preserved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297680"/>
            <a:ext cx="5669280" cy="914400"/>
          </a:xfrm>
          <a:prstGeom prst="roundRect">
            <a:avLst/>
          </a:prstGeom>
          <a:solidFill>
            <a:srgbClr val="262D3D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3434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7CBD"/>
                </a:solidFill>
                <a:latin typeface="Calibri"/>
              </a:rPr>
              <a:t>free()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17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// free — release memory back to OS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free(p);</a:t>
            </a:r>
          </a:p>
          <a:p>
            <a:pPr algn="l"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p = NULL;  // Prevent dangling pointer!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486400"/>
            <a:ext cx="11612880" cy="9144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ALL dynamic memory comes from HEAP (not stack). Must be manually freed!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Always: int *p = malloc(...); if(p == NULL) { /* handle error */ }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C-CAT Q: 'What does calloc return if it fails?' Answer: NULL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 Golden Rules of Dynamic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Break any rule =&gt; bugs, crashes, or security vulnerabilities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Day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280160"/>
            <a:ext cx="548640" cy="548640"/>
          </a:xfrm>
          <a:prstGeom prst="roundRect">
            <a:avLst/>
          </a:prstGeom>
          <a:solidFill>
            <a:srgbClr val="C628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D51"/>
                </a:solidFill>
                <a:latin typeface="Calibri"/>
              </a:rPr>
              <a:t>Always Check for 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00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if (ptr == NULL) { handle error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3258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alibri"/>
              </a:rPr>
              <a:t>malloc/calloc return NULL on failure. Using NULL pointer = CRASH!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331720"/>
            <a:ext cx="548640" cy="548640"/>
          </a:xfrm>
          <a:prstGeom prst="roundRect">
            <a:avLst/>
          </a:prstGeom>
          <a:solidFill>
            <a:srgbClr val="E65C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31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D51"/>
                </a:solidFill>
                <a:latin typeface="Calibri"/>
              </a:rPr>
              <a:t>Always free() Allocated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free(ptr);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377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5C00"/>
                </a:solidFill>
                <a:latin typeface="Calibri"/>
              </a:rPr>
              <a:t>Memory not freed = MEMORY LEAK. Program slowly eats all RAM!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383280"/>
            <a:ext cx="548640" cy="548640"/>
          </a:xfrm>
          <a:prstGeom prst="roundRect">
            <a:avLst/>
          </a:prstGeom>
          <a:solidFill>
            <a:srgbClr val="F9A82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D51"/>
                </a:solidFill>
                <a:latin typeface="Calibri"/>
              </a:rPr>
              <a:t>Set Pointer to NULL After free()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free(ptr); ptr = NULL;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429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A825"/>
                </a:solidFill>
                <a:latin typeface="Calibri"/>
              </a:rPr>
              <a:t>Prevents 'dangling pointer' — pointing to freed memory!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434839"/>
            <a:ext cx="548640" cy="548640"/>
          </a:xfrm>
          <a:prstGeom prst="roundRect">
            <a:avLst/>
          </a:prstGeom>
          <a:solidFill>
            <a:srgbClr val="C628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348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D51"/>
                </a:solidFill>
                <a:latin typeface="Calibri"/>
              </a:rPr>
              <a:t>Never free() Twice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548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free(ptr); free(ptr); // CRASH!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480559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alibri"/>
              </a:rPr>
              <a:t>Double-free is UNDEFINED BEHAVIOR. Can corrupt heap!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486400"/>
            <a:ext cx="548640" cy="548640"/>
          </a:xfrm>
          <a:prstGeom prst="roundRect">
            <a:avLst/>
          </a:prstGeom>
          <a:solidFill>
            <a:srgbClr val="C628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D51"/>
                </a:solidFill>
                <a:latin typeface="Calibri"/>
              </a:rPr>
              <a:t>Never Use After free()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806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free(ptr); *ptr = 5; // CRASH!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532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alibri"/>
              </a:rPr>
              <a:t>Use-after-free: memory may be reused. Data is garbage!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6263640"/>
            <a:ext cx="11612880" cy="3657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3550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Follow these 5 rules and you'll avoid 90% of dynamic memory bugs in C!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 TRAP CARDS — Master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All critical traps in one reference slide!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Module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280160"/>
            <a:ext cx="56692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731520" cy="457200"/>
          </a:xfrm>
          <a:prstGeom prst="roundRect">
            <a:avLst/>
          </a:prstGeom>
          <a:solidFill>
            <a:srgbClr val="1A3C8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325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D51"/>
                </a:solidFill>
                <a:latin typeface="Calibri"/>
              </a:rPr>
              <a:t>Integer Division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45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5/2 = 2 (not 2.5!)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6692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731520" cy="457200"/>
          </a:xfrm>
          <a:prstGeom prst="roundRect">
            <a:avLst/>
          </a:prstGeom>
          <a:solidFill>
            <a:srgbClr val="1A3C8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325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D51"/>
                </a:solidFill>
                <a:latin typeface="Calibri"/>
              </a:rPr>
              <a:t>Post-increment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645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x=5; y=x++ =&gt; y=5,x=6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240280"/>
            <a:ext cx="56692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" y="2377440"/>
            <a:ext cx="731520" cy="457200"/>
          </a:xfrm>
          <a:prstGeom prst="roundRect">
            <a:avLst/>
          </a:prstGeom>
          <a:solidFill>
            <a:srgbClr val="C628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D51"/>
                </a:solidFill>
                <a:latin typeface="Calibri"/>
              </a:rPr>
              <a:t>= vs ==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if(x=5) always true!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240280"/>
            <a:ext cx="56692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2377440"/>
            <a:ext cx="731520" cy="457200"/>
          </a:xfrm>
          <a:prstGeom prst="roundRect">
            <a:avLst/>
          </a:prstGeom>
          <a:solidFill>
            <a:srgbClr val="E65C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#4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D51"/>
                </a:solidFill>
                <a:latin typeface="Calibri"/>
              </a:rPr>
              <a:t>Short-circuit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&amp;&amp; stops at first false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200400"/>
            <a:ext cx="56692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" y="3337560"/>
            <a:ext cx="731520" cy="457200"/>
          </a:xfrm>
          <a:prstGeom prst="roundRect">
            <a:avLst/>
          </a:prstGeom>
          <a:solidFill>
            <a:srgbClr val="C628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D51"/>
                </a:solidFill>
                <a:latin typeface="Calibri"/>
              </a:rPr>
              <a:t>sizeof Decay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566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Array decays to pointer in functions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00400"/>
            <a:ext cx="56692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3337560"/>
            <a:ext cx="731520" cy="457200"/>
          </a:xfrm>
          <a:prstGeom prst="roundRect">
            <a:avLst/>
          </a:prstGeom>
          <a:solidFill>
            <a:srgbClr val="C628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#6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D51"/>
                </a:solidFill>
                <a:latin typeface="Calibri"/>
              </a:rPr>
              <a:t>char[] vs char*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566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char* string is READ-ONLY!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160520"/>
            <a:ext cx="56692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760" y="4297680"/>
            <a:ext cx="731520" cy="457200"/>
          </a:xfrm>
          <a:prstGeom prst="roundRect">
            <a:avLst/>
          </a:prstGeom>
          <a:solidFill>
            <a:srgbClr val="E65C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#7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206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D51"/>
                </a:solidFill>
                <a:latin typeface="Calibri"/>
              </a:rPr>
              <a:t>Struct Padding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526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sizeof(struct) includes padding!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160520"/>
            <a:ext cx="56692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09360" y="4297680"/>
            <a:ext cx="731520" cy="457200"/>
          </a:xfrm>
          <a:prstGeom prst="roundRect">
            <a:avLst/>
          </a:prstGeom>
          <a:solidFill>
            <a:srgbClr val="C628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#8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206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D51"/>
                </a:solidFill>
                <a:latin typeface="Calibri"/>
              </a:rPr>
              <a:t>Macro Expansion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4526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SQ(2+3)=11, not 25!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120640"/>
            <a:ext cx="56692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65760" y="5257800"/>
            <a:ext cx="731520" cy="457200"/>
          </a:xfrm>
          <a:prstGeom prst="roundRect">
            <a:avLst/>
          </a:prstGeom>
          <a:solidFill>
            <a:srgbClr val="C628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#9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5166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D51"/>
                </a:solidFill>
                <a:latin typeface="Calibri"/>
              </a:rPr>
              <a:t>Dangling Pointer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4864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Using pointer after free()!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120640"/>
            <a:ext cx="56692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09360" y="5257800"/>
            <a:ext cx="731520" cy="457200"/>
          </a:xfrm>
          <a:prstGeom prst="roundRect">
            <a:avLst/>
          </a:prstGeom>
          <a:solidFill>
            <a:srgbClr val="C628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#10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5166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D51"/>
                </a:solidFill>
                <a:latin typeface="Calibri"/>
              </a:rPr>
              <a:t>Buffer Overflow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54864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Writing beyond array bounds!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6126480"/>
            <a:ext cx="11612880" cy="5029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Calibri"/>
              </a:rPr>
              <a:t>These 10 traps account for 80%+ of trick questions in C-CAT. Master them all!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 Quick Reference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Essential C concepts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Module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280160"/>
            <a:ext cx="36576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9844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D51"/>
                </a:solidFill>
                <a:latin typeface="Calibri"/>
              </a:rPr>
              <a:t>Data Types &amp; Sizes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3619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char:1  short:2  int:4  long:8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float:4  double:8  pointer:8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280160"/>
            <a:ext cx="38404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2984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D51"/>
                </a:solidFill>
                <a:latin typeface="Calibri"/>
              </a:rPr>
              <a:t>Format Specifiers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53619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%d:int  %f:float  %lf:double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%c:char  %s:string  %p:pointer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%x:hex  %o:octal  %u:unsigned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8404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984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D51"/>
                </a:solidFill>
                <a:latin typeface="Calibri"/>
              </a:rPr>
              <a:t>Storage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53619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auto: default, local scope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static: persists across calls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extern: declared elsewhere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register: hint to use CPU register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560320"/>
            <a:ext cx="3657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57860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D51"/>
                </a:solidFill>
                <a:latin typeface="Calibri"/>
              </a:rPr>
              <a:t>Operator Precedence (Top)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816352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() [] -&gt; .     (highest)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! ~ ++ -- + - * &amp; sizeof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* / %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+ -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&lt;&lt; &gt;&gt;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2560320"/>
            <a:ext cx="384048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2578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D51"/>
                </a:solidFill>
                <a:latin typeface="Calibri"/>
              </a:rPr>
              <a:t>Pointer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816352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int *p = &amp;x;  // p holds address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*p = 10;      // dereference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p++;          // next int (4 bytes)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NULL check before dereference!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560320"/>
            <a:ext cx="384048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578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D51"/>
                </a:solidFill>
                <a:latin typeface="Calibri"/>
              </a:rPr>
              <a:t>String Functions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816352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strlen: length (no \0)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strcpy/strncpy: copy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strcmp/strncmp: compare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strcat/strncat: concatenate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strchr/strstr: 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114800"/>
            <a:ext cx="36576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13308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D51"/>
                </a:solidFill>
                <a:latin typeface="Calibri"/>
              </a:rPr>
              <a:t>Bitwise 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37083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&amp;:AND  |:OR  ^:XOR  ~:NOT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&lt;&lt;:left shift  &gt;&gt;:right shift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n&amp;1:check odd  n&amp;(n-1):power of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4114800"/>
            <a:ext cx="38404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41330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D51"/>
                </a:solidFill>
                <a:latin typeface="Calibri"/>
              </a:rPr>
              <a:t>File Modes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37083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r:read  w:write(truncate)  a:append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r+:read/write  w+:truncate r/w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a+:append read/write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114800"/>
            <a:ext cx="38404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1330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D51"/>
                </a:solidFill>
                <a:latin typeface="Calibri"/>
              </a:rPr>
              <a:t>Dynamic Memory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7083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malloc(bytes): uninitialized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calloc(n,size): zeroed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realloc(ptr,size): resize</a:t>
            </a:r>
          </a:p>
          <a:p>
            <a:pPr algn="l">
              <a:lnSpc>
                <a:spcPts val="1125"/>
              </a:lnSpc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onsolas"/>
              </a:rPr>
              <a:t>free(ptr): release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5394960"/>
            <a:ext cx="11612880" cy="11887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864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Keywords (32): auto break case char const continue default do double else enum extern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float for goto if int long register return short signed sizeof static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struct switch typedef union unsigned void volatile while</a:t>
            </a:r>
          </a:p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Remember: C has NO bool, NO string, NO class — these are C++/Java concepts!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Top 20 C-CAT Traps — Final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Know these and you're C-CAT ready!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4F0"/>
                </a:solidFill>
                <a:latin typeface="Calibri"/>
              </a:rPr>
              <a:t>Pre-DAC C-CAT Prep  |  Module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9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6E4F0"/>
                </a:solidFill>
                <a:latin typeface="Calibri"/>
              </a:rPr>
              <a:t>Module 3: C Programming (Part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62828"/>
                </a:solidFill>
                <a:latin typeface="Consolas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2828"/>
                </a:solidFill>
                <a:latin typeface="Calibri"/>
              </a:rPr>
              <a:t>5/2 = 2 (integer division truncates)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E65C00"/>
                </a:solidFill>
                <a:latin typeface="Consolas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190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C00"/>
                </a:solidFill>
                <a:latin typeface="Calibri"/>
              </a:rPr>
              <a:t>x=5; y=x++ makes y=5, x=6 (post-increment returns OLD value)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2037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62828"/>
                </a:solidFill>
                <a:latin typeface="Consolas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037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2828"/>
                </a:solidFill>
                <a:latin typeface="Calibri"/>
              </a:rPr>
              <a:t>if(x=5) is assignment, ALWAYS true! Use if(x==5)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6883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E65C00"/>
                </a:solidFill>
                <a:latin typeface="Consolas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6883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C00"/>
                </a:solidFill>
                <a:latin typeface="Calibri"/>
              </a:rPr>
              <a:t>&amp;&amp; and || short-circuit: second operand may NOT 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172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E65C00"/>
                </a:solidFill>
                <a:latin typeface="Consolas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C00"/>
                </a:solidFill>
                <a:latin typeface="Calibri"/>
              </a:rPr>
              <a:t>sizeof(array) decays to sizeof(pointer) when passed to function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657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62828"/>
                </a:solidFill>
                <a:latin typeface="Consolas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2828"/>
                </a:solidFill>
                <a:latin typeface="Calibri"/>
              </a:rPr>
              <a:t>#define SQ(x) x*x =&gt; SQ(2+3)=11. Fix: ((x)*(x))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1422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62828"/>
                </a:solidFill>
                <a:latin typeface="Consolas"/>
              </a:rPr>
              <a:t>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422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2828"/>
                </a:solidFill>
                <a:latin typeface="Calibri"/>
              </a:rPr>
              <a:t>char *s="Hi"; s[0]='B'; is UNDEFINED BEHAVIOR (read-only!)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6268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E65C00"/>
                </a:solidFill>
                <a:latin typeface="Consolas"/>
              </a:rPr>
              <a:t>8.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2686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C00"/>
                </a:solidFill>
                <a:latin typeface="Calibri"/>
              </a:rPr>
              <a:t>strlen("Hi")=2 but sizeof("Hi")=3 (includes \0)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1114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A3C8F"/>
                </a:solidFill>
                <a:latin typeface="Consolas"/>
              </a:rPr>
              <a:t>9.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114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strcmp(s1,s2)==0 means EQUAL (not s1==s2!)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596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A3C8F"/>
                </a:solidFill>
                <a:latin typeface="Consolas"/>
              </a:rPr>
              <a:t>10.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961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scanf("%s") stops at space! Use fgets() for full 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E65C00"/>
                </a:solidFill>
                <a:latin typeface="Consolas"/>
              </a:rPr>
              <a:t>11.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C00"/>
                </a:solidFill>
                <a:latin typeface="Calibri"/>
              </a:rPr>
              <a:t>struct padding: sizeof(struct{char;int;char}) = 12, not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E65C00"/>
                </a:solidFill>
                <a:latin typeface="Consolas"/>
              </a:rPr>
              <a:t>12.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17190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C00"/>
                </a:solidFill>
                <a:latin typeface="Calibri"/>
              </a:rPr>
              <a:t>union size = LARGEST member only, not sum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2037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62828"/>
                </a:solidFill>
                <a:latin typeface="Consolas"/>
              </a:rPr>
              <a:t>13.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2037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2828"/>
                </a:solidFill>
                <a:latin typeface="Calibri"/>
              </a:rPr>
              <a:t>Dangling pointer: using ptr after free(ptr) is 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6883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62828"/>
                </a:solidFill>
                <a:latin typeface="Consolas"/>
              </a:rPr>
              <a:t>14.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6883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2828"/>
                </a:solidFill>
                <a:latin typeface="Calibri"/>
              </a:rPr>
              <a:t>Double free: free(ptr); free(ptr); crashes!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172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A3C8F"/>
                </a:solidFill>
                <a:latin typeface="Consolas"/>
              </a:rPr>
              <a:t>15.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172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Array index starts at 0: arr[5] has valid indices 0-4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657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A3C8F"/>
                </a:solidFill>
                <a:latin typeface="Consolas"/>
              </a:rPr>
              <a:t>16.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switch without break: falls through to next case!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1422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A3C8F"/>
                </a:solidFill>
                <a:latin typeface="Consolas"/>
              </a:rPr>
              <a:t>17.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1422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Uninitialized local variables contain GARBAGE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6268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A3C8F"/>
                </a:solidFill>
                <a:latin typeface="Consolas"/>
              </a:rPr>
              <a:t>18.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62686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malloc returns NULL on failure — ALWAYS check!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1114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A3C8F"/>
                </a:solidFill>
                <a:latin typeface="Consolas"/>
              </a:rPr>
              <a:t>19.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51114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Pointer arithmetic: int *p; p+1 moves 4 bytes (not 1!)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596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A3C8F"/>
                </a:solidFill>
                <a:latin typeface="Consolas"/>
              </a:rPr>
              <a:t>20.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55961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Array name is NOT a modifiable lvalue: arr++ is ILLEGAL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6126480"/>
            <a:ext cx="11612880" cy="5029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400"/>
              </a:spcAft>
            </a:pPr>
            <a:r>
              <a:rPr sz="1400" b="0">
                <a:solidFill>
                  <a:srgbClr val="1B7A2B"/>
                </a:solidFill>
                <a:latin typeface="Calibri"/>
              </a:rPr>
              <a:t>Master these 20 traps and you'll handle 90% of C trick questions in C-CAT. Review daily until exam 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