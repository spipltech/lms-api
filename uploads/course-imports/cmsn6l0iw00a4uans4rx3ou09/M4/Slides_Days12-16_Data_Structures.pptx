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MODULE 4: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  <a:latin typeface="Calibri"/>
              </a:defRPr>
            </a:pPr>
            <a:r>
              <a:t>Days 12 – 16  |  C-CAT 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0CAF9"/>
                </a:solidFill>
                <a:latin typeface="Calibri"/>
              </a:defRPr>
            </a:pPr>
            <a:r>
              <a:t>Arrays • Linked Lists • Stacks • Queues • Trees • Graphs • Hashing • Sorting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Structure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F"/>
                </a:solidFill>
                <a:latin typeface="Calibri"/>
              </a:defRPr>
            </a:pPr>
            <a:r>
              <a:t>LINEAR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Arrays — contiguous memory, O(1) access by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Linked Lists — dynamic, pointer-based, O(n)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Stacks — LIFO (Last In First 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Queues — FIFO (First In First 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F"/>
                </a:solidFill>
                <a:latin typeface="Calibri"/>
              </a:defRPr>
            </a:pPr>
            <a:r>
              <a:t>NON-LINEAR DATA STRUCTURES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Trees — hierarchical, parent-child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Graphs — nodes + edges, directed/undirected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F"/>
                </a:solidFill>
                <a:latin typeface="Calibri"/>
              </a:defRPr>
            </a:pPr>
            <a:r>
              <a:t>OTHER: Hash Tables — key-value mapping, O(1) avg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Array Address Calculation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F"/>
                </a:solidFill>
                <a:latin typeface="Calibri"/>
              </a:defRPr>
            </a:pPr>
            <a:r>
              <a:t>1-D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Address(A[i]) = Base + (i - LB) ×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2-D ARRAY — ROW MAJOR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Address(A[i][j]) = Base + [(i - LR) × N_cols + (j - LC)] ×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where N_cols = UC - LC + 1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2-D ARRAY — COLUMN MAJOR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Address(A[i][j]) = Base + [(j - LC) × N_rows + (i - LR)] ×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where N_rows = UR - LR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TRAP: C/Java use Row-Major; Fortran uses Column-Major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TIP: Remember — Row major = Row changes SLOWEST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Array Address —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F"/>
                </a:solidFill>
                <a:latin typeface="Calibri"/>
              </a:defRPr>
            </a:pPr>
            <a:r>
              <a:t>Q: A[10][20] stored at Base=1000, Size=4 bytes, Row Major.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B1F3F"/>
                </a:solidFill>
                <a:latin typeface="Calibri"/>
              </a:defRPr>
            </a:pPr>
            <a:r>
              <a:t>   Find address of A[3][5].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Step 1: N_cols = 20 (columns 0..19)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Step 2: Offset = (3 - 0) × 20 + (5 - 0) = 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onsolas"/>
              </a:defRPr>
            </a:pPr>
            <a:r>
              <a:t>Step 3: Address = 1000 + 65 × 4 = 1260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F"/>
                </a:solidFill>
                <a:latin typeface="Calibri"/>
              </a:defRPr>
            </a:pPr>
            <a:r>
              <a:t>Column Major for same: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N_rows = 10, Offset = (5-0)×10 + (3-0) = 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onsolas"/>
              </a:defRPr>
            </a:pPr>
            <a:r>
              <a:t>  Address = 1000 + 53 × 4 = 1212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Linked List Types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F"/>
                </a:solidFill>
                <a:latin typeface="Consolas"/>
              </a:defRPr>
            </a:pPr>
            <a:r>
              <a:t>SINGLY LINKED LIST:  [Data|Next] → [Data|Next] →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F"/>
                </a:solidFill>
                <a:latin typeface="Consolas"/>
              </a:defRPr>
            </a:pPr>
            <a:r>
              <a:t>DOUBLY LINKED LIST:  NULL ← [Prev|Data|Next] ↔ [Prev|Data|Next] →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F"/>
                </a:solidFill>
                <a:latin typeface="Consolas"/>
              </a:defRPr>
            </a:pPr>
            <a:r>
              <a:t>CIRCULAR LINKED LIST: [Data|Next] → [Data|Next] → ... → (back to head)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Calibri"/>
              </a:defRPr>
            </a:pPr>
            <a:r>
              <a:t>KEY OPERATIONS: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Calibri"/>
              </a:defRPr>
            </a:pPr>
            <a:r>
              <a:t>  Insert at Beginning: O(1) — new node's next = head; head = new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Calibri"/>
              </a:defRPr>
            </a:pPr>
            <a:r>
              <a:t>  Insert at End: O(n) for SLL, O(1) if tail pointer maintained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Calibri"/>
              </a:defRPr>
            </a:pPr>
            <a:r>
              <a:t>  Delete node: O(n) search + O(1) pointer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Calibri"/>
              </a:defRPr>
            </a:pPr>
            <a:r>
              <a:t>  Search: O(n) — must traverse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TRAP: Forgetting to update TAIL in circular list!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TIP: DLL needs 2 pointers updated per operation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Stack — LIFO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F"/>
                </a:solidFill>
                <a:latin typeface="Calibri"/>
              </a:defRPr>
            </a:pPr>
            <a:r>
              <a:t>OPERATIONS: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push(x)  — insert at top      → O(1)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pop()    — remove from top     → O(1)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peek()   — view top element    → 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isEmpty() — check if empty     → O(1)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Calibri"/>
              </a:defRPr>
            </a:pPr>
            <a:r>
              <a:t>APPLICATIONS: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• Expression evaluation (postfix)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• Expression conversion (infix → postfix)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• Balanced parentheses checking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• Function call stack / Recursion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• Undo operations, Browser back button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Stack Overflow = push on full stack | Underflow = pop on empty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Infix to Postfix Conversion —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F"/>
                </a:solidFill>
                <a:latin typeface="Calibri"/>
              </a:defRPr>
            </a:pPr>
            <a:r>
              <a:t>OPERATOR PRECEDENCE (high → low):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^  (right-to-left associative)    — highest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* /  (left-to-right)              — 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+ -  (left-to-right)              — lowest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Calibri"/>
              </a:defRPr>
            </a:pPr>
            <a:r>
              <a:t>ALGORITHM: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1. Operand → directly to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2. '(' → push to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3. ')' → pop to output until '(' found, discard '('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4. Operator → pop stack operators with &gt;= precedence to output, then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5. End → pop all remaining to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TRAP: ^ is RIGHT associative! a^b^c = a^(b^c)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Infix to Postfix: A+B*C-D  →  ABC*+D-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3847" y="1188720"/>
          <a:ext cx="91440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Stack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(empty)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 *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B 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B C * 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B C * + 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(empty)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A B C * + D 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Postfix Evaluation: 2 3 1 * + 9 -  →  Answer: -4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52447" y="1188720"/>
          <a:ext cx="8686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Stack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Push 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Push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Push 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2, 3, 1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Pop 3,1 → 3*1=3 →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Pop 2,3 → 2+3=5 → Push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Push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5, 9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Pop 5,9 → 5-9=-4 → Push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-4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TRAP: Order matters for - and /: second-popped OP first-popped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Queue &amp; Circular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F"/>
                </a:solidFill>
                <a:latin typeface="Calibri"/>
              </a:defRPr>
            </a:pPr>
            <a:r>
              <a:t>QUEUE — FIFO (First In First 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enqueue(x) — add at REAR    → O(1)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dequeue()  — remove at FRONT → O(1)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Calibri"/>
              </a:defRPr>
            </a:pPr>
            <a:r>
              <a:t>CIRCULAR QUEUE — solves 'false overflow'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rear = (rear + 1) %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front = (front + 1) %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Full condition:  (rear + 1) % SIZE == 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Empty condition: front == rear (or front == -1)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F"/>
                </a:solidFill>
                <a:latin typeface="Calibri"/>
              </a:defRPr>
            </a:pPr>
            <a:r>
              <a:t>PRIORITY QUEUE: dequeue based on priority, not arrival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F"/>
                </a:solidFill>
                <a:latin typeface="Calibri"/>
              </a:defRPr>
            </a:pPr>
            <a:r>
              <a:t>DEQUE (Double-Ended Queue): insert/delete at BOTH 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TRAP: Linear queue wastes space — always think circular!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Binary Tree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F"/>
                </a:solidFill>
                <a:latin typeface="Calibri"/>
              </a:defRPr>
            </a:pPr>
            <a:r>
              <a:t>BINARY TREE: each node has at most 2 children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FULL (STRICT) BINARY TREE: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Every node has 0 or 2 children (never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COMPLETE BINARY TREE: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All levels filled except possibly last; last level left-aligned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PERFECT BINARY TREE: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All internal nodes have 2 children; all leaves at same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BALANCED BINARY TREE (AVL):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|height(left) - height(right)| ≤ 1 for every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KEY FORMULAS: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Max nodes at level L = 2^L  |  Max nodes in tree of height h = 2^(h+1) - 1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Min height for n nodes = ⌊log₂(n)⌋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Tree Traversal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INORDER (Left → Root → Right)  — gives SORTED order for BST!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PREORDER (Root → Left → Right)  — used to COPY a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POSTORDER (Left → Right → Root)  — used to DELETE a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LEVEL ORDER (BFS) — use QUEUE, level by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Calibri"/>
              </a:defRPr>
            </a:pPr>
            <a:r>
              <a:t>MEMORY TRICK: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IN = LNR  (Node in middle)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PRE = NLR (Node first/pre)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POST = LRN (Node last/post)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F"/>
                </a:solidFill>
                <a:latin typeface="Calibri"/>
              </a:defRPr>
            </a:pPr>
            <a:r>
              <a:t>RECONSTRUCTION: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AE60"/>
                </a:solidFill>
                <a:latin typeface="Calibri"/>
              </a:defRPr>
            </a:pPr>
            <a:r>
              <a:t>  Inorder + Preorder → unique tree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AE60"/>
                </a:solidFill>
                <a:latin typeface="Calibri"/>
              </a:defRPr>
            </a:pPr>
            <a:r>
              <a:t>  Inorder + Postorder → unique tree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  Preorder + Postorder → NOT unique (need inorder!)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Traversal Example — Tree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F3F"/>
                </a:solidFill>
                <a:latin typeface="Consolas"/>
              </a:defRPr>
            </a:pPr>
            <a:r>
              <a:t>Tree 1:         1</a:t>
            </a:r>
            <a:br/>
            <a:r>
              <a:t>                       / \</a:t>
            </a:r>
            <a:br/>
            <a:r>
              <a:t>                      2   3</a:t>
            </a:r>
            <a:br/>
            <a:r>
              <a:t>                     / \</a:t>
            </a:r>
            <a:br/>
            <a:r>
              <a:t>                    4   5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onsolas"/>
              </a:defRPr>
            </a:pPr>
            <a:r>
              <a:t>Inorder: 4 2 5 1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3C6E"/>
                </a:solidFill>
                <a:latin typeface="Consolas"/>
              </a:defRPr>
            </a:pPr>
            <a:r>
              <a:t>Preorder: 1 2 4 5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7E22"/>
                </a:solidFill>
                <a:latin typeface="Consolas"/>
              </a:defRPr>
            </a:pPr>
            <a:r>
              <a:t>Postorder: 4 5 2 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onsolas"/>
              </a:defRPr>
            </a:pPr>
            <a:r>
              <a:t>Level: 1 2 3 4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Traversal Example — Tree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F3F"/>
                </a:solidFill>
                <a:latin typeface="Consolas"/>
              </a:defRPr>
            </a:pPr>
            <a:r>
              <a:t>Tree 2:         10</a:t>
            </a:r>
            <a:br/>
            <a:r>
              <a:t>                       / \</a:t>
            </a:r>
            <a:br/>
            <a:r>
              <a:t>                      5  15</a:t>
            </a:r>
            <a:br/>
            <a:r>
              <a:t>                     / \    \</a:t>
            </a:r>
            <a:br/>
            <a:r>
              <a:t>                    3   7   20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onsolas"/>
              </a:defRPr>
            </a:pPr>
            <a:r>
              <a:t>Inorder: 3 5 7 10 15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3C6E"/>
                </a:solidFill>
                <a:latin typeface="Consolas"/>
              </a:defRPr>
            </a:pPr>
            <a:r>
              <a:t>Preorder: 10 5 3 7 15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7E22"/>
                </a:solidFill>
                <a:latin typeface="Consolas"/>
              </a:defRPr>
            </a:pPr>
            <a:r>
              <a:t>Postorder: 3 7 5 20 15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onsolas"/>
              </a:defRPr>
            </a:pPr>
            <a:r>
              <a:t>Level: 10 5 15 3 7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Traversal Example — Tree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F3F"/>
                </a:solidFill>
                <a:latin typeface="Consolas"/>
              </a:defRPr>
            </a:pPr>
            <a:r>
              <a:t>Tree 3:         A</a:t>
            </a:r>
            <a:br/>
            <a:r>
              <a:t>                       / \</a:t>
            </a:r>
            <a:br/>
            <a:r>
              <a:t>                      B   C</a:t>
            </a:r>
            <a:br/>
            <a:r>
              <a:t>                     /   / \</a:t>
            </a:r>
            <a:br/>
            <a:r>
              <a:t>                    D   E  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onsolas"/>
              </a:defRPr>
            </a:pPr>
            <a:r>
              <a:t>Inorder: D B A E C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3C6E"/>
                </a:solidFill>
                <a:latin typeface="Consolas"/>
              </a:defRPr>
            </a:pPr>
            <a:r>
              <a:t>Preorder: A B D C E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7E22"/>
                </a:solidFill>
                <a:latin typeface="Consolas"/>
              </a:defRPr>
            </a:pPr>
            <a:r>
              <a:t>Postorder: D B E F C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onsolas"/>
              </a:defRPr>
            </a:pPr>
            <a:r>
              <a:t>Level: A B C D E 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Traversal Example — Tree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F3F"/>
                </a:solidFill>
                <a:latin typeface="Consolas"/>
              </a:defRPr>
            </a:pPr>
            <a:r>
              <a:t>Tree 4:        50</a:t>
            </a:r>
            <a:br/>
            <a:r>
              <a:t>                      / \</a:t>
            </a:r>
            <a:br/>
            <a:r>
              <a:t>                    30  70</a:t>
            </a:r>
            <a:br/>
            <a:r>
              <a:t>                   / \  / \</a:t>
            </a:r>
            <a:br/>
            <a:r>
              <a:t>                  20 40 60 80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onsolas"/>
              </a:defRPr>
            </a:pPr>
            <a:r>
              <a:t>Inorder: 20 30 40 50 60 70 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3C6E"/>
                </a:solidFill>
                <a:latin typeface="Consolas"/>
              </a:defRPr>
            </a:pPr>
            <a:r>
              <a:t>Preorder: 50 30 20 40 70 60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7E22"/>
                </a:solidFill>
                <a:latin typeface="Consolas"/>
              </a:defRPr>
            </a:pPr>
            <a:r>
              <a:t>Postorder: 20 40 30 60 80 70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onsolas"/>
              </a:defRPr>
            </a:pPr>
            <a:r>
              <a:t>Level: 50 30 70 20 40 60 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Traversal Example — Tree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F3F"/>
                </a:solidFill>
                <a:latin typeface="Consolas"/>
              </a:defRPr>
            </a:pPr>
            <a:r>
              <a:t>Tree 5:         1</a:t>
            </a:r>
            <a:br/>
            <a:r>
              <a:t>                        \</a:t>
            </a:r>
            <a:br/>
            <a:r>
              <a:t>                         2</a:t>
            </a:r>
            <a:br/>
            <a:r>
              <a:t>                          \</a:t>
            </a:r>
            <a:br/>
            <a:r>
              <a:t>                           3</a:t>
            </a:r>
            <a:br/>
            <a:r>
              <a:t>                            \</a:t>
            </a:r>
            <a:br/>
            <a:r>
              <a:t>                           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onsolas"/>
              </a:defRPr>
            </a:pPr>
            <a:r>
              <a:t>Inorder: 1 2 3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3C6E"/>
                </a:solidFill>
                <a:latin typeface="Consolas"/>
              </a:defRPr>
            </a:pPr>
            <a:r>
              <a:t>Preorder: 1 2 3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7E22"/>
                </a:solidFill>
                <a:latin typeface="Consolas"/>
              </a:defRPr>
            </a:pPr>
            <a:r>
              <a:t>Postorder: 4 3 2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onsolas"/>
              </a:defRPr>
            </a:pPr>
            <a:r>
              <a:t>Level: 1 2 3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Binary Search Tree (BST)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F"/>
                </a:solidFill>
                <a:latin typeface="Calibri"/>
              </a:defRPr>
            </a:pPr>
            <a:r>
              <a:t>BST PROPERTY: Left &lt; Root &lt; Right (for ALL subtrees)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SEARCH:  O(log n) avg, O(n) worst (skewed)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INSERT:  O(log n) avg — always inserted as LEAF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DELETE:  3 cases: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Case 1: Leaf node → simply remove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Case 2: One child → replace with child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Case 3: Two children → replace with INORDER SUCCESSOR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alibri"/>
              </a:defRPr>
            </a:pPr>
            <a:r>
              <a:t>           (or inorder predecessor)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INORDER SUCCESSOR = smallest node in RIGHT subtree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INORDER PREDECESSOR = largest node in LEFT subtree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TRAP: Deleting node with 2 children — don't just swap values blindly!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Graph Representations — Matrix vs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F"/>
                </a:solidFill>
                <a:latin typeface="Calibri"/>
              </a:defRPr>
            </a:pPr>
            <a:r>
              <a:t>ADJACENCY MATRIX: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2D array: matrix[i][j] = 1 if edge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Space: O(V²) | Edge check: O(1) | Good for DENSE graphs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Symmetric for undirected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Calibri"/>
              </a:defRPr>
            </a:pPr>
            <a:r>
              <a:t>ADJACENCY LIST: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Array of linked lists: each vertex stores its neighbors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Space: O(V + E) | Edge check: O(V) | Good for SPARSE 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GRAPH TRAVERSALS: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BFS — uses QUEUE — finds shortest path (unweighted)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DFS — uses STACK (or recursion) — cycle detection, topological sort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TRAP: Matrix wastes space for sparse graphs; List wastes time for dense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Graph Properties &amp;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F"/>
                </a:solidFill>
                <a:latin typeface="Calibri"/>
              </a:defRPr>
            </a:pPr>
            <a:r>
              <a:t>UNDIRECTED GRAPH: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Max edges = V(V-1)/2  |  Sum of degrees = 2E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F"/>
                </a:solidFill>
                <a:latin typeface="Calibri"/>
              </a:defRPr>
            </a:pPr>
            <a:r>
              <a:t>DIRECTED GRAPH: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Max edges = V(V-1)    |  Sum of in-degrees = Sum of out-degrees =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SPANNING TREE: V-1 edges connecting all V vertices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Kruskal's — sort edges, add smallest (no cycle) — Greedy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Prim's — grow tree from a vertex — Greedy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SHORTEST PATH: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Dijkstra's — single source, NO negative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Bellman-Ford — single source, handles negative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Floyd-Warshall — all pairs shortest path, O(V³)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TRAP: Dijkstra fails with negative edge weights!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Hashing &amp; Collision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B1F3F"/>
                </a:solidFill>
                <a:latin typeface="Consolas"/>
              </a:defRPr>
            </a:pPr>
            <a:r>
              <a:t>HASH FUNCTION: maps key → index | h(key) = key % table_size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Calibri"/>
              </a:defRPr>
            </a:pPr>
            <a:r>
              <a:t>COLLISION = two keys map to same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OPEN ADDRESSING (Closed Hashing):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Linear Probing:    h(k,i) = (h(k) + i) %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74C3C"/>
                </a:solidFill>
                <a:latin typeface="Calibri"/>
              </a:defRPr>
            </a:pPr>
            <a:r>
              <a:t>    Problem: PRIMARY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Quadratic Probing: h(k,i) = (h(k) + i²) %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74C3C"/>
                </a:solidFill>
                <a:latin typeface="Calibri"/>
              </a:defRPr>
            </a:pPr>
            <a:r>
              <a:t>    Problem: SECONDARY 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  Double Hashing:    h(k,i) = (h₁(k) + i·h₂(k)) %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Calibri"/>
              </a:defRPr>
            </a:pPr>
            <a:r>
              <a:t>    Best open addressing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SEPARATE CHAINING (Open Hashing):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Each slot has a linked list — no clustering!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48640" y="6949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Load Factor α = n/m  |  Good performance when α &lt; 0.7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★ Sorting Algorithms — THE Table to Memorize 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3847" y="1188720"/>
          <a:ext cx="91440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Worst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Space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Stable?</a:t>
                      </a:r>
                    </a:p>
                  </a:txBody>
                  <a:tcPr>
                    <a:solidFill>
                      <a:srgbClr val="0B1F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Bubble Sort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Selection 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Insertion Sort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Merge 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Quick Sort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Heap 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Counting Sort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O(n+k)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O(n+k)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O(n+k)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Radix 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O(n+k)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Sorting — Key Facts for C-CAT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FASTEST AVERAGE CASE: Quick Sort O(n 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FASTEST WORST CASE: Merge Sort O(n 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BEST FOR NEARLY SORTED: Insertion Sort O(n)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Calibri"/>
              </a:defRPr>
            </a:pPr>
            <a:r>
              <a:t>STABLE sorts preserve relative order of equal elements: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  Stable: Bubble, Insertion, Merge, Counting, Radix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  Unstable: Selection, Quick, Heap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3C6E"/>
                </a:solidFill>
                <a:latin typeface="Calibri"/>
              </a:defRPr>
            </a:pPr>
            <a:r>
              <a:t>IN-PLACE (O(1) extra space): Bubble, Selection, Insertion, 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74C3C"/>
                </a:solidFill>
                <a:latin typeface="Calibri"/>
              </a:defRPr>
            </a:pPr>
            <a:r>
              <a:t>NOT in-place: Merge Sort needs O(n) extra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TRAP: Quick Sort worst case is O(n²) — when pivot is min/max!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TRAP: Selection Sort is NOT stable!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TIP: Merge Sort is the only O(n log n) STABLE sort with guaranteed worst case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Big-O Complexity — Ranking (Best → Worst)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7AE60"/>
                </a:solidFill>
                <a:latin typeface="Consolas"/>
              </a:defRPr>
            </a:pPr>
            <a:r>
              <a:t>O(1)        — Constant    (hash lookup, array access)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7AE60"/>
                </a:solidFill>
                <a:latin typeface="Consolas"/>
              </a:defRPr>
            </a:pPr>
            <a:r>
              <a:t>O(log n)    — Logarithmic (binary search, BST search)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3C6E"/>
                </a:solidFill>
                <a:latin typeface="Consolas"/>
              </a:defRPr>
            </a:pPr>
            <a:r>
              <a:t>O(n)        — Linear      (linear search, traversal)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3C6E"/>
                </a:solidFill>
                <a:latin typeface="Consolas"/>
              </a:defRPr>
            </a:pPr>
            <a:r>
              <a:t>O(n log n)  — Linearithmic(merge sort, heap sort)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7E22"/>
                </a:solidFill>
                <a:latin typeface="Consolas"/>
              </a:defRPr>
            </a:pPr>
            <a:r>
              <a:t>O(n²)       — Quadratic   (bubble sort, selection sort)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74C3C"/>
                </a:solidFill>
                <a:latin typeface="Consolas"/>
              </a:defRPr>
            </a:pPr>
            <a:r>
              <a:t>O(n³)       — Cubic       (Floyd-Warshall, matrix mult)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74C3C"/>
                </a:solidFill>
                <a:latin typeface="Consolas"/>
              </a:defRPr>
            </a:pPr>
            <a:r>
              <a:t>O(2ⁿ)       — Exponential (recursive Fibonacci, subsets)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74C3C"/>
                </a:solidFill>
                <a:latin typeface="Consolas"/>
              </a:defRPr>
            </a:pPr>
            <a:r>
              <a:t>O(n!)       — Factorial   (permutations, brute force TSP)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F3F"/>
                </a:solidFill>
                <a:latin typeface="Calibri"/>
              </a:defRPr>
            </a:pPr>
            <a:r>
              <a:t>RULES: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Drop constants: O(2n) = O(n)  |  Drop lower terms: O(n²+n) = O(n²)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alibri"/>
              </a:defRPr>
            </a:pPr>
            <a:r>
              <a:t>  Nested loops = multiply | Sequential = add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Structures — Quick Revision Formula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ARRAY: Addr = Base + (i-LB) ×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ROW MAJOR: Base + [(i-LR)×Ncol + (j-LC)] ×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COL MAJOR: Base + [(j-LC)×Nrow + (i-LR)] ×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STACK: LIFO | push/pop O(1) | Infix→Postfix, 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QUEUE: FIFO | Circular: (idx+1)%SIZE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TREE: Max nodes = 2^(h+1)-1 | Min height = floor(log2 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BST: Inorder = sorted | Delete 2-child = inorder successor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77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GRAPH: Undirected max E = V(V-1)/2 | Directed = V(V-1)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HASH: h(k) = k % m | Linear/Quad/Double probing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SORT: Quick avg O(nlogn) | Merge worst O(nlogn)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BFS = Queue | DFS =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13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Consolas"/>
              </a:defRPr>
            </a:pPr>
            <a:r>
              <a:t>Stable sorts: Bubble, Insertion, Merge, Counting, Radix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97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★ This card = 80% of DS questions in C-CAT 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