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Linked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[Data|Next] → [Data|Next] → NULL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4  |  Slide 1/10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1371600" cy="10972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286000"/>
            <a:ext cx="914400" cy="1097280"/>
          </a:xfrm>
          <a:prstGeom prst="roundRect">
            <a:avLst/>
          </a:prstGeom>
          <a:solidFill>
            <a:srgbClr val="DDDDDD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49040" y="2606040"/>
            <a:ext cx="731520" cy="36576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286000"/>
            <a:ext cx="137160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286000"/>
            <a:ext cx="914400" cy="1097280"/>
          </a:xfrm>
          <a:prstGeom prst="roundRect">
            <a:avLst/>
          </a:prstGeom>
          <a:solidFill>
            <a:srgbClr val="DDDDDD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49440" y="2606040"/>
            <a:ext cx="731520" cy="36576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0" y="2286000"/>
            <a:ext cx="1371600" cy="10972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286000"/>
            <a:ext cx="914400" cy="1097280"/>
          </a:xfrm>
          <a:prstGeom prst="roundRect">
            <a:avLst/>
          </a:prstGeom>
          <a:solidFill>
            <a:srgbClr val="DDDDDD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0" y="2468880"/>
            <a:ext cx="137160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2880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2E86C1"/>
                </a:solidFill>
                <a:latin typeface="Calibri"/>
              </a:defRPr>
            </a:pPr>
            <a:r>
              <a:t>HEAD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011680" y="2011680"/>
            <a:ext cx="91440" cy="274320"/>
          </a:xfrm>
          <a:prstGeom prst="down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931920"/>
            <a:ext cx="2743200" cy="5486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Singly Linked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0233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[Data|→] → [Data|→] → NULL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17720"/>
            <a:ext cx="274320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Doubly Linked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7091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[←|Data|→] ↔ [←|Data|→]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303520"/>
            <a:ext cx="274320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Circular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3949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[Data|→] → [Data|→] → (back to head)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760720"/>
            <a:ext cx="10332720" cy="54864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Array: O(1) access, O(n) insert  |  Linked List: O(n) access, O(1) insert/delete at known 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Stack vs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LIFO vertical vs FIFO horizontal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4  |  Slide 2/10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029200" cy="5486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STACK  (LIFO — Last In, First Out)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194560"/>
            <a:ext cx="2743200" cy="6400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TOP →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926080"/>
            <a:ext cx="2743200" cy="640080"/>
          </a:xfrm>
          <a:prstGeom prst="roundRect">
            <a:avLst/>
          </a:prstGeom>
          <a:solidFill>
            <a:srgbClr val="A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657600"/>
            <a:ext cx="2743200" cy="640080"/>
          </a:xfrm>
          <a:prstGeom prst="roundRect">
            <a:avLst/>
          </a:prstGeom>
          <a:solidFill>
            <a:srgbClr val="D2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4572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Operations:</a:t>
            </a:r>
            <a:br/>
            <a:r>
              <a:t>  push(40) → add on TOP</a:t>
            </a:r>
            <a:br/>
            <a:r>
              <a:t>  pop()    → remove from TOP</a:t>
            </a:r>
            <a:br/>
            <a:r>
              <a:t>  peek()   → view TOP</a:t>
            </a:r>
            <a:br/>
            <a:br/>
            <a:r>
              <a:t>Used in: Function calls, Undo, Recursion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371600"/>
            <a:ext cx="45720" cy="4846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486400" cy="5486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QUEUE  (FIFO — First In, First Out)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0312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16A085"/>
                </a:solidFill>
                <a:latin typeface="Calibri"/>
              </a:defRPr>
            </a:pPr>
            <a:r>
              <a:t>FRONT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10312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16A085"/>
                </a:solidFill>
                <a:latin typeface="Calibri"/>
              </a:defRPr>
            </a:pPr>
            <a:r>
              <a:t>REAR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468880"/>
            <a:ext cx="1645920" cy="914400"/>
          </a:xfrm>
          <a:prstGeom prst="roundRect">
            <a:avLst/>
          </a:prstGeom>
          <a:solidFill>
            <a:srgbClr val="A3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92440" y="2697480"/>
            <a:ext cx="365760" cy="274320"/>
          </a:xfrm>
          <a:prstGeom prst="rightArrow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2468880"/>
            <a:ext cx="1645920" cy="914400"/>
          </a:xfrm>
          <a:prstGeom prst="round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104120" y="2697480"/>
            <a:ext cx="365760" cy="274320"/>
          </a:xfrm>
          <a:prstGeom prst="rightArrow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424160" y="2468880"/>
            <a:ext cx="1645920" cy="91440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40480"/>
            <a:ext cx="50292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Operations:</a:t>
            </a:r>
            <a:br/>
            <a:r>
              <a:t>  enqueue(40) → add at REAR</a:t>
            </a:r>
            <a:br/>
            <a:r>
              <a:t>  dequeue()   → remove from FRONT</a:t>
            </a:r>
            <a:br/>
            <a:r>
              <a:t>  peek()      → view FRONT</a:t>
            </a:r>
            <a:br/>
            <a:br/>
            <a:r>
              <a:t>Used in: BFS, Scheduling, Buffers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Infix to Postfix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Step-by-step with stack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4  |  Slide 3/10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A5F8A"/>
                </a:solidFill>
                <a:latin typeface="Calibri"/>
              </a:defRPr>
            </a:pPr>
            <a:r>
              <a:t>Example:  A + B * C - D    →    Postfix:  A B C * + D -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92024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Read</a:t>
                      </a:r>
                    </a:p>
                  </a:txBody>
                  <a:tcPr>
                    <a:solidFill>
                      <a:srgbClr val="1A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Stack</a:t>
                      </a:r>
                    </a:p>
                  </a:txBody>
                  <a:tcPr>
                    <a:solidFill>
                      <a:srgbClr val="1A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1A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A5F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(empty)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Operand → Output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Push + (stack empty)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B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Operand → Output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 *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B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Push * (higher prec than +)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 *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B C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Operand → Output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B C * +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Pop * and + (≥ prec), Push -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 (end)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(empty)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B C * + D -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Operand → Output, Pop -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760720"/>
            <a:ext cx="10515600" cy="54864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  <a:latin typeface="Calibri"/>
              </a:defRPr>
            </a:pPr>
            <a:r>
              <a:t>Rule: Pop operators with &gt;= precedence before pushing. Operands go directly to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Binary Tree — 4 Traversals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Inorder, Preorder, Postorder, Level-order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4  |  Slide 4/10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Oval 6"/>
          <p:cNvSpPr/>
          <p:nvPr/>
        </p:nvSpPr>
        <p:spPr>
          <a:xfrm>
            <a:off x="5486400" y="146304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3474720" y="256032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7498079" y="256032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2286000" y="365760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365760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365760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32004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Inorder (L-Root-R):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4572000"/>
            <a:ext cx="45720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4  2  5  1  6  3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102352"/>
            <a:ext cx="32004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Preorder (Root-L-R):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5102352"/>
            <a:ext cx="45720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86C1"/>
                </a:solidFill>
                <a:latin typeface="Calibri"/>
              </a:defRPr>
            </a:pPr>
            <a:r>
              <a:t>1  2  4  5  3  6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632704"/>
            <a:ext cx="320040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Postorder (L-R-Root):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5632704"/>
            <a:ext cx="45720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67E22"/>
                </a:solidFill>
                <a:latin typeface="Calibri"/>
              </a:defRPr>
            </a:pPr>
            <a:r>
              <a:t>4  5  2  6  3  1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6163056"/>
            <a:ext cx="3200400" cy="4572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Level-order (BFS):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6163056"/>
            <a:ext cx="45720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E44AD"/>
                </a:solidFill>
                <a:latin typeface="Calibri"/>
              </a:defRPr>
            </a:pPr>
            <a:r>
              <a:t>1  2  3  4  5  6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572000"/>
            <a:ext cx="32004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666666"/>
                </a:solidFill>
                <a:latin typeface="Calibri"/>
              </a:defRPr>
            </a:pPr>
            <a:r>
              <a:t>Mnemonics:</a:t>
            </a:r>
            <a:br/>
            <a:r>
              <a:t>In = L-Ro-R</a:t>
            </a:r>
            <a:br/>
            <a:r>
              <a:t>Pre = Ro-L-R</a:t>
            </a:r>
            <a:br/>
            <a:r>
              <a:t>Post = L-R-Ro</a:t>
            </a:r>
            <a:br/>
            <a:br/>
            <a:r>
              <a:t>(Ro=Root position)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Binary Search Tree (BST) Property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Left &lt; Root &lt;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4  |  Slide 5/10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Oval 6"/>
          <p:cNvSpPr/>
          <p:nvPr/>
        </p:nvSpPr>
        <p:spPr>
          <a:xfrm>
            <a:off x="5303520" y="1463040"/>
            <a:ext cx="685800" cy="685800"/>
          </a:xfrm>
          <a:prstGeom prst="ellipse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8" name="Oval 7"/>
          <p:cNvSpPr/>
          <p:nvPr/>
        </p:nvSpPr>
        <p:spPr>
          <a:xfrm>
            <a:off x="3200400" y="2651760"/>
            <a:ext cx="685800" cy="6858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9" name="Oval 8"/>
          <p:cNvSpPr/>
          <p:nvPr/>
        </p:nvSpPr>
        <p:spPr>
          <a:xfrm>
            <a:off x="7406640" y="2651760"/>
            <a:ext cx="685800" cy="6858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70</a:t>
            </a:r>
          </a:p>
        </p:txBody>
      </p:sp>
      <p:sp>
        <p:nvSpPr>
          <p:cNvPr id="10" name="Oval 9"/>
          <p:cNvSpPr/>
          <p:nvPr/>
        </p:nvSpPr>
        <p:spPr>
          <a:xfrm>
            <a:off x="1828800" y="3840480"/>
            <a:ext cx="685800" cy="6858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0" y="3840480"/>
            <a:ext cx="685800" cy="6858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0" y="3840480"/>
            <a:ext cx="685800" cy="6858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0" y="3840480"/>
            <a:ext cx="685800" cy="6858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2E86C1"/>
                </a:solidFill>
                <a:latin typeface="Calibri"/>
              </a:defRPr>
            </a:pPr>
            <a:r>
              <a:t>LEFT subtree: all values &lt; 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5488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2E86C1"/>
                </a:solidFill>
                <a:latin typeface="Calibri"/>
              </a:defRPr>
            </a:pPr>
            <a:r>
              <a:t>RIGHT subtree: all values &gt; root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120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Inorder traversal gives SORTED order: 20 30 40 50 60 70 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Search: O(log n) average, O(n) worst (skewed)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5216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Insert/Delete: O(log n) average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7220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No duplicate values (in standard BST)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Graph: Adjacency Matrix vs Adjacency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Two ways to store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4  |  Slide 6/10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5486400" cy="5486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Adjacency Matrix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103120"/>
          <a:ext cx="4114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029200"/>
            <a:ext cx="4572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E86C1"/>
                </a:solidFill>
                <a:latin typeface="Calibri"/>
              </a:defRPr>
            </a:pPr>
            <a:r>
              <a:t>Space: O(V^2)</a:t>
            </a:r>
            <a:br/>
            <a:r>
              <a:t>Lookup edge: O(1)</a:t>
            </a:r>
            <a:br/>
            <a:r>
              <a:t>Best for: Dense graphs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Adjacency 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94560"/>
            <a:ext cx="73152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28600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1E8A4C"/>
                </a:solidFill>
                <a:latin typeface="Calibri"/>
              </a:defRPr>
            </a:pPr>
            <a:r>
              <a:t>→ B → 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73152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97180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1E8A4C"/>
                </a:solidFill>
                <a:latin typeface="Calibri"/>
              </a:defRPr>
            </a:pPr>
            <a:r>
              <a:t>→ A → C → 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566160"/>
            <a:ext cx="73152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65760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1E8A4C"/>
                </a:solidFill>
                <a:latin typeface="Calibri"/>
              </a:defRPr>
            </a:pPr>
            <a:r>
              <a:t>→ A →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251960"/>
            <a:ext cx="73152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34340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1E8A4C"/>
                </a:solidFill>
                <a:latin typeface="Calibri"/>
              </a:defRPr>
            </a:pPr>
            <a:r>
              <a:t>→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029200"/>
            <a:ext cx="5029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Space: O(V + E)</a:t>
            </a:r>
            <a:br/>
            <a:r>
              <a:t>Lookup edge: O(degree)</a:t>
            </a:r>
            <a:br/>
            <a:r>
              <a:t>Best for: Sparse graphs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BFS vs DFS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Queue-based vs Stack-based graph traversal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4  |  Slide 7/10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5669280" cy="5486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BFS  (Breadth-First Search)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2E86C1"/>
                </a:solidFill>
                <a:latin typeface="Calibri"/>
              </a:defRPr>
            </a:pPr>
            <a:r>
              <a:t>Uses: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Explores: Level by level (neighbors first)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2E86C1"/>
                </a:solidFill>
                <a:latin typeface="Calibri"/>
              </a:defRPr>
            </a:pPr>
            <a:r>
              <a:t>Finds: SHORTEST path (unweighted)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Space: O(V)  |  Time: O(V+E)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Order: A → B,C → D,E,F →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2E86C1"/>
                </a:solidFill>
                <a:latin typeface="Calibri"/>
              </a:defRPr>
            </a:pPr>
            <a:r>
              <a:t>Like ripples in water - spreads outward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371600"/>
            <a:ext cx="45720" cy="4572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371600"/>
            <a:ext cx="5577840" cy="5486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DFS  (Depth-First Search)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0312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8E44AD"/>
                </a:solidFill>
                <a:latin typeface="Calibri"/>
              </a:defRPr>
            </a:pPr>
            <a:r>
              <a:t>Uses: STACK (or recursion)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42316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Explores: Deep first (one path fully)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74320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8E44AD"/>
                </a:solidFill>
                <a:latin typeface="Calibri"/>
              </a:defRPr>
            </a:pPr>
            <a:r>
              <a:t>Finds: Any path, cycle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06324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Space: O(V)  |  Time: O(V+E)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8328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583680" y="370332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Order: A → B → D → (backtrack) → E → 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02336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583680" y="434340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8E44AD"/>
                </a:solidFill>
                <a:latin typeface="Calibri"/>
              </a:defRPr>
            </a:pPr>
            <a:r>
              <a:t>Like a maze - go deep, backtrack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Sorting Algorithm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6 algorithms x 5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4  |  Slide 8/10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8016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A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</a:t>
                      </a:r>
                    </a:p>
                  </a:txBody>
                  <a:tcPr>
                    <a:solidFill>
                      <a:srgbClr val="1A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1A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Worst</a:t>
                      </a:r>
                    </a:p>
                  </a:txBody>
                  <a:tcPr>
                    <a:solidFill>
                      <a:srgbClr val="1A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Space</a:t>
                      </a:r>
                    </a:p>
                  </a:txBody>
                  <a:tcPr>
                    <a:solidFill>
                      <a:srgbClr val="1A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Stable?</a:t>
                      </a:r>
                    </a:p>
                  </a:txBody>
                  <a:tcPr>
                    <a:solidFill>
                      <a:srgbClr val="1A5F8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Bubble Sort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O(n^2)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O(n^2)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Selection Sort</a:t>
                      </a:r>
                    </a:p>
                  </a:txBody>
                  <a:tcPr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O(n^2)</a:t>
                      </a:r>
                    </a:p>
                  </a:txBody>
                  <a:tcPr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O(n^2)</a:t>
                      </a:r>
                    </a:p>
                  </a:txBody>
                  <a:tcPr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O(n^2)</a:t>
                      </a:r>
                    </a:p>
                  </a:txBody>
                  <a:tcPr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DE8D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Insertion Sort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O(n^2)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O(n^2)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Merge Sort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Quick Sort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O(n^2)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Heap Sort</a:t>
                      </a:r>
                    </a:p>
                  </a:txBody>
                  <a:tcPr>
                    <a:solidFill>
                      <a:srgbClr val="EB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EB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EB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EB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EBD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BDEF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74320" y="5577840"/>
            <a:ext cx="11612880" cy="73152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KEY: Merge Sort is always O(n log n) but needs O(n) space.  Quick Sort is fastest in practice but O(n^2) worst case.</a:t>
            </a:r>
            <a:br/>
            <a:r>
              <a:t>Stable = equal elements maintain original order.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Big-O Complexity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Growth curves from best to worst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4  |  Slide 9/10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5303520"/>
            <a:ext cx="91440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O(1)  —  Constant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4924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Array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754880"/>
            <a:ext cx="2011680" cy="50292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O(log n)  —  Logarithmic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1">
                <a:solidFill>
                  <a:srgbClr val="16A085"/>
                </a:solidFill>
                <a:latin typeface="Calibri"/>
              </a:defRPr>
            </a:pPr>
            <a:r>
              <a:t>Binary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4023360"/>
            <a:ext cx="310896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O(n)  —  Linear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1">
                <a:solidFill>
                  <a:srgbClr val="2E86C1"/>
                </a:solidFill>
                <a:latin typeface="Calibri"/>
              </a:defRPr>
            </a:pPr>
            <a:r>
              <a:t>Linear 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3291840"/>
            <a:ext cx="4206240" cy="5029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O(n log n)  —  Linearithmic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1">
                <a:solidFill>
                  <a:srgbClr val="F39C12"/>
                </a:solidFill>
                <a:latin typeface="Calibri"/>
              </a:defRPr>
            </a:pPr>
            <a:r>
              <a:t>Merge sort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560320"/>
            <a:ext cx="530352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O(n^2)  —  Quadratic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0604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1">
                <a:solidFill>
                  <a:srgbClr val="E67E22"/>
                </a:solidFill>
                <a:latin typeface="Calibri"/>
              </a:defRPr>
            </a:pPr>
            <a:r>
              <a:t>Bubble sort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1828800"/>
            <a:ext cx="640080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O(2^n)  —  Exponential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87452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Fibonacci (naive)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1371600"/>
            <a:ext cx="7315200" cy="50292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O(n!)  —  Factorial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41732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1">
                <a:solidFill>
                  <a:srgbClr val="8B0000"/>
                </a:solidFill>
                <a:latin typeface="Calibri"/>
              </a:defRPr>
            </a:pPr>
            <a:r>
              <a:t>Permutations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621792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FAST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21792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SLOW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Hashing: Chaining vs Linear Probing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DDDDFF"/>
                </a:solidFill>
                <a:latin typeface="Calibri"/>
              </a:defRPr>
            </a:pPr>
            <a:r>
              <a:t>Two collision resolution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Module 4  |  Slide 10/10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CDAC Pre-DAC CCAT Infographics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566928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Separate Chaining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73152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103120"/>
            <a:ext cx="914400" cy="50292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73152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73152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383280"/>
            <a:ext cx="914400" cy="50292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331720" y="3474720"/>
            <a:ext cx="274320" cy="22860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0" y="3383280"/>
            <a:ext cx="914400" cy="50292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03320" y="3474720"/>
            <a:ext cx="274320" cy="22860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0" y="3383280"/>
            <a:ext cx="914400" cy="50292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23359"/>
            <a:ext cx="73152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023359"/>
            <a:ext cx="914400" cy="50292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663440"/>
            <a:ext cx="73152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029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Each slot → linked list</a:t>
            </a:r>
            <a:br/>
            <a:r>
              <a:t>Never runs out of space</a:t>
            </a:r>
            <a:br/>
            <a:r>
              <a:t>Performance degrades with long chains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371600"/>
            <a:ext cx="45720" cy="4572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1371600"/>
            <a:ext cx="557784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Linear Probing (Open Addressing)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2103120"/>
            <a:ext cx="73152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2103120"/>
            <a:ext cx="2011680" cy="50292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743200"/>
            <a:ext cx="73152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3383280"/>
            <a:ext cx="73152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3383280"/>
            <a:ext cx="2011680" cy="50292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023359"/>
            <a:ext cx="73152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4023359"/>
            <a:ext cx="2011680" cy="502920"/>
          </a:xfrm>
          <a:prstGeom prst="roundRect">
            <a:avLst/>
          </a:prstGeom>
          <a:solidFill>
            <a:srgbClr val="FDE8D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17→here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4663440"/>
            <a:ext cx="73152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4663440"/>
            <a:ext cx="2011680" cy="50292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22→here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303520"/>
            <a:ext cx="5029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Collision → try next slot</a:t>
            </a:r>
            <a:br/>
            <a:r>
              <a:t>Can form clusters (bad!)</a:t>
            </a:r>
            <a:br/>
            <a:r>
              <a:t>Table can fill up (load factor matters)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