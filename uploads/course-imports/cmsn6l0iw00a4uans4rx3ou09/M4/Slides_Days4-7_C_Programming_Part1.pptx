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8534095" cy="54864"/>
          </a:xfrm>
          <a:prstGeom prst="rect">
            <a:avLst/>
          </a:prstGeom>
          <a:solidFill>
            <a:srgbClr val="3B9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9EE3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Getting Started with 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BDEFB"/>
                </a:solidFill>
                <a:latin typeface="Calibri"/>
              </a:defRPr>
            </a:pPr>
            <a:r>
              <a:t>Fundamentals, Data Types, Operators &amp; printf Mastery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9EC4"/>
                </a:solidFill>
                <a:latin typeface="Calibri"/>
              </a:defRPr>
            </a:pPr>
            <a:r>
              <a:t>Pre-DAC C-CAT Preparation Course | Module 2: C Programming Part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Why C?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Understanding the importance of C for C-CAT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6858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"/>
          <a:lstStyle/>
          <a:p>
            <a:pPr algn="ctr"/>
            <a:r>
              <a:rPr sz="2000" b="0">
                <a:solidFill>
                  <a:srgbClr val="0D2747"/>
                </a:solidFill>
                <a:latin typeface="Calibri"/>
              </a:rPr>
              <a:t>  C is the FOUNDATION of C++, Java, and most modern languages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502920" cy="502920"/>
          </a:xfrm>
          <a:prstGeom prst="round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1247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"/>
          <a:lstStyle/>
          <a:p>
            <a:pPr algn="ctr"/>
            <a:r>
              <a:rPr sz="2000" b="0">
                <a:solidFill>
                  <a:srgbClr val="0D2747"/>
                </a:solidFill>
                <a:latin typeface="Calibri"/>
              </a:rPr>
              <a:t>  Used in Operating Systems, Embedded Systems, and System 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50592"/>
            <a:ext cx="502920" cy="502920"/>
          </a:xfrm>
          <a:prstGeom prst="round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11247120" cy="6858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"/>
          <a:lstStyle/>
          <a:p>
            <a:pPr algn="ctr"/>
            <a:r>
              <a:rPr sz="2000" b="1">
                <a:solidFill>
                  <a:srgbClr val="0D2747"/>
                </a:solidFill>
                <a:latin typeface="Calibri"/>
              </a:rPr>
              <a:t>  15-18 Questions in C-CAT Section B are from C/C++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73552"/>
            <a:ext cx="502920" cy="502920"/>
          </a:xfrm>
          <a:prstGeom prst="round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"/>
          <a:lstStyle/>
          <a:p>
            <a:pPr algn="ctr"/>
            <a:r>
              <a:rPr sz="2000" b="0">
                <a:solidFill>
                  <a:srgbClr val="0D2747"/>
                </a:solidFill>
                <a:latin typeface="Calibri"/>
              </a:rPr>
              <a:t>  Understanding C = Understanding how computers actually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96512"/>
            <a:ext cx="502920" cy="502920"/>
          </a:xfrm>
          <a:prstGeom prst="round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47120" cy="6858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"/>
          <a:lstStyle/>
          <a:p>
            <a:pPr algn="ctr"/>
            <a:r>
              <a:rPr sz="2000" b="0">
                <a:solidFill>
                  <a:srgbClr val="0D2747"/>
                </a:solidFill>
                <a:latin typeface="Calibri"/>
              </a:rPr>
              <a:t>  Pointers, Memory, Recursion — all tested heavily in C-CAT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919472"/>
            <a:ext cx="502920" cy="502920"/>
          </a:xfrm>
          <a:prstGeom prst="round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Section B has 15-18 C/C++ questions. Master C = Easy marks!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Structure of a C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Every C program follows this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6400800" cy="32004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#include &lt;stdio.h&gt;    // Preprocessor Directive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int main() {         // Main Function (entry point)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    printf("Hello"); // Output Statement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    return 0;        // Return success to OS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38912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D2747"/>
                </a:solidFill>
                <a:latin typeface="Calibri"/>
              </a:rPr>
              <a:t>Line 1: </a:t>
            </a:r>
            <a:r>
              <a:rPr sz="1300" b="1">
                <a:solidFill>
                  <a:srgbClr val="1A5CB0"/>
                </a:solidFill>
                <a:latin typeface="Consolas"/>
              </a:rPr>
              <a:t>#include &lt;stdio.h&gt;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Includes Standard I/O library</a:t>
            </a:r>
            <a:br/>
            <a:r>
              <a:t>Needed for printf, scanf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606039"/>
            <a:ext cx="438912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D2747"/>
                </a:solidFill>
                <a:latin typeface="Calibri"/>
              </a:rPr>
              <a:t>Line 3: </a:t>
            </a:r>
            <a:r>
              <a:rPr sz="1300" b="1">
                <a:solidFill>
                  <a:srgbClr val="1A5CB0"/>
                </a:solidFill>
                <a:latin typeface="Consolas"/>
              </a:rPr>
              <a:t>int main()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Program execution starts here</a:t>
            </a:r>
            <a:br/>
            <a:r>
              <a:t>Returns int to OS (0 = success)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657600"/>
            <a:ext cx="438912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D2747"/>
                </a:solidFill>
                <a:latin typeface="Calibri"/>
              </a:rPr>
              <a:t>Line 4: </a:t>
            </a:r>
            <a:r>
              <a:rPr sz="1300" b="1">
                <a:solidFill>
                  <a:srgbClr val="1A5CB0"/>
                </a:solidFill>
                <a:latin typeface="Consolas"/>
              </a:rPr>
              <a:t>printf("Hello")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Prints text to screen</a:t>
            </a:r>
            <a:br/>
            <a:r>
              <a:t>Needs stdio.h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709159"/>
            <a:ext cx="438912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D2747"/>
                </a:solidFill>
                <a:latin typeface="Calibri"/>
              </a:rPr>
              <a:t>Line 5: </a:t>
            </a:r>
            <a:r>
              <a:rPr sz="1300" b="1">
                <a:solidFill>
                  <a:srgbClr val="1A5CB0"/>
                </a:solidFill>
                <a:latin typeface="Consolas"/>
              </a:rPr>
              <a:t>return 0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Calibri"/>
              </a:defRPr>
            </a:pPr>
            <a:r>
              <a:t>Tells OS: program ran successfully</a:t>
            </a:r>
            <a:br/>
            <a:r>
              <a:t>0 = no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may ask: What happens if return 0 is missing? (Answer: undefined behavior, compiler warning)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C Keywords — All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Reserved words that cannot be used as variable names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auto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break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char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const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continue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default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do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double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else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enum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extern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float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for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goto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if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long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register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return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short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signed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sizeof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static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struct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switch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typedef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union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unsigned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void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volatile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while</a:t>
                      </a:r>
                    </a:p>
                  </a:txBody>
                  <a:tcPr anchor="ctr">
                    <a:solidFill>
                      <a:srgbClr val="D6E9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747"/>
                </a:solidFill>
                <a:latin typeface="Calibri"/>
              </a:defRPr>
            </a:pPr>
            <a:r>
              <a:t>All keywords are lowercase. C is case-sensitive: Int is NOT a keyword, int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often asks: Which of these is NOT a C keyword? Watch for: class, string, main, printf — NONE are keywords!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Data Types in 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Size, range, and format specifiers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3657600"/>
                <a:gridCol w="2011680"/>
                <a:gridCol w="228600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 (Bytes)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 Specifier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-2,147,483,648 to 2,147,483,647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 x = 10;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3.4E-38 to 3.4E+38 (6 decimal)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float pi = 3.14;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-128 to 127 / 0 to 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char ch = 'A';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1.7E-308 to 1.7E+308 (15 decimal)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%lf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double d = 3.14159;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-32,768 to 32,767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%hd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short s = 100;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4/8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Depends on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%ld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long l = 100000L;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unsigned 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 to 4,294,967,295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unsigned int u = 50;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sizeof(int) can vary by system but assume 4 bytes for C-CAT unless stated otherwise.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sizeof Operator —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Returns size in bytes of a data type or variable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475488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sizeof(char)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1 byte</a:t>
            </a:r>
            <a:r>
              <a:rPr sz="1300">
                <a:solidFill>
                  <a:srgbClr val="666666"/>
                </a:solidFill>
                <a:latin typeface="Calibri"/>
              </a:rPr>
              <a:t>     (Always 1 byte — guaranteed by C standard)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sizeof(int)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4 bytes</a:t>
            </a:r>
            <a:r>
              <a:rPr sz="1300">
                <a:solidFill>
                  <a:srgbClr val="666666"/>
                </a:solidFill>
                <a:latin typeface="Calibri"/>
              </a:rPr>
              <a:t>     (Typically 4 bytes on 32/64-bit systems)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1247120" cy="475488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sizeof(float)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4 bytes</a:t>
            </a:r>
            <a:r>
              <a:rPr sz="1300">
                <a:solidFill>
                  <a:srgbClr val="666666"/>
                </a:solidFill>
                <a:latin typeface="Calibri"/>
              </a:rPr>
              <a:t>     (Single precision floating point)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1247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sizeof(double)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8 bytes</a:t>
            </a:r>
            <a:r>
              <a:rPr sz="1300">
                <a:solidFill>
                  <a:srgbClr val="666666"/>
                </a:solidFill>
                <a:latin typeface="Calibri"/>
              </a:rPr>
              <a:t>     (Double precision floating point)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475488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sizeof(short)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2 bytes</a:t>
            </a:r>
            <a:r>
              <a:rPr sz="1300">
                <a:solidFill>
                  <a:srgbClr val="666666"/>
                </a:solidFill>
                <a:latin typeface="Calibri"/>
              </a:rPr>
              <a:t>     (Half the size of int)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11247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sizeof(long)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4 or 8 bytes</a:t>
            </a:r>
            <a:r>
              <a:rPr sz="1300">
                <a:solidFill>
                  <a:srgbClr val="666666"/>
                </a:solidFill>
                <a:latin typeface="Calibri"/>
              </a:rPr>
              <a:t>     (System dependent (4 on 32-bit, 8 on 64-bit))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79"/>
            <a:ext cx="11247120" cy="475488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sizeof(long long)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8 bytes</a:t>
            </a:r>
            <a:r>
              <a:rPr sz="1300">
                <a:solidFill>
                  <a:srgbClr val="666666"/>
                </a:solidFill>
                <a:latin typeface="Calibri"/>
              </a:rPr>
              <a:t>     (Guaranteed at least 8 bytes)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11247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sizeof(char*)</a:t>
            </a:r>
            <a:r>
              <a:rPr sz="1600" b="1">
                <a:solidFill>
                  <a:srgbClr val="0D2747"/>
                </a:solidFill>
                <a:latin typeface="Calibri"/>
              </a:rPr>
              <a:t>  =  4 or 8 bytes</a:t>
            </a:r>
            <a:r>
              <a:rPr sz="1300">
                <a:solidFill>
                  <a:srgbClr val="666666"/>
                </a:solidFill>
                <a:latin typeface="Calibri"/>
              </a:rPr>
              <a:t>     (Pointer size = system word size)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sizeof is a compile-time operator, NOT a function. sizeof(int) works without #include.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Arithmetic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The basics + THE most common C-CAT trap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63040"/>
                <a:gridCol w="14630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Operator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+ 3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Subtraction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5 - 3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*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/</a:t>
                      </a:r>
                    </a:p>
                  </a:txBody>
                  <a:tcPr anchor="ctr"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Division</a:t>
                      </a:r>
                    </a:p>
                  </a:txBody>
                  <a:tcPr anchor="ctr"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5 / 2</a:t>
                      </a:r>
                    </a:p>
                  </a:txBody>
                  <a:tcPr anchor="ctr"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2 (NOT 2.5!)</a:t>
                      </a:r>
                    </a:p>
                  </a:txBody>
                  <a:tcPr anchor="ctr">
                    <a:solidFill>
                      <a:srgbClr val="FCE4E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Modulus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5 %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463040"/>
            <a:ext cx="5303520" cy="201168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800" b="1">
                <a:solidFill>
                  <a:srgbClr val="CC0000"/>
                </a:solidFill>
                <a:latin typeface="Calibri"/>
              </a:defRPr>
            </a:pPr>
            <a:r>
              <a:t>INTEGER DIVISION TRAP!</a:t>
            </a:r>
          </a:p>
          <a:p>
            <a:pPr>
              <a:defRPr sz="1400">
                <a:solidFill>
                  <a:srgbClr val="8B0000"/>
                </a:solidFill>
                <a:latin typeface="Calibri"/>
              </a:defRPr>
            </a:pPr>
            <a:r>
              <a:t>When BOTH operands are int:</a:t>
            </a:r>
            <a:br/>
            <a:r>
              <a:t>5 / 2 = 2  (decimal part DISCARDED)</a:t>
            </a:r>
            <a:br/>
            <a:br/>
            <a:r>
              <a:t>Fix: Make one operand float:</a:t>
            </a:r>
            <a:br/>
            <a:r>
              <a:t>5.0 / 2 = 2.5</a:t>
            </a:r>
            <a:br/>
            <a:r>
              <a:t>(float)5 / 2 = 2.5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5303520" cy="13716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int a = 5/2;      // a =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float b = 5/2;    // b = 2.0 (STILL WRONG!)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float c = 5.0/2;  // c = 2.5 (CORRECT)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float x = 5/2; gives 2.0, NOT 2.5! Division happens FIRST (as int), THEN assigns to float.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Operator Precedence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Higher priority = evaluated first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3657600"/>
                <a:gridCol w="246888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Operators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Associativity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(Highest)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()  []  -&gt;  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Parentheses, Array, 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!  ~  ++  --  +  -  *  &amp;  sizeof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Unary Operators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Right to Left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*  / 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Multiplication, Division, Modulus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  -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Addition, Subtraction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&lt;&lt;  &gt;&gt;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Bitwise Shift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  &lt;=  &gt;  &gt;=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Relational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==  !=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&amp;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Bitwise AND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^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Bitwise XOR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|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Bitwise 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&amp;&amp;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Logical 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||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Logical 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?: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Ternary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Right to Left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=  +=  -=  *=  /=  %=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Assignment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Right to Left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 (Lowest)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,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Left to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Pre-Increment vs Post-Increment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++x vs x++ — A critical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747"/>
                </a:solidFill>
                <a:latin typeface="Calibri"/>
              </a:defRPr>
            </a:pPr>
            <a:r>
              <a:t>Post-Increment (x++): Use THEN Increment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5303520" cy="22860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5;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y = x++;  // y gets 5 (old value)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          // x becomes 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printf("x=%d, y=%d", x, y);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// Output: x=6, y=5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747"/>
                </a:solidFill>
                <a:latin typeface="Calibri"/>
              </a:defRPr>
            </a:pPr>
            <a:r>
              <a:t>Pre-Increment (++x): Increment THEN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22860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5;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y = ++x;  // x becomes 6 first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          // y gets 6 (new value)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printf("x=%d, y=%d", x, y);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// Output: x=6, y=6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47120" cy="10972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2000" b="1">
                <a:solidFill>
                  <a:srgbClr val="0D2747"/>
                </a:solidFill>
                <a:latin typeface="Calibri"/>
              </a:defRPr>
            </a:pPr>
            <a:r>
              <a:t>MEMORY TRICK:</a:t>
            </a:r>
          </a:p>
          <a:p>
            <a:pPr>
              <a:spcBef>
                <a:spcPts val="400"/>
              </a:spcBef>
              <a:defRPr sz="1800" b="1">
                <a:solidFill>
                  <a:srgbClr val="1A5CB0"/>
                </a:solidFill>
                <a:latin typeface="Calibri"/>
              </a:defRPr>
            </a:pPr>
            <a:r>
              <a:t>x++ = "Use me first, then increment"  |  ++x = "Increment first, then use me"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Same logic applies to decrement: x-- and --x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loves combining ++ with other operators: y = x++ + ++x. Trace carefully!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Type Conversion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The most misunderstood concept in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03520" cy="13716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float x = 5/2;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printf("%f", x);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800">
                <a:solidFill>
                  <a:srgbClr val="0D2747"/>
                </a:solidFill>
                <a:latin typeface="Consolas"/>
              </a:defRPr>
            </a:pPr>
            <a:r>
              <a:t>// Output: 2.000000  (NOT 2.5!)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Calibri"/>
              </a:defRPr>
            </a:pPr>
            <a:r>
              <a:t>WHY? 5/2 is computed as int/int = int(2)</a:t>
            </a:r>
            <a:br/>
            <a:r>
              <a:t>Then 2 is assigned to float = 2.000000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7A2B"/>
                </a:solidFill>
                <a:latin typeface="Calibri"/>
              </a:defRPr>
            </a:pPr>
            <a:r>
              <a:t>THREE WAYS TO FIX: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303520" cy="20116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// Fix 1: Make one operand float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float x = 5.0/2;    // 2.500000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// Fix 2: Explicit cast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float x = (float)5/2; // 2.500000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// Fix 3: Both float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float x = 5.0/2.0;   // 2.500000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747"/>
                </a:solidFill>
                <a:latin typeface="Calibri"/>
              </a:defRPr>
            </a:pPr>
            <a:r>
              <a:t>Implicit Type Conversion Rules (Automatic):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47120" cy="9144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0D2747"/>
                </a:solidFill>
                <a:latin typeface="Consolas"/>
              </a:defRPr>
            </a:pPr>
            <a:r>
              <a:t>char → int → long → float → double    (Smaller type auto-converts to larger type)</a:t>
            </a:r>
          </a:p>
          <a:p>
            <a:pPr algn="ctr">
              <a:defRPr sz="1400">
                <a:solidFill>
                  <a:srgbClr val="666666"/>
                </a:solidFill>
                <a:latin typeface="Calibri"/>
              </a:defRPr>
            </a:pPr>
            <a:r>
              <a:t>Rule: In mixed expressions, the smaller type is promoted to the larger type BEFORE computation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This is C TRAP CARD #1! float x = 5/2 gives 2.0. Almost guaranteed in C-CAT.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printf Format Specifiers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Complete reference for output formatting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420624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Specifier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Used For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 (decimal)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printf("%d", 42)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printf("%f", 3.14)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3.140000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printf("%c", 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printf("%s", "Hi")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printf("%o", 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hexadecimal (lower)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printf("%x", 255)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hexadecimal (upper)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printf("%X", 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unsigned int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printf("%u", 42)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long 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printf("%ld", 100000L)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%lf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double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printf("%lf", 3.14)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3.140000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scientific notation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printf("%e", 3.14)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3.140000e+00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%%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literal % sign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printf("100%%")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Escape 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Special characters in C strings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3657600"/>
                <a:gridCol w="45720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Sequence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Newline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Moves cursor to next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printf("A\nB") → A (newline)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Moves cursor to next tab stop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printf("A\tB") → A    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\\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Backslash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Prints a literal backslash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printf("C:\\path") → C:\path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\'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Single Quote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Prints a single quote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char c = '\'';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Double 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Prints a double 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printf("He said \"Hi\"")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Null Character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String terminator (ASCII 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End of every string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Alert/Bell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Produces a beep sound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printf("\a") → beep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Backspace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Moves cursor back one position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printf("AB\bC") → AC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\r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Carriage 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Moves cursor to start of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printf("AB\rC") → CB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\0 is the NULL character (ASCII 0). Every C string ends with \0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2560320" cy="82296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 TRAP CARD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00020"/>
                </a:solidFill>
                <a:latin typeface="Calibri"/>
              </a:defRPr>
            </a:pPr>
            <a:r>
              <a:t>The Integer Division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0000"/>
                </a:solidFill>
                <a:latin typeface="Calibri"/>
              </a:defRPr>
            </a:pPr>
            <a:r>
              <a:t>THE TRAP: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float result = 5 / 2;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printf("%f", result);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303520" cy="54864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CC0000"/>
                </a:solidFill>
                <a:latin typeface="Consolas"/>
              </a:defRPr>
            </a:pPr>
            <a:r>
              <a:t>Output: 2.000000 (WRONG!)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7A2B"/>
                </a:solidFill>
                <a:latin typeface="Calibri"/>
              </a:defRPr>
            </a:pPr>
            <a:r>
              <a:t>THE FIX: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float result = 5.0 / 2;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printf("%f", result);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5303520" cy="54864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1B7A2B"/>
                </a:solidFill>
                <a:latin typeface="Consolas"/>
              </a:defRPr>
            </a:pPr>
            <a:r>
              <a:t>Output: 2.500000 (CORRECT!)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856A04"/>
                </a:solidFill>
                <a:latin typeface="Calibri"/>
              </a:rPr>
              <a:t>REMEMBER: </a:t>
            </a:r>
            <a:r>
              <a:rPr sz="1600">
                <a:solidFill>
                  <a:srgbClr val="856A04"/>
                </a:solidFill>
                <a:latin typeface="Calibri"/>
              </a:rPr>
              <a:t>In C, int / int = int. The decimal part is DISCARDED before assignment. Make at least one operand float!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Trap #1 is a VERY common C-CAT question. Mark this slide for revision!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8534095" cy="54864"/>
          </a:xfrm>
          <a:prstGeom prst="rect">
            <a:avLst/>
          </a:prstGeom>
          <a:solidFill>
            <a:srgbClr val="3B9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9EE3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Decision Control &amp; Loop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BDEFB"/>
                </a:solidFill>
                <a:latin typeface="Calibri"/>
              </a:defRPr>
            </a:pPr>
            <a:r>
              <a:t>if-else, switch traps, while/for/do-while mastery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9EC4"/>
                </a:solidFill>
                <a:latin typeface="Calibri"/>
              </a:defRPr>
            </a:pPr>
            <a:r>
              <a:t>Pre-DAC C-CAT Preparation Course | Module 2: C Programming Part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if-else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Decision making in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27432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if (condition)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// executes if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else if (condition2)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// executes if condition2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else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// executes if ALL above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63040"/>
            <a:ext cx="2286000" cy="73152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2747"/>
                </a:solidFill>
                <a:latin typeface="Calibri"/>
              </a:defRPr>
            </a:pPr>
            <a:r>
              <a:t>condition</a:t>
            </a:r>
            <a:br/>
            <a:r>
              <a:t>TRUE or FALSE?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560320"/>
            <a:ext cx="1828800" cy="64008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7A2B"/>
                </a:solidFill>
                <a:latin typeface="Calibri"/>
              </a:defRPr>
            </a:pPr>
            <a:r>
              <a:t>TRUE</a:t>
            </a:r>
            <a:br/>
            <a:r>
              <a:t>Execute if-block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560320"/>
            <a:ext cx="1828800" cy="64008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C0000"/>
                </a:solidFill>
                <a:latin typeface="Calibri"/>
              </a:defRPr>
            </a:pPr>
            <a:r>
              <a:t>FALSE</a:t>
            </a:r>
            <a:br/>
            <a:r>
              <a:t>Execute else-block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D2747"/>
                </a:solidFill>
                <a:latin typeface="Calibri"/>
              </a:rPr>
              <a:t>  condition must be in parentheses ()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D2747"/>
                </a:solidFill>
                <a:latin typeface="Calibri"/>
              </a:rPr>
              <a:t>  Non-zero value = TRUE, Zero = FALSE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D2747"/>
                </a:solidFill>
                <a:latin typeface="Calibri"/>
              </a:rPr>
              <a:t>  else if can be chained multiple times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D2747"/>
                </a:solidFill>
                <a:latin typeface="Calibri"/>
              </a:rPr>
              <a:t>  else is optional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D2747"/>
                </a:solidFill>
                <a:latin typeface="Calibri"/>
              </a:rPr>
              <a:t>  Braces {} recommended even for single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In C, ANY non-zero value is TRUE. if(5) is TRUE! if(-1) is TRUE! Only if(0) is FALSE.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2560320" cy="82296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 TRAP CARD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00020"/>
                </a:solidFill>
                <a:latin typeface="Calibri"/>
              </a:defRPr>
            </a:pPr>
            <a:r>
              <a:t>The Assignment vs Comparison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0000"/>
                </a:solidFill>
                <a:latin typeface="Calibri"/>
              </a:defRPr>
            </a:pPr>
            <a:r>
              <a:t>THE TRAP: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if (x = 5) {  // ASSIGNMENT, not comparison!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printf("TRUE");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303520" cy="54864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CC0000"/>
                </a:solidFill>
                <a:latin typeface="Consolas"/>
              </a:defRPr>
            </a:pPr>
            <a:r>
              <a:t>Output: TRUE  (x is now 5, which is non-zero = 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7A2B"/>
                </a:solidFill>
                <a:latin typeface="Calibri"/>
              </a:defRPr>
            </a:pPr>
            <a:r>
              <a:t>THE FIX: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if (x == 5) {  // COMPARISON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printf("TRUE");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5303520" cy="54864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1B7A2B"/>
                </a:solidFill>
                <a:latin typeface="Consolas"/>
              </a:defRPr>
            </a:pPr>
            <a:r>
              <a:t>Output: (nothing)  (x is 0, 0 != 5, so FALSE)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856A04"/>
                </a:solidFill>
                <a:latin typeface="Calibri"/>
              </a:rPr>
              <a:t>REMEMBER: </a:t>
            </a:r>
            <a:r>
              <a:rPr sz="1600">
                <a:solidFill>
                  <a:srgbClr val="856A04"/>
                </a:solidFill>
                <a:latin typeface="Calibri"/>
              </a:rPr>
              <a:t>= is ASSIGNMENT (sets value), == is COMPARISON (checks equality). if(x=5) assigns 5 to x, then checks if 5 is non-zero (TRUE)!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Trap #2 is a VERY common C-CAT question. Mark this slide for revision!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2560320" cy="82296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 TRAP CARD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00020"/>
                </a:solidFill>
                <a:latin typeface="Calibri"/>
              </a:defRPr>
            </a:pPr>
            <a:r>
              <a:t>The Semicolon After if()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0000"/>
                </a:solidFill>
                <a:latin typeface="Calibri"/>
              </a:defRPr>
            </a:pPr>
            <a:r>
              <a:t>THE TRAP: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10;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if (x &gt; 5);  // SEMICOLON = empty body!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printf("Greater");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303520" cy="54864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CC0000"/>
                </a:solidFill>
                <a:latin typeface="Consolas"/>
              </a:defRPr>
            </a:pPr>
            <a:r>
              <a:t>Output: "Greater" ALWAYS prints (block is independent)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7A2B"/>
                </a:solidFill>
                <a:latin typeface="Calibri"/>
              </a:defRPr>
            </a:pPr>
            <a:r>
              <a:t>THE FIX: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10;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if (x &gt; 5)   // No semicolon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printf("Greater");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5303520" cy="54864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1B7A2B"/>
                </a:solidFill>
                <a:latin typeface="Consolas"/>
              </a:defRPr>
            </a:pPr>
            <a:r>
              <a:t>Output: "Greater" prints only if x &gt;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856A04"/>
                </a:solidFill>
                <a:latin typeface="Calibri"/>
              </a:rPr>
              <a:t>REMEMBER: </a:t>
            </a:r>
            <a:r>
              <a:rPr sz="1600">
                <a:solidFill>
                  <a:srgbClr val="856A04"/>
                </a:solidFill>
                <a:latin typeface="Calibri"/>
              </a:rPr>
              <a:t>A semicolon after if() creates an EMPTY body. The {} block below becomes independent and ALWAYS executes!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Trap #3 is a VERY common C-CAT question. Mark this slide for revision!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The Dangling Else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else matches the NEAREST unmatched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Calibri"/>
              </a:defRPr>
            </a:pPr>
            <a:r>
              <a:t>What the INDENTATION suggests: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303520" cy="22860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if (a &gt; 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if (b &gt; 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printf("Both positive");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else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printf("a is not positive");  // WRONG!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// Indentation suggests else matches first if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// But it actually matches SECOND if!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7A2B"/>
                </a:solidFill>
                <a:latin typeface="Calibri"/>
              </a:defRPr>
            </a:pPr>
            <a:r>
              <a:t>What ACTUALLY happens: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303520" cy="22860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if (a &gt; 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if (b &gt; 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printf("Both positive");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else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printf("a positive, b not");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// else matches NEAREST unmatched if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// Fix: Use braces {} to force grouping!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7A2B"/>
                </a:solidFill>
                <a:latin typeface="Calibri"/>
              </a:defRPr>
            </a:pPr>
            <a:r>
              <a:t>THE FIX — Always use braces: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11247120" cy="10972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if (a &gt; 0)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if (b &gt; 0) { printf("Both positive");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} else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printf("a is not positive");  // NOW this works as intended!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Short-Circuit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&amp;&amp; and || don't always evaluate both sides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20116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2200" b="1">
                <a:solidFill>
                  <a:srgbClr val="0D2747"/>
                </a:solidFill>
                <a:latin typeface="Calibri"/>
              </a:defRPr>
            </a:pPr>
            <a:r>
              <a:t>&amp;&amp; (Logical AND)</a:t>
            </a:r>
          </a:p>
          <a:p>
            <a:pPr>
              <a:defRPr sz="1600" b="1">
                <a:solidFill>
                  <a:srgbClr val="CC0000"/>
                </a:solidFill>
                <a:latin typeface="Calibri"/>
              </a:defRPr>
            </a:pPr>
            <a:r>
              <a:t>If FIRST condition is FALSE,</a:t>
            </a:r>
            <a:br/>
            <a:r>
              <a:t>SECOND is NOT evaluated</a:t>
            </a:r>
          </a:p>
          <a:p>
            <a:br/>
            <a:pPr>
              <a:defRPr sz="1600">
                <a:solidFill>
                  <a:srgbClr val="0D2747"/>
                </a:solidFill>
                <a:latin typeface="Consolas"/>
              </a:defRPr>
            </a:pPr>
            <a:r>
              <a:t>FALSE &amp;&amp; (anything) = 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0116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2200" b="1">
                <a:solidFill>
                  <a:srgbClr val="0D2747"/>
                </a:solidFill>
                <a:latin typeface="Calibri"/>
              </a:defRPr>
            </a:pPr>
            <a:r>
              <a:t>|| (Logical OR)</a:t>
            </a:r>
          </a:p>
          <a:p>
            <a:pPr>
              <a:defRPr sz="1600" b="1">
                <a:solidFill>
                  <a:srgbClr val="1B7A2B"/>
                </a:solidFill>
                <a:latin typeface="Calibri"/>
              </a:defRPr>
            </a:pPr>
            <a:r>
              <a:t>If FIRST condition is TRUE,</a:t>
            </a:r>
            <a:br/>
            <a:r>
              <a:t>SECOND is NOT evaluated</a:t>
            </a:r>
          </a:p>
          <a:p>
            <a:br/>
            <a:pPr>
              <a:defRPr sz="1600">
                <a:solidFill>
                  <a:srgbClr val="0D2747"/>
                </a:solidFill>
                <a:latin typeface="Consolas"/>
              </a:defRPr>
            </a:pPr>
            <a:r>
              <a:t>TRUE || (anything) =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11247120" cy="18288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int a = 0, b = 5;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if (a != 0 &amp;&amp; b/a &gt; 2)    // b/a is NEVER evaluated (a=0 would cause division by zero!)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printf("Safe!");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int x = 1, y = 5;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if (x == 1 || ++y &gt; 5)    // ++y is NEVER evaluated (x==1 is 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printf("y = %d", y);  // y is still 5! (++y was skipped)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tests this with side effects: if(0 &amp;&amp; x++) — x is NOT incremented! Trace carefully.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Loop Comparison: while vs for vs do-while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Know when to use each loop type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329184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while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do-while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Syntax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while(cond) { 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for(init;cond;update) { 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 { } while(cond);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Condition Check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BEFORE each 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BEFORE each 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AFTER each 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Min Executions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 (may never run)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 (may never run)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(ALWAYS runs once)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Unknown iterations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Known iterations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Menu/input validation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Init 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Before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Inside for()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Before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Update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Inside body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Inside for()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Inside body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4846320"/>
            <a:ext cx="3657600" cy="13716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int i =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while(i &lt; 5)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  printf("%d ", i);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  i++;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846320"/>
            <a:ext cx="3657600" cy="13716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for(int i=0; i&lt;5; i++)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  printf("%d ", i);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// 0 1 2 3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846320"/>
            <a:ext cx="3931920" cy="13716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int i = 10;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do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  printf("%d ", i);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  i++;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D2747"/>
                </a:solidFill>
                <a:latin typeface="Consolas"/>
              </a:defRPr>
            </a:pPr>
            <a:r>
              <a:t>} while(i &lt; 5);  // Prints 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Loop Tracing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Step-by-step variable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int sum =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for(int i = 1; i &lt;= 4; i++)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sum = sum + i;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printf("i=%d sum=%d\n", i, sum);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743200"/>
                <a:gridCol w="2743200"/>
                <a:gridCol w="30175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Iteration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 (i&lt;=4)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 = sum + i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1&lt;=4 = 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0+1 =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i=1 sum=1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2&lt;=4 = TRUE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1+2 = 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i=2 sum=3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3&lt;=4 = 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3+3 =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i=3 sum=6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4&lt;=4 = TRUE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6+4 = 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i=4 sum=10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5&lt;=4 = 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Loop 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ALWAYS has loop tracing Qs. Practice: trace the loop on paper, track EVERY variable per iteration.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break vs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Two ways to alter loop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0000"/>
                </a:solidFill>
                <a:latin typeface="Calibri"/>
              </a:defRPr>
            </a:pPr>
            <a:r>
              <a:t>break — EXIT the entire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303520" cy="20116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for(int i=1; i&lt;=5; i++)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if(i == 3)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printf("%d ", i);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// Output: 1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// Loop STOPS at i=3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continue — SKIP to next iteration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20116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for(int i=1; i&lt;=5; i++)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if(i == 3) continue;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printf("%d ", i);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// Output: 1 2 4 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// Skips ONLY i=3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Calibri"/>
              </a:defRPr>
            </a:pPr>
            <a:r>
              <a:t>In Nested Loops: break/continue affect ONLY the INNERMOST loop!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for(int i=1; i&lt;=3; i++)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for(int j=1; j&lt;=3; j++)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if(j == 2) break;  // Only breaks inner loop!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printf("(%d,%d) ", i, j);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}  // Output: (1,1) (2,1) (3,1)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Pattern Printing — Star Pyramid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Classic C-CAT pattern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32004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int main()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int n = 5;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for(int i=1; i&lt;=n; i++)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// Print spaces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for(int j=1; j&lt;=n-i; j++)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    printf(" 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// Print stars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for(int k=1; k&lt;=2*i-1; k++)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    printf("*");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    printf("\n");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    return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747"/>
                </a:solidFill>
                <a:latin typeface="Calibri"/>
              </a:defRPr>
            </a:pPr>
            <a:r>
              <a:t>Output (step by step):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 i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Spaces (n-i)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Stars (2i-1)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onsolas"/>
                        </a:defRPr>
                      </a:pPr>
                      <a:r>
                        <a:t>   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onsolas"/>
                        </a:defRPr>
                      </a:pPr>
                      <a:r>
                        <a:t>   ***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onsolas"/>
                        </a:defRPr>
                      </a:pPr>
                      <a:r>
                        <a:t>  *****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onsolas"/>
                        </a:defRPr>
                      </a:pPr>
                      <a:r>
                        <a:t> *******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onsolas"/>
                        </a:defRPr>
                      </a:pPr>
                      <a:r>
                        <a:t>*********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Pattern Qs in C-CAT: identify the relationship between row number and spaces/stars. Always think in terms of 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8534095" cy="54864"/>
          </a:xfrm>
          <a:prstGeom prst="rect">
            <a:avLst/>
          </a:prstGeom>
          <a:solidFill>
            <a:srgbClr val="3B9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9EE3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Switch-Case, Functions &amp; Recursion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BDEFB"/>
                </a:solidFill>
                <a:latin typeface="Calibri"/>
              </a:defRPr>
            </a:pPr>
            <a:r>
              <a:t>Control flow, modularity, and the power of self-calling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9EC4"/>
                </a:solidFill>
                <a:latin typeface="Calibri"/>
              </a:defRPr>
            </a:pPr>
            <a:r>
              <a:t>Pre-DAC C-CAT Preparation Course | Module 2: C Programming Part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switch Statement 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Multi-way branching based on a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38404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switch (expression)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case value1: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// statements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case value2: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// statements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case value3: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// statements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default: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// executes if no case matches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   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3035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500" b="1">
                <a:solidFill>
                  <a:srgbClr val="1A5CB0"/>
                </a:solidFill>
                <a:latin typeface="Consolas"/>
              </a:rPr>
              <a:t>expression: </a:t>
            </a:r>
            <a:r>
              <a:rPr sz="1500">
                <a:solidFill>
                  <a:srgbClr val="0D2747"/>
                </a:solidFill>
                <a:latin typeface="Calibri"/>
              </a:rPr>
              <a:t>Must evaluate to int or char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31720"/>
            <a:ext cx="5303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500" b="1">
                <a:solidFill>
                  <a:srgbClr val="1A5CB0"/>
                </a:solidFill>
                <a:latin typeface="Consolas"/>
              </a:rPr>
              <a:t>case value: </a:t>
            </a:r>
            <a:r>
              <a:rPr sz="1500">
                <a:solidFill>
                  <a:srgbClr val="0D2747"/>
                </a:solidFill>
                <a:latin typeface="Calibri"/>
              </a:rPr>
              <a:t>Must be a constant (no variables!)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108960"/>
            <a:ext cx="53035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500" b="1">
                <a:solidFill>
                  <a:srgbClr val="1A5CB0"/>
                </a:solidFill>
                <a:latin typeface="Consolas"/>
              </a:rPr>
              <a:t>break: </a:t>
            </a:r>
            <a:r>
              <a:rPr sz="1500">
                <a:solidFill>
                  <a:srgbClr val="0D2747"/>
                </a:solidFill>
                <a:latin typeface="Calibri"/>
              </a:rPr>
              <a:t>Exits the switch (CRITICAL!)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86200"/>
            <a:ext cx="5303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500" b="1">
                <a:solidFill>
                  <a:srgbClr val="1A5CB0"/>
                </a:solidFill>
                <a:latin typeface="Consolas"/>
              </a:rPr>
              <a:t>default: </a:t>
            </a:r>
            <a:r>
              <a:rPr sz="1500">
                <a:solidFill>
                  <a:srgbClr val="0D2747"/>
                </a:solidFill>
                <a:latin typeface="Calibri"/>
              </a:rPr>
              <a:t>Optional, handles unmatched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53035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500" b="1">
                <a:solidFill>
                  <a:srgbClr val="1A5CB0"/>
                </a:solidFill>
                <a:latin typeface="Consolas"/>
              </a:rPr>
              <a:t>Execution: </a:t>
            </a:r>
            <a:r>
              <a:rPr sz="1500">
                <a:solidFill>
                  <a:srgbClr val="0D2747"/>
                </a:solidFill>
                <a:latin typeface="Calibri"/>
              </a:rPr>
              <a:t>Jumps to matching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switch is faster than if-else ladder for multiple conditions. Compiler uses a jump table!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2560320" cy="82296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 TRAP CARD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00020"/>
                </a:solidFill>
                <a:latin typeface="Calibri"/>
              </a:defRPr>
            </a:pPr>
            <a:r>
              <a:t>The Switch Fall-Through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0000"/>
                </a:solidFill>
                <a:latin typeface="Calibri"/>
              </a:defRPr>
            </a:pPr>
            <a:r>
              <a:t>THE TRAP: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1;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switch(x)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case 1: printf("One 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case 2: printf("Two 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case 3: printf("Three 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303520" cy="54864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CC0000"/>
                </a:solidFill>
                <a:latin typeface="Consolas"/>
              </a:defRPr>
            </a:pPr>
            <a:r>
              <a:t>Output: "One Two Three" (ALL cases execute!)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7A2B"/>
                </a:solidFill>
                <a:latin typeface="Calibri"/>
              </a:defRPr>
            </a:pPr>
            <a:r>
              <a:t>THE FIX: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16459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x = 1;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switch(x)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case 1: printf("One ");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case 2: printf("Two ");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case 3: printf("Three ");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5303520" cy="54864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1B7A2B"/>
                </a:solidFill>
                <a:latin typeface="Consolas"/>
              </a:defRPr>
            </a:pPr>
            <a:r>
              <a:t>Output: "One" (only matching case)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856A04"/>
                </a:solidFill>
                <a:latin typeface="Calibri"/>
              </a:rPr>
              <a:t>REMEMBER: </a:t>
            </a:r>
            <a:r>
              <a:rPr sz="1600">
                <a:solidFill>
                  <a:srgbClr val="856A04"/>
                </a:solidFill>
                <a:latin typeface="Calibri"/>
              </a:rPr>
              <a:t>Without break, execution FALLS THROUGH to ALL remaining cases below the match. This is C's most common switch bug!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Trap #4 is a VERY common C-CAT question. Mark this slide for revision!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switch Statement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What switch CANNOT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713232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CC0000"/>
                </a:solidFill>
                <a:latin typeface="Calibri"/>
              </a:rPr>
              <a:t>Only int or char:  </a:t>
            </a:r>
            <a:r>
              <a:rPr sz="1200">
                <a:solidFill>
                  <a:srgbClr val="0D2747"/>
                </a:solidFill>
                <a:latin typeface="Consolas"/>
              </a:rPr>
              <a:t>switch(3.14) — NOT ALLOWED
switch('A') — ALLOWED (char is 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67712"/>
            <a:ext cx="11247120" cy="713232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CC0000"/>
                </a:solidFill>
                <a:latin typeface="Calibri"/>
              </a:rPr>
              <a:t>No float or string:  </a:t>
            </a:r>
            <a:r>
              <a:rPr sz="1200">
                <a:solidFill>
                  <a:srgbClr val="0D2747"/>
                </a:solidFill>
                <a:latin typeface="Consolas"/>
              </a:rPr>
              <a:t>switch("hello") — NOT ALLOWED
switch(3.14f) — NOT ALLOWED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72384"/>
            <a:ext cx="11247120" cy="713232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CC0000"/>
                </a:solidFill>
                <a:latin typeface="Calibri"/>
              </a:rPr>
              <a:t>No ranges:  </a:t>
            </a:r>
            <a:r>
              <a:rPr sz="1200">
                <a:solidFill>
                  <a:srgbClr val="0D2747"/>
                </a:solidFill>
                <a:latin typeface="Consolas"/>
              </a:rPr>
              <a:t>case 1...5: — NOT ALLOWED in standard C
Use if-else for ranges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77056"/>
            <a:ext cx="11247120" cy="713232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CC0000"/>
                </a:solidFill>
                <a:latin typeface="Calibri"/>
              </a:rPr>
              <a:t>No duplicate cases:  </a:t>
            </a:r>
            <a:r>
              <a:rPr sz="1200">
                <a:solidFill>
                  <a:srgbClr val="0D2747"/>
                </a:solidFill>
                <a:latin typeface="Consolas"/>
              </a:rPr>
              <a:t>case 1: ... case 1: — COMPILER ERROR
Each case value must be unique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81728"/>
            <a:ext cx="11247120" cy="713232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CC0000"/>
                </a:solidFill>
                <a:latin typeface="Calibri"/>
              </a:rPr>
              <a:t>No variables in case:  </a:t>
            </a:r>
            <a:r>
              <a:rPr sz="1200">
                <a:solidFill>
                  <a:srgbClr val="0D2747"/>
                </a:solidFill>
                <a:latin typeface="Consolas"/>
              </a:rPr>
              <a:t>int x=5; case x: — NOT ALLOWED
Case labels must be constants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86400"/>
            <a:ext cx="11247120" cy="71323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E67E22"/>
                </a:solidFill>
                <a:latin typeface="Calibri"/>
              </a:rPr>
              <a:t>No expressions:  </a:t>
            </a:r>
            <a:r>
              <a:rPr sz="1200">
                <a:solidFill>
                  <a:srgbClr val="0D2747"/>
                </a:solidFill>
                <a:latin typeface="Consolas"/>
              </a:rPr>
              <a:t>case a+b: — NOT ALLOWED
case 2+3: — ALLOWED (constant expression)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Anatomy of a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Every part labeled and explained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858000" cy="22860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  <a:r>
              <a:t>int add(int a, int b)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  <a:r>
              <a:t>    int sum = a + b;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  <a:r>
              <a:t>    return sum;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  <a:r>
              <a:t>int main()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  <a:r>
              <a:t>    int result = add(5, 3);  // result = 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9319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400" b="1">
                <a:solidFill>
                  <a:srgbClr val="0D2747"/>
                </a:solidFill>
                <a:latin typeface="Calibri"/>
              </a:defRPr>
            </a:pPr>
            <a:r>
              <a:t>Return Type: int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What the function gives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400" b="1">
                <a:solidFill>
                  <a:srgbClr val="0D2747"/>
                </a:solidFill>
                <a:latin typeface="Calibri"/>
              </a:defRPr>
            </a:pPr>
            <a:r>
              <a:t>Function Name: add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How you call the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017520"/>
            <a:ext cx="39319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400" b="1">
                <a:solidFill>
                  <a:srgbClr val="0D2747"/>
                </a:solidFill>
                <a:latin typeface="Calibri"/>
              </a:defRPr>
            </a:pPr>
            <a:r>
              <a:t>Parameters: (int a, int b)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Input values the function receives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749039"/>
            <a:ext cx="39319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400" b="1">
                <a:solidFill>
                  <a:srgbClr val="0D2747"/>
                </a:solidFill>
                <a:latin typeface="Calibri"/>
              </a:defRPr>
            </a:pPr>
            <a:r>
              <a:t>Body: { ... }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The actual code/logic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480560"/>
            <a:ext cx="3931920" cy="6400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>
              <a:defRPr sz="1400" b="1">
                <a:solidFill>
                  <a:srgbClr val="0D2747"/>
                </a:solidFill>
                <a:latin typeface="Calibri"/>
              </a:defRPr>
            </a:pPr>
            <a:r>
              <a:t>return statement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Sends value back to caller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 b="1">
                <a:solidFill>
                  <a:srgbClr val="856A04"/>
                </a:solidFill>
                <a:latin typeface="Consolas"/>
              </a:defRPr>
            </a:pPr>
            <a:r>
              <a:t>void functions return nothing: void printHello() { printf("Hello"); }  — no return needed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Call by Value — Swap That DOESN'T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Why functions can't modify original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943600" cy="32004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void swap(int x, int y)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int temp = x;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x = y;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y = temp;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// x and y are COPIES, not originals!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main()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int a = 10, b = 20;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swap(a, b);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printf("a=%d b=%d", a, b);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// Output: a=10 b=20  (NOT swapped!)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747"/>
                </a:solidFill>
                <a:latin typeface="Calibri"/>
              </a:defRPr>
            </a:pPr>
            <a:r>
              <a:t>What happens in memory: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2103120" cy="137160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7A2B"/>
                </a:solidFill>
                <a:latin typeface="Calibri"/>
              </a:defRPr>
            </a:pPr>
            <a:r>
              <a:t>main()</a:t>
            </a:r>
          </a:p>
          <a:p>
            <a:pPr>
              <a:defRPr sz="1400">
                <a:solidFill>
                  <a:srgbClr val="0D2747"/>
                </a:solidFill>
                <a:latin typeface="Consolas"/>
              </a:defRPr>
            </a:pPr>
            <a:r>
              <a:t>a = 10</a:t>
            </a:r>
            <a:br/>
            <a:r>
              <a:t>b = 20</a:t>
            </a:r>
            <a:br/>
            <a:r>
              <a:t>(UNCHANGED)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828800"/>
            <a:ext cx="2103120" cy="137160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0000"/>
                </a:solidFill>
                <a:latin typeface="Calibri"/>
              </a:defRPr>
            </a:pPr>
            <a:r>
              <a:t>swap()</a:t>
            </a:r>
          </a:p>
          <a:p>
            <a:pPr>
              <a:defRPr sz="1400">
                <a:solidFill>
                  <a:srgbClr val="8B0000"/>
                </a:solidFill>
                <a:latin typeface="Consolas"/>
              </a:defRPr>
            </a:pPr>
            <a:r>
              <a:t>x = 20 (copy)</a:t>
            </a:r>
            <a:br/>
            <a:r>
              <a:t>y = 10 (copy)</a:t>
            </a:r>
            <a:br/>
            <a:r>
              <a:t>(DESTROYED)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Copies sent →  Swap happens on copies  →  Copies destroyed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840480"/>
            <a:ext cx="4846320" cy="91440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0000"/>
                </a:solidFill>
                <a:latin typeface="Calibri"/>
              </a:defRPr>
            </a:pPr>
            <a:r>
              <a:t>Result: a=10, b=20 (NOT swapped!)</a:t>
            </a:r>
          </a:p>
          <a:p>
            <a:pPr>
              <a:defRPr sz="1400">
                <a:solidFill>
                  <a:srgbClr val="0D2747"/>
                </a:solidFill>
                <a:latin typeface="Calibri"/>
              </a:defRPr>
            </a:pPr>
            <a:r>
              <a:t>Fix: Use pointers (Day 7, Call by Reference)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loves asking: What's the output of swap? Answer: Variables are NOT swapped (Call by Value).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Storage Classes in 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Where variables live, how long they last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011680"/>
                <a:gridCol w="2011680"/>
                <a:gridCol w="182880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Storage Class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Keyword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Lifetime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Value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Stored In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Automatic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Local (block)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Until block 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Garbage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Register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register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Local (block)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Until block ends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Garbage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CPU Register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Local (block)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Entire program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 Segment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External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extern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Global (all files)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Entire program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 Segment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D2747"/>
                </a:solidFill>
                <a:latin typeface="Calibri"/>
              </a:rPr>
              <a:t>  auto is the DEFAULT for local variables (you rarely write it explicitly)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D2747"/>
                </a:solidFill>
                <a:latin typeface="Calibri"/>
              </a:rPr>
              <a:t>  register REQUESTS CPU storage — compiler may ignore the request. Cannot use &amp; on register variables!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2747"/>
                </a:solidFill>
                <a:latin typeface="Calibri"/>
              </a:rPr>
              <a:t>  static local variables RETAIN their value between function calls — very important for C-CAT!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4067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D2747"/>
                </a:solidFill>
                <a:latin typeface="Calibri"/>
              </a:rPr>
              <a:t>  extern DECLARES a variable defined in another file — used for multi-file programs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static Variable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The variable that REMEMBERS its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943600" cy="32004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void count()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static int x = 0;  // initialized ONCE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x++;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printf("%d ", x);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int main()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count();  // prints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count();  // prints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count();  // prints 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    return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// Output: 1 2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747"/>
                </a:solidFill>
                <a:latin typeface="Calibri"/>
              </a:defRPr>
            </a:pPr>
            <a:r>
              <a:t>Trace: What happens each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846320" cy="105156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600" b="1">
                <a:solidFill>
                  <a:srgbClr val="1B7A2B"/>
                </a:solidFill>
                <a:latin typeface="Calibri"/>
              </a:defRPr>
            </a:pPr>
            <a:r>
              <a:t>1st call</a:t>
            </a:r>
          </a:p>
          <a:p>
            <a:pPr>
              <a:defRPr sz="1200">
                <a:solidFill>
                  <a:srgbClr val="0D2747"/>
                </a:solidFill>
                <a:latin typeface="Consolas"/>
              </a:defRPr>
            </a:pPr>
            <a:r>
              <a:t>x initialized to 0 (only once!)</a:t>
            </a:r>
            <a:br/>
            <a:r>
              <a:t>x++ → x = 1</a:t>
            </a:r>
            <a:br/>
            <a:r>
              <a:t>Print: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017520"/>
            <a:ext cx="4846320" cy="105156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600" b="1">
                <a:solidFill>
                  <a:srgbClr val="1A5CB0"/>
                </a:solidFill>
                <a:latin typeface="Calibri"/>
              </a:defRPr>
            </a:pPr>
            <a:r>
              <a:t>2nd call</a:t>
            </a:r>
          </a:p>
          <a:p>
            <a:pPr>
              <a:defRPr sz="1200">
                <a:solidFill>
                  <a:srgbClr val="0D2747"/>
                </a:solidFill>
                <a:latin typeface="Consolas"/>
              </a:defRPr>
            </a:pPr>
            <a:r>
              <a:t>x RETAINS value 1</a:t>
            </a:r>
            <a:br/>
            <a:r>
              <a:t>x++ → x = 2</a:t>
            </a:r>
            <a:br/>
            <a:r>
              <a:t>Print: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206240"/>
            <a:ext cx="4846320" cy="10515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856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600" b="1">
                <a:solidFill>
                  <a:srgbClr val="856A04"/>
                </a:solidFill>
                <a:latin typeface="Calibri"/>
              </a:defRPr>
            </a:pPr>
            <a:r>
              <a:t>3rd call</a:t>
            </a:r>
          </a:p>
          <a:p>
            <a:pPr>
              <a:defRPr sz="1200">
                <a:solidFill>
                  <a:srgbClr val="0D2747"/>
                </a:solidFill>
                <a:latin typeface="Consolas"/>
              </a:defRPr>
            </a:pPr>
            <a:r>
              <a:t>x RETAINS value 2</a:t>
            </a:r>
            <a:br/>
            <a:r>
              <a:t>x++ → x = 3</a:t>
            </a:r>
            <a:br/>
            <a:r>
              <a:t>Print: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600" b="1">
                <a:solidFill>
                  <a:srgbClr val="CC0000"/>
                </a:solidFill>
                <a:latin typeface="Calibri"/>
              </a:defRPr>
            </a:pPr>
            <a:r>
              <a:t>Without static: int x = 0; → Output would be: 1 1 1 (x resets to 0 every call!)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asks: static int x=0 in a function called 5 times — what's the output? Answer: 1 2 3 4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Recursion — Factorial Stack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A function that calls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25603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factorial(int n)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if (n &lt;= 1)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    return 1;      // Base case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return n * factorial(n - 1);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main()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printf("%d", factorial(4));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// Output: 24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747"/>
                </a:solidFill>
                <a:latin typeface="Calibri"/>
              </a:defRPr>
            </a:pPr>
            <a:r>
              <a:t>Stack Frame Visualization: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5760720" cy="59436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300" b="1">
                <a:solidFill>
                  <a:srgbClr val="0D2747"/>
                </a:solidFill>
                <a:latin typeface="Consolas"/>
              </a:rPr>
              <a:t>factorial(4): </a:t>
            </a:r>
            <a:r>
              <a:rPr sz="1200">
                <a:solidFill>
                  <a:srgbClr val="666666"/>
                </a:solidFill>
                <a:latin typeface="Consolas"/>
              </a:rPr>
              <a:t>return 4 * factorial(3)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486400" cy="59436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300" b="1">
                <a:solidFill>
                  <a:srgbClr val="0D2747"/>
                </a:solidFill>
                <a:latin typeface="Consolas"/>
              </a:rPr>
              <a:t>factorial(3): </a:t>
            </a:r>
            <a:r>
              <a:rPr sz="1200">
                <a:solidFill>
                  <a:srgbClr val="666666"/>
                </a:solidFill>
                <a:latin typeface="Consolas"/>
              </a:rPr>
              <a:t>return 3 * factorial(2)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00400"/>
            <a:ext cx="5212080" cy="5943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300" b="1">
                <a:solidFill>
                  <a:srgbClr val="0D2747"/>
                </a:solidFill>
                <a:latin typeface="Consolas"/>
              </a:rPr>
              <a:t>factorial(2): </a:t>
            </a:r>
            <a:r>
              <a:rPr sz="1200">
                <a:solidFill>
                  <a:srgbClr val="666666"/>
                </a:solidFill>
                <a:latin typeface="Consolas"/>
              </a:rPr>
              <a:t>return 2 * factorial(1)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886200"/>
            <a:ext cx="4937760" cy="594360"/>
          </a:xfrm>
          <a:prstGeom prst="roundRect">
            <a:avLst/>
          </a:prstGeom>
          <a:solidFill>
            <a:srgbClr val="FFCCBC"/>
          </a:solidFill>
          <a:ln w="1270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300" b="1">
                <a:solidFill>
                  <a:srgbClr val="0D2747"/>
                </a:solidFill>
                <a:latin typeface="Consolas"/>
              </a:rPr>
              <a:t>factorial(1): </a:t>
            </a:r>
            <a:r>
              <a:rPr sz="1200">
                <a:solidFill>
                  <a:srgbClr val="666666"/>
                </a:solidFill>
                <a:latin typeface="Consolas"/>
              </a:rPr>
              <a:t>return 1  (BASE CASE)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747"/>
                </a:solidFill>
                <a:latin typeface="Calibri"/>
              </a:defRPr>
            </a:pPr>
            <a:r>
              <a:t>Return Phase (Unwinding the Stack):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09160"/>
            <a:ext cx="11247120" cy="91440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B7A2B"/>
                </a:solidFill>
                <a:latin typeface="Consolas"/>
              </a:defRPr>
            </a:pPr>
            <a:r>
              <a:t>factorial(1) returns 1  →  factorial(2) returns 2×1 = 2  →  factorial(3) returns 3×2 = 6  →  factorial(4) returns 4×6 = 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Every recursive function MUST have a base case. Without it → infinite recursion → stack overflow!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Recursion vs Iteration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When to use which approach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66344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Recursion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Iteration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Function calls itself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Uses loop (for/while)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Uses stack frames (more memory)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Uses single set of variables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Slower (function call overhead)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Faster (no call overhead)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Shorter, more elegant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Longer but straightforward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Stack Overflow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Possible with deep recursion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Not possible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 Case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REQUIRED to stop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Loop condition stops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Trees, divide &amp; conquer, Tower of Hanoi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Simple counting, searching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C-CAT Focus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Trace the calls, find 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Trace variables per 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 recursion Qs: Trace the function calls on paper. Draw the stack. Calculate return values bottom-up.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8534095" cy="54864"/>
          </a:xfrm>
          <a:prstGeom prst="rect">
            <a:avLst/>
          </a:prstGeom>
          <a:solidFill>
            <a:srgbClr val="3B9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9EE3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POINTERS — The Most Important Topic for C-CAT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BDEFB"/>
                </a:solidFill>
                <a:latin typeface="Calibri"/>
              </a:defRPr>
            </a:pPr>
            <a:r>
              <a:t>Master pointers = Master C. This is where marks are won or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9EC4"/>
                </a:solidFill>
                <a:latin typeface="Calibri"/>
              </a:defRPr>
            </a:pPr>
            <a:r>
              <a:t>Pre-DAC C-CAT Preparation Course | Module 2: C Programming Part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What is a Pointer?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A variable that stores a memory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747"/>
                </a:solidFill>
                <a:latin typeface="Calibri"/>
              </a:defRPr>
            </a:pPr>
            <a:r>
              <a:t>Memory Diagram: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3200400" cy="201168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2000" b="1">
                <a:solidFill>
                  <a:srgbClr val="1B7A2B"/>
                </a:solidFill>
                <a:latin typeface="Calibri"/>
              </a:defRPr>
            </a:pPr>
            <a:r>
              <a:t>Variable: a</a:t>
            </a:r>
          </a:p>
          <a:p>
            <a:br/>
            <a:pPr>
              <a:defRPr sz="2400" b="1">
                <a:solidFill>
                  <a:srgbClr val="0D2747"/>
                </a:solidFill>
                <a:latin typeface="Consolas"/>
              </a:defRPr>
            </a:pPr>
            <a:r>
              <a:t>Value:    10</a:t>
            </a:r>
          </a:p>
          <a:p>
            <a:br/>
            <a:pPr>
              <a:defRPr sz="1800">
                <a:solidFill>
                  <a:srgbClr val="666666"/>
                </a:solidFill>
                <a:latin typeface="Consolas"/>
              </a:defRPr>
            </a:pPr>
            <a:r>
              <a:t>Address:  1000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← points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3200400" cy="20116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2000" b="1">
                <a:solidFill>
                  <a:srgbClr val="1A5CB0"/>
                </a:solidFill>
                <a:latin typeface="Calibri"/>
              </a:defRPr>
            </a:pPr>
            <a:r>
              <a:t>Pointer: p</a:t>
            </a:r>
          </a:p>
          <a:p>
            <a:br/>
            <a:pPr>
              <a:defRPr sz="2400" b="1">
                <a:solidFill>
                  <a:srgbClr val="0D2747"/>
                </a:solidFill>
                <a:latin typeface="Consolas"/>
              </a:defRPr>
            </a:pPr>
            <a:r>
              <a:t>Value:    1000</a:t>
            </a:r>
          </a:p>
          <a:p>
            <a:br/>
            <a:pPr>
              <a:defRPr sz="1800">
                <a:solidFill>
                  <a:srgbClr val="666666"/>
                </a:solidFill>
                <a:latin typeface="Consolas"/>
              </a:defRPr>
            </a:pPr>
            <a:r>
              <a:t>Address:  2000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4712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2000" b="1">
                <a:solidFill>
                  <a:srgbClr val="0D2747"/>
                </a:solidFill>
                <a:latin typeface="Calibri"/>
              </a:defRPr>
            </a:pPr>
            <a:r>
              <a:t>Two Key Operators:</a:t>
            </a:r>
          </a:p>
          <a:p>
            <a:pPr>
              <a:defRPr sz="1800" b="1">
                <a:solidFill>
                  <a:srgbClr val="1A5CB0"/>
                </a:solidFill>
                <a:latin typeface="Consolas"/>
              </a:defRPr>
            </a:pPr>
            <a:r>
              <a:t>&amp;a  → Address-of operator → gives 1000 (where 'a' lives)</a:t>
            </a:r>
          </a:p>
          <a:p>
            <a:pPr>
              <a:defRPr sz="1800" b="1">
                <a:solidFill>
                  <a:srgbClr val="1B7A2B"/>
                </a:solidFill>
                <a:latin typeface="Consolas"/>
              </a:defRPr>
            </a:pPr>
            <a:r>
              <a:t>*p  → Dereference operator → gives 10 (value AT the address p holds)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Think: &amp; = 'address of', * = 'value at'. If p = &amp;a, then *p is the same as 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Pointer Declaration &amp; Initialization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How to create and use pointers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943600" cy="27432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int a = 10;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int *p = &amp;a;    // p points to 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printf("%d", a);    // 10 (value of 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printf("%d", *p);   // 10 (value at address 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printf("%p", p);    // 1000 (address stored in 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printf("%p", &amp;a);   // 1000 (address of 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0D2747"/>
                </a:solidFill>
                <a:latin typeface="Consolas"/>
              </a:defRPr>
            </a:pPr>
            <a:r>
              <a:t>printf("%p", &amp;p);   // 2000 (address of p itself)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747"/>
                </a:solidFill>
                <a:latin typeface="Calibri"/>
              </a:defRPr>
            </a:pPr>
            <a:r>
              <a:t>Understanding Pointer Types: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846320" cy="5486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A5CB0"/>
                </a:solidFill>
                <a:latin typeface="Consolas"/>
              </a:rPr>
              <a:t>int *p  →  </a:t>
            </a:r>
            <a:r>
              <a:rPr sz="1400">
                <a:solidFill>
                  <a:srgbClr val="0D2747"/>
                </a:solidFill>
                <a:latin typeface="Calibri"/>
              </a:rPr>
              <a:t>p is a pointer to 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468880"/>
            <a:ext cx="4846320" cy="5486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1B7A2B"/>
                </a:solidFill>
                <a:latin typeface="Consolas"/>
              </a:rPr>
              <a:t>float *f  →  </a:t>
            </a:r>
            <a:r>
              <a:rPr sz="1400">
                <a:solidFill>
                  <a:srgbClr val="0D2747"/>
                </a:solidFill>
                <a:latin typeface="Calibri"/>
              </a:rPr>
              <a:t>f is a pointer to float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108960"/>
            <a:ext cx="4846320" cy="5486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E67E22"/>
                </a:solidFill>
                <a:latin typeface="Consolas"/>
              </a:rPr>
              <a:t>char *c  →  </a:t>
            </a:r>
            <a:r>
              <a:rPr sz="1400">
                <a:solidFill>
                  <a:srgbClr val="0D2747"/>
                </a:solidFill>
                <a:latin typeface="Calibri"/>
              </a:rPr>
              <a:t>c is a pointer to char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749039"/>
            <a:ext cx="4846320" cy="5486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8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600" b="1">
                <a:solidFill>
                  <a:srgbClr val="880088"/>
                </a:solidFill>
                <a:latin typeface="Consolas"/>
              </a:rPr>
              <a:t>double *d  →  </a:t>
            </a:r>
            <a:r>
              <a:rPr sz="1400">
                <a:solidFill>
                  <a:srgbClr val="0D2747"/>
                </a:solidFill>
                <a:latin typeface="Calibri"/>
              </a:rPr>
              <a:t>d is a pointer to double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47120" cy="9144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800" b="1">
                <a:solidFill>
                  <a:srgbClr val="856A04"/>
                </a:solidFill>
                <a:latin typeface="Calibri"/>
              </a:defRPr>
            </a:pPr>
            <a:r>
              <a:t>IMPORTANT: The pointer type MUST match what it points to!</a:t>
            </a:r>
          </a:p>
          <a:p>
            <a:pPr>
              <a:defRPr sz="1400">
                <a:solidFill>
                  <a:srgbClr val="0D2747"/>
                </a:solidFill>
                <a:latin typeface="Consolas"/>
              </a:defRPr>
            </a:pPr>
            <a:r>
              <a:t>int *p = &amp;float_var;  // WRONG!  |  int *p = &amp;int_var;  // CORRECT!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76072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int *p, q; declares p as pointer and q as int (NOT both pointers!). Use: int *p, *q; for both.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Pointer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Pointers move by DATA TYPE SIZE, not bytes!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Expression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Address (int *p at 1000)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Why?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Starting address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+ 1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1000 + 1×sizeof(int) = 1000+4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+ 2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1000 + 2×sizeof(int) = 1000+8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+ 3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1000 + 3×sizeof(int) = 1000+12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- 1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1000 - 1×sizeof(int) = 1000-4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463040"/>
            <a:ext cx="4297680" cy="182880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800" b="1">
                <a:solidFill>
                  <a:srgbClr val="CC0000"/>
                </a:solidFill>
                <a:latin typeface="Calibri"/>
              </a:defRPr>
            </a:pPr>
            <a:r>
              <a:t>CRITICAL WARNING!</a:t>
            </a:r>
          </a:p>
          <a:p>
            <a:pPr>
              <a:defRPr sz="1400">
                <a:solidFill>
                  <a:srgbClr val="8B0000"/>
                </a:solidFill>
                <a:latin typeface="Calibri"/>
              </a:defRPr>
            </a:pPr>
            <a:r>
              <a:t>p+1 does NOT add 1 byte!</a:t>
            </a:r>
            <a:br/>
            <a:r>
              <a:t>It adds sizeof(data_type) bytes!</a:t>
            </a:r>
            <a:br/>
            <a:br/>
            <a:r>
              <a:t>For int*: p+1 = p + 4 bytes</a:t>
            </a:r>
            <a:br/>
            <a:r>
              <a:t>For char*: p+1 = p + 1 byte</a:t>
            </a:r>
            <a:br/>
            <a:r>
              <a:t>For double*: p+1 = p + 8 bytes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11247120" cy="73152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2000" b="1">
                <a:solidFill>
                  <a:srgbClr val="0D2747"/>
                </a:solidFill>
                <a:latin typeface="Consolas"/>
              </a:defRPr>
            </a:pPr>
            <a:r>
              <a:t>FORMULA:  new_address = current_address + (n × sizeof(data_type))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0" y="5303520"/>
          <a:ext cx="6675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Pointer Type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 + 1 adds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 + 2 adds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char *p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 *p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 bytes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+8 bytes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float *p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+8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double *p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+8 bytes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+16 bytes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2560320" cy="822960"/>
          </a:xfrm>
          <a:prstGeom prst="round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 TRAP CARD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85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B00020"/>
                </a:solidFill>
                <a:latin typeface="Calibri"/>
              </a:defRPr>
            </a:pPr>
            <a:r>
              <a:t>*p++ vs (*p)++ — Pointer vs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Calibri"/>
              </a:defRPr>
            </a:pPr>
            <a:r>
              <a:t>*p++ — Moves the POINTER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303520" cy="22860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int arr[] = {10, 20, 30};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int *p = arr;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printf("%d", *p++);  // prints 10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// Step 1: *p gives 10 (current value)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// Step 2: p++ moves pointer to arr[1]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printf("%d", *p);    // prints 20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// p now points to arr[1]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7A2B"/>
                </a:solidFill>
                <a:latin typeface="Calibri"/>
              </a:defRPr>
            </a:pPr>
            <a:r>
              <a:t>(*p)++ — Changes the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5303520" cy="22860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int arr[] = {10, 20, 30};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int *p = arr;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printf("%d", (*p)++);  // prints 10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// Step 1: (*p) gives 10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// Step 2: value at p becomes 11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printf("%d", *p);      // prints 11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D2747"/>
                </a:solidFill>
                <a:latin typeface="Consolas"/>
              </a:defRPr>
            </a:pPr>
            <a:r>
              <a:t>// p still points to arr[0], but value changed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6634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846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Expression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moves?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*p++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POINTER moves forward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Gets value, then moves pointer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(*p)++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VALUE increments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Gets value, then increments it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++*p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VALUE increments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Increments value, then returns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*++p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POINTER moves first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Moves pointer, then gets value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Pointer to Pointer (Double Pointer)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A pointer that stores address of another pointer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926080" cy="182880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1B7A2B"/>
                </a:solidFill>
                <a:latin typeface="Consolas"/>
              </a:defRPr>
            </a:pPr>
            <a:r>
              <a:t>int a = 10</a:t>
            </a:r>
          </a:p>
          <a:p>
            <a:br/>
            <a:pPr>
              <a:defRPr sz="1600">
                <a:solidFill>
                  <a:srgbClr val="0D2747"/>
                </a:solidFill>
                <a:latin typeface="Consolas"/>
              </a:defRPr>
            </a:pPr>
            <a:r>
              <a:t>Value: 10</a:t>
            </a:r>
            <a:br/>
            <a:r>
              <a:t>Address: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← 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2926080" cy="18288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1A5CB0"/>
                </a:solidFill>
                <a:latin typeface="Consolas"/>
              </a:defRPr>
            </a:pPr>
            <a:r>
              <a:t>int *p = &amp;a</a:t>
            </a:r>
          </a:p>
          <a:p>
            <a:br/>
            <a:pPr>
              <a:defRPr sz="1600">
                <a:solidFill>
                  <a:srgbClr val="0D2747"/>
                </a:solidFill>
                <a:latin typeface="Consolas"/>
              </a:defRPr>
            </a:pPr>
            <a:r>
              <a:t>Value: 1000</a:t>
            </a:r>
            <a:br/>
            <a:r>
              <a:t>Address: 2000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← &amp;p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28800"/>
            <a:ext cx="2926080" cy="18288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856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856A04"/>
                </a:solidFill>
                <a:latin typeface="Consolas"/>
              </a:defRPr>
            </a:pPr>
            <a:r>
              <a:t>int **pp = &amp;p</a:t>
            </a:r>
          </a:p>
          <a:p>
            <a:br/>
            <a:pPr>
              <a:defRPr sz="1600">
                <a:solidFill>
                  <a:srgbClr val="0D2747"/>
                </a:solidFill>
                <a:latin typeface="Consolas"/>
              </a:defRPr>
            </a:pPr>
            <a:r>
              <a:t>Value: 2000</a:t>
            </a:r>
            <a:br/>
            <a:r>
              <a:t>Address: 3000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D2747"/>
                </a:solidFill>
                <a:latin typeface="Calibri"/>
              </a:defRPr>
            </a:pPr>
            <a:r>
              <a:t>Access Patterns: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A5CB0"/>
                </a:solidFill>
                <a:latin typeface="Consolas"/>
              </a:rPr>
              <a:t>**pp  = *p  = a  = 10    </a:t>
            </a:r>
            <a:r>
              <a:rPr sz="1400">
                <a:solidFill>
                  <a:srgbClr val="666666"/>
                </a:solidFill>
                <a:latin typeface="Calibri"/>
              </a:rPr>
              <a:t>// Double dereference gives the value of a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A5CB0"/>
                </a:solidFill>
                <a:latin typeface="Consolas"/>
              </a:rPr>
              <a:t>*pp   = p   = 1000    </a:t>
            </a:r>
            <a:r>
              <a:rPr sz="1400">
                <a:solidFill>
                  <a:srgbClr val="666666"/>
                </a:solidFill>
                <a:latin typeface="Calibri"/>
              </a:rPr>
              <a:t>// Single dereference gives address of a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1A5CB0"/>
                </a:solidFill>
                <a:latin typeface="Consolas"/>
              </a:rPr>
              <a:t>pp    = 2000    </a:t>
            </a:r>
            <a:r>
              <a:rPr sz="1400">
                <a:solidFill>
                  <a:srgbClr val="666666"/>
                </a:solidFill>
                <a:latin typeface="Calibri"/>
              </a:rPr>
              <a:t>// pp itself holds address of 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**pp = 10. Each * removes one level of indirection. Count the stars!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Call by Reference — Swap That WORKS!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Using pointers to modify original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943600" cy="32004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void swap(int *x, int *y)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int temp = *x;  // temp = value at 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*x = *y;        // value at x = value at 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*y = temp;       // value at y = temp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int main()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int a = 10, b = 20;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swap(&amp;a, &amp;b);   // Pass ADDRESSES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printf("a=%d b=%d", a, b);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    // Output: a=20 b=10  (SWAPPED!)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0D274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747"/>
                </a:solidFill>
                <a:latin typeface="Calibri"/>
              </a:defRPr>
            </a:pPr>
            <a:r>
              <a:t>What happens in memory: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846320" cy="137160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600" b="1">
                <a:solidFill>
                  <a:srgbClr val="0D2747"/>
                </a:solidFill>
                <a:latin typeface="Calibri"/>
              </a:defRPr>
            </a:pPr>
            <a:r>
              <a:t>BEFORE swap(&amp;a, &amp;b):</a:t>
            </a:r>
          </a:p>
          <a:p>
            <a:pPr>
              <a:defRPr sz="1200">
                <a:solidFill>
                  <a:srgbClr val="0D2747"/>
                </a:solidFill>
                <a:latin typeface="Consolas"/>
              </a:defRPr>
            </a:pPr>
            <a:r>
              <a:t>a = 10 (at address 1000)</a:t>
            </a:r>
            <a:br/>
            <a:r>
              <a:t>b = 20 (at address 1004)</a:t>
            </a:r>
            <a:br/>
            <a:r>
              <a:t>x points to 1000, y points to 1004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383280"/>
            <a:ext cx="4846320" cy="137160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600" b="1">
                <a:solidFill>
                  <a:srgbClr val="1B7A2B"/>
                </a:solidFill>
                <a:latin typeface="Calibri"/>
              </a:defRPr>
            </a:pPr>
            <a:r>
              <a:t>AFTER swap(&amp;a, &amp;b):</a:t>
            </a:r>
          </a:p>
          <a:p>
            <a:pPr>
              <a:defRPr sz="1200">
                <a:solidFill>
                  <a:srgbClr val="1B7A2B"/>
                </a:solidFill>
                <a:latin typeface="Consolas"/>
              </a:defRPr>
            </a:pPr>
            <a:r>
              <a:t>a = 20 (CHANGED via *x)</a:t>
            </a:r>
            <a:br/>
            <a:r>
              <a:t>b = 10 (CHANGED via *y)</a:t>
            </a:r>
            <a:br/>
            <a:r>
              <a:t>Original variables MODIFIED!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 b="1">
                <a:solidFill>
                  <a:srgbClr val="CC0000"/>
                </a:solidFill>
                <a:latin typeface="Calibri"/>
              </a:defRPr>
            </a:pPr>
            <a:r>
              <a:t>Day 6 (Call by Value): swap(a, b) — Copies sent, originals unchanged — DOESN'T WORK</a:t>
            </a:r>
          </a:p>
          <a:p>
            <a:pPr>
              <a:defRPr sz="1400" b="1">
                <a:solidFill>
                  <a:srgbClr val="1B7A2B"/>
                </a:solidFill>
                <a:latin typeface="Calibri"/>
              </a:defRPr>
            </a:pPr>
            <a:r>
              <a:t>Day 7 (Call by Reference): swap(&amp;a, &amp;b) — Addresses sent, originals modified — WORKS!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Special Pointer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NULL, void, Dangling, and Wild pointers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109728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1B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000" b="1">
                <a:solidFill>
                  <a:srgbClr val="1B7A2B"/>
                </a:solidFill>
                <a:latin typeface="Calibri"/>
              </a:rPr>
              <a:t>NULL Pointer  </a:t>
            </a:r>
            <a:r>
              <a:rPr sz="1400" b="1">
                <a:solidFill>
                  <a:srgbClr val="1B7A2B"/>
                </a:solidFill>
                <a:latin typeface="Calibri"/>
              </a:rPr>
              <a:t>[SAFE]</a:t>
            </a:r>
          </a:p>
          <a:p>
            <a:r>
              <a:rPr sz="1400">
                <a:solidFill>
                  <a:srgbClr val="0D2747"/>
                </a:solidFill>
                <a:latin typeface="Consolas"/>
              </a:rPr>
              <a:t>   int *p = NULL;</a:t>
            </a:r>
          </a:p>
          <a:p>
            <a:pPr>
              <a:spcBef>
                <a:spcPts val="200"/>
              </a:spcBef>
              <a:defRPr sz="1200">
                <a:solidFill>
                  <a:srgbClr val="0D2747"/>
                </a:solidFill>
                <a:latin typeface="Calibri"/>
              </a:defRPr>
            </a:pPr>
            <a:r>
              <a:t>   Points to address 0</a:t>
            </a:r>
            <a:br/>
            <a:r>
              <a:t>Safe initialization</a:t>
            </a:r>
            <a:br/>
            <a:r>
              <a:t>Always check before dereferencing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97480"/>
            <a:ext cx="11247120" cy="1097280"/>
          </a:xfrm>
          <a:prstGeom prst="roundRect">
            <a:avLst/>
          </a:prstGeom>
          <a:solidFill>
            <a:srgbClr val="D6E9F8"/>
          </a:solidFill>
          <a:ln w="1270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000" b="1">
                <a:solidFill>
                  <a:srgbClr val="1A5CB0"/>
                </a:solidFill>
                <a:latin typeface="Calibri"/>
              </a:rPr>
              <a:t>void Pointer  </a:t>
            </a:r>
            <a:r>
              <a:rPr sz="1400" b="1">
                <a:solidFill>
                  <a:srgbClr val="1A5CB0"/>
                </a:solidFill>
                <a:latin typeface="Calibri"/>
              </a:rPr>
              <a:t>[GENERIC]</a:t>
            </a:r>
          </a:p>
          <a:p>
            <a:r>
              <a:rPr sz="1400">
                <a:solidFill>
                  <a:srgbClr val="0D2747"/>
                </a:solidFill>
                <a:latin typeface="Consolas"/>
              </a:rPr>
              <a:t>   void *p = &amp;a;</a:t>
            </a:r>
          </a:p>
          <a:p>
            <a:pPr>
              <a:spcBef>
                <a:spcPts val="200"/>
              </a:spcBef>
              <a:defRPr sz="1200">
                <a:solidFill>
                  <a:srgbClr val="0D2747"/>
                </a:solidFill>
                <a:latin typeface="Calibri"/>
              </a:defRPr>
            </a:pPr>
            <a:r>
              <a:t>   Generic pointer — can point to any type</a:t>
            </a:r>
            <a:br/>
            <a:r>
              <a:t>Must cast before dereferencing: *(int*)p</a:t>
            </a:r>
            <a:br/>
            <a:r>
              <a:t>Used in malloc(), generic 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11247120" cy="109728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000" b="1">
                <a:solidFill>
                  <a:srgbClr val="CC0000"/>
                </a:solidFill>
                <a:latin typeface="Calibri"/>
              </a:rPr>
              <a:t>Dangling Pointer  </a:t>
            </a:r>
            <a:r>
              <a:rPr sz="1400" b="1">
                <a:solidFill>
                  <a:srgbClr val="CC0000"/>
                </a:solidFill>
                <a:latin typeface="Calibri"/>
              </a:rPr>
              <a:t>[DANGEROUS]</a:t>
            </a:r>
          </a:p>
          <a:p>
            <a:r>
              <a:rPr sz="1400">
                <a:solidFill>
                  <a:srgbClr val="0D2747"/>
                </a:solidFill>
                <a:latin typeface="Consolas"/>
              </a:rPr>
              <a:t>   free(p); // p is dangling</a:t>
            </a:r>
          </a:p>
          <a:p>
            <a:pPr>
              <a:spcBef>
                <a:spcPts val="200"/>
              </a:spcBef>
              <a:defRPr sz="1200">
                <a:solidFill>
                  <a:srgbClr val="0D2747"/>
                </a:solidFill>
                <a:latin typeface="Calibri"/>
              </a:defRPr>
            </a:pPr>
            <a:r>
              <a:t>   Points to freed/deallocated memory</a:t>
            </a:r>
            <a:br/>
            <a:r>
              <a:t>Using it = UNDEFINED BEHAVIOR</a:t>
            </a:r>
            <a:br/>
            <a:r>
              <a:t>Fix: set p = NULL after free()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66360"/>
            <a:ext cx="11247120" cy="109728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000" b="1">
                <a:solidFill>
                  <a:srgbClr val="CC0000"/>
                </a:solidFill>
                <a:latin typeface="Calibri"/>
              </a:rPr>
              <a:t>Wild Pointer  </a:t>
            </a:r>
            <a:r>
              <a:rPr sz="1400" b="1">
                <a:solidFill>
                  <a:srgbClr val="CC0000"/>
                </a:solidFill>
                <a:latin typeface="Calibri"/>
              </a:rPr>
              <a:t>[DANGEROUS]</a:t>
            </a:r>
          </a:p>
          <a:p>
            <a:r>
              <a:rPr sz="1400">
                <a:solidFill>
                  <a:srgbClr val="0D2747"/>
                </a:solidFill>
                <a:latin typeface="Consolas"/>
              </a:rPr>
              <a:t>   int *p; // uninitialized</a:t>
            </a:r>
          </a:p>
          <a:p>
            <a:pPr>
              <a:spcBef>
                <a:spcPts val="200"/>
              </a:spcBef>
              <a:defRPr sz="1200">
                <a:solidFill>
                  <a:srgbClr val="0D2747"/>
                </a:solidFill>
                <a:latin typeface="Calibri"/>
              </a:defRPr>
            </a:pPr>
            <a:r>
              <a:t>   Not initialized to any address</a:t>
            </a:r>
            <a:br/>
            <a:r>
              <a:t>Contains GARBAGE address</a:t>
            </a:r>
            <a:br/>
            <a:r>
              <a:t>Fix: Always initialize: int *p = NULL;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C-CAT: "What is a dangling pointer?" — Points to freed memory. Fix: p = NULL after free(p).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2747"/>
                </a:solidFill>
                <a:latin typeface="Calibri"/>
              </a:defRPr>
            </a:pPr>
            <a:r>
              <a:t>Pointer Quick Reference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Calibri"/>
              </a:defRPr>
            </a:pPr>
            <a:r>
              <a:t>All pointer rules on one slide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521208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Syntax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0D27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Declare pointer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int *p;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is a pointer to 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Initialize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p = &amp;a;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stores address of 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*p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Value at address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Address-of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&amp;a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Memory address of 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Pointer +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p +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+ n*sizeof(type)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Pointer - 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p - 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 - n*sizeof(type) bytes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Array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*(p+i)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Same as p[i]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NULL pointer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int *p = NULL;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Points to nothing (safe)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Pointer to pointer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int **pp = &amp;p;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pp stores address of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Dereference 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**pp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Value at address at address 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void pointer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5CB0"/>
                          </a:solidFill>
                          <a:latin typeface="Consolas"/>
                        </a:defRPr>
                      </a:pPr>
                      <a:r>
                        <a:t>void *v = &amp;a;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Generic, needs cast: *(int*)v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00020"/>
                </a:solidFill>
                <a:latin typeface="Calibri"/>
              </a:defRPr>
            </a:pPr>
            <a:r>
              <a:t>C TRAP CARDS COLLECTION — Days 4-7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6576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#1: </a:t>
            </a:r>
            <a:r>
              <a:rPr sz="1400" b="1">
                <a:solidFill>
                  <a:srgbClr val="0D2747"/>
                </a:solidFill>
                <a:latin typeface="Calibri"/>
              </a:rPr>
              <a:t>Integer Division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5/2 = 2 NOT 2.5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Use 5.0/2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41732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#2: </a:t>
            </a:r>
            <a:r>
              <a:rPr sz="1400" b="1">
                <a:solidFill>
                  <a:srgbClr val="0D2747"/>
                </a:solidFill>
                <a:latin typeface="Calibri"/>
              </a:rPr>
              <a:t>= vs ==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if(x=5) ALWAYS TRUE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Use if(x==5)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#3: </a:t>
            </a:r>
            <a:r>
              <a:rPr sz="1400" b="1">
                <a:solidFill>
                  <a:srgbClr val="0D2747"/>
                </a:solidFill>
                <a:latin typeface="Calibri"/>
              </a:rPr>
              <a:t>Semicolon after if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if(x&gt;5); = empty body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Remove semicolon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15468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#4: </a:t>
            </a:r>
            <a:r>
              <a:rPr sz="1400" b="1">
                <a:solidFill>
                  <a:srgbClr val="0D2747"/>
                </a:solidFill>
                <a:latin typeface="Calibri"/>
              </a:rPr>
              <a:t>Switch Fall-Through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Without break, all cases execute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Add break;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15468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#5: </a:t>
            </a:r>
            <a:r>
              <a:rPr sz="1400" b="1">
                <a:solidFill>
                  <a:srgbClr val="0D2747"/>
                </a:solidFill>
                <a:latin typeface="Calibri"/>
              </a:rPr>
              <a:t>Dangling Else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else matches nearest if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Use { } braces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15468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#6: </a:t>
            </a:r>
            <a:r>
              <a:rPr sz="1400" b="1">
                <a:solidFill>
                  <a:srgbClr val="0D2747"/>
                </a:solidFill>
                <a:latin typeface="Calibri"/>
              </a:rPr>
              <a:t>Short-Circuit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&amp;&amp; skips if 1st FALSE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Watch side effects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89204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#7: </a:t>
            </a:r>
            <a:r>
              <a:rPr sz="1400" b="1">
                <a:solidFill>
                  <a:srgbClr val="0D2747"/>
                </a:solidFill>
                <a:latin typeface="Calibri"/>
              </a:rPr>
              <a:t>Call by Value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swap(a,b) doesn't work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Use pointers swap(&amp;a,&amp;b)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89204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#8: </a:t>
            </a:r>
            <a:r>
              <a:rPr sz="1400" b="1">
                <a:solidFill>
                  <a:srgbClr val="0D2747"/>
                </a:solidFill>
                <a:latin typeface="Calibri"/>
              </a:rPr>
              <a:t>Static vs Auto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auto resets, static remembers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Know the difference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892040"/>
            <a:ext cx="3749039" cy="1600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00020"/>
                </a:solidFill>
                <a:latin typeface="Calibri"/>
              </a:rPr>
              <a:t>TRAP #9: </a:t>
            </a:r>
            <a:r>
              <a:rPr sz="1400" b="1">
                <a:solidFill>
                  <a:srgbClr val="0D2747"/>
                </a:solidFill>
                <a:latin typeface="Calibri"/>
              </a:rPr>
              <a:t>*p++ vs (*p)++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C0000"/>
                </a:solidFill>
                <a:latin typeface="Calibri"/>
              </a:rPr>
              <a:t>Trap: </a:t>
            </a:r>
            <a:r>
              <a:rPr sz="1100">
                <a:solidFill>
                  <a:srgbClr val="8B0000"/>
                </a:solidFill>
                <a:latin typeface="Consolas"/>
              </a:rPr>
              <a:t>*p++ moves ptr, (*p)++ changes val</a:t>
            </a:r>
          </a:p>
          <a:p>
            <a:r>
              <a:rPr sz="1100" b="1">
                <a:solidFill>
                  <a:srgbClr val="1B7A2B"/>
                </a:solidFill>
                <a:latin typeface="Calibri"/>
              </a:rPr>
              <a:t>Fix: </a:t>
            </a:r>
            <a:r>
              <a:rPr sz="1100">
                <a:solidFill>
                  <a:srgbClr val="1B7A2B"/>
                </a:solidFill>
                <a:latin typeface="Consolas"/>
              </a:rPr>
              <a:t>Use parentheses clearly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4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600" b="1">
                <a:solidFill>
                  <a:srgbClr val="856A04"/>
                </a:solidFill>
                <a:latin typeface="Calibri"/>
              </a:rPr>
              <a:t>C-CAT TIP: </a:t>
            </a:r>
            <a:r>
              <a:rPr sz="1400">
                <a:solidFill>
                  <a:srgbClr val="856A04"/>
                </a:solidFill>
                <a:latin typeface="Calibri"/>
              </a:rPr>
              <a:t>Print this slide! Review all 9 traps before C-CAT. These are the most commonly tested gotchas.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