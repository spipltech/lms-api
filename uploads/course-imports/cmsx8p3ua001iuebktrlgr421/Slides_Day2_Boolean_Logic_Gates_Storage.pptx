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914400"/>
            <a:ext cx="9418320" cy="320040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1005840"/>
            <a:ext cx="9235440" cy="3017520"/>
          </a:xfrm>
          <a:prstGeom prst="rect">
            <a:avLst/>
          </a:prstGeom>
          <a:solidFill>
            <a:srgbClr val="002B5C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Calibri"/>
              </a:defRPr>
            </a:pPr>
            <a:r>
              <a:t>C-CAT PREPARATION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Day 2: Boolean Algebra,</a:t>
            </a:r>
            <a:br/>
            <a:r>
              <a:t>Logic Gates &amp; Storage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90D9"/>
                </a:solidFill>
                <a:latin typeface="Calibri"/>
              </a:defRPr>
            </a:pPr>
            <a:r>
              <a:t>Building Digital Foundations for C-DAC Entrance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3017520" cy="91440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C107"/>
                </a:solidFill>
                <a:latin typeface="Calibri"/>
              </a:defRPr>
            </a:pPr>
            <a:r>
              <a:t>Topics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Boolean Algebra  |  Logic Gates  | 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4754880"/>
            <a:ext cx="3017520" cy="91440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C107"/>
                </a:solidFill>
                <a:latin typeface="Calibri"/>
              </a:defRPr>
            </a:pPr>
            <a:r>
              <a:t>Level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Foundation + C-CAT Exam Focus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62672" y="4754880"/>
            <a:ext cx="3017520" cy="91440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C107"/>
                </a:solidFill>
                <a:latin typeface="Calibri"/>
              </a:defRPr>
            </a:pPr>
            <a:r>
              <a:t>Slides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Boolean Algebra — Three Fundamental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AND  (A ·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474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Output is 1 ONLY</a:t>
            </a:r>
            <a:br/>
            <a:r>
              <a:t>when BOTH inputs are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3474720" cy="640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002B5C"/>
                </a:solidFill>
                <a:latin typeface="Consolas"/>
              </a:defRPr>
            </a:pPr>
            <a:r>
              <a:t>A · B = 1  iff  A=1 AND B=1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51960"/>
            <a:ext cx="34747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Multiplication analogy:</a:t>
            </a:r>
            <a:br/>
            <a:r>
              <a:t>1·1=1, 1·0=0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371600"/>
            <a:ext cx="3474720" cy="5943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OR  (A + 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965960"/>
            <a:ext cx="3474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Output is 1 when</a:t>
            </a:r>
            <a:br/>
            <a:r>
              <a:t>ANY input is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3520440"/>
            <a:ext cx="3474720" cy="640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002B5C"/>
                </a:solidFill>
                <a:latin typeface="Consolas"/>
              </a:defRPr>
            </a:pPr>
            <a:r>
              <a:t>A + B = 1  iff  A=1 OR B=1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4251960"/>
            <a:ext cx="34747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Addition (capped at 1):</a:t>
            </a:r>
            <a:br/>
            <a:r>
              <a:t>1+1=1, 1+0=1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8" y="1371600"/>
            <a:ext cx="347472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8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NOT  (A')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8" y="1965960"/>
            <a:ext cx="3474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FLIPS / inverts</a:t>
            </a:r>
            <a:br/>
            <a:r>
              <a:t>the input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8" y="3520440"/>
            <a:ext cx="3474720" cy="640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002B5C"/>
                </a:solidFill>
                <a:latin typeface="Consolas"/>
              </a:defRPr>
            </a:pPr>
            <a:r>
              <a:t>0'=1    1'=0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8" y="4251960"/>
            <a:ext cx="34747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Complement / Bar:</a:t>
            </a:r>
            <a:br/>
            <a:r>
              <a:t>A̅  or  ~A  or  A'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394960"/>
            <a:ext cx="941832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Calibri"/>
              </a:defRPr>
            </a:pPr>
            <a:r>
              <a:t>⚠  Boolean values: only 0 or 1  |  AND = multiplication  |  OR = addition (max 1)  |  NOT = flip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Boolean Algebra Laws — Complete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2743200" cy="50292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Law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25880"/>
            <a:ext cx="4114800" cy="50292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AND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0" y="1325880"/>
            <a:ext cx="4114800" cy="50292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OR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· 1 =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182880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+ 0 =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67712"/>
            <a:ext cx="27432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Null / Domination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267712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· 0 =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2267712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+ 1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706624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Idempotent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70662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· A =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270662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+ A =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45536"/>
            <a:ext cx="27432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Complement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3145536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· A' =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3145536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+ A' =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84448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Commutative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58444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· B = B ·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358444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 + B = B + 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23360"/>
            <a:ext cx="27432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Associative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402336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(A·B)·C = A·(B·C)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0" y="4023360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(A+B)+C = A+(B+C)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6227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Distributive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46227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A·(B+C) = A·B+A·C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0" y="446227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A+(B·C) = (A+B)·(A+C)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901184"/>
            <a:ext cx="27432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Absorption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901184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A·(A+B) = 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4901184"/>
            <a:ext cx="411480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A+(A·B) = 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4009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Double Negation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534009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(A')' = 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534009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000000"/>
                </a:solidFill>
                <a:latin typeface="Consolas"/>
              </a:defRPr>
            </a:pPr>
            <a:r>
              <a:t>(A')' = 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71600" y="5760720"/>
            <a:ext cx="9418320" cy="502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Calibri"/>
              </a:defRPr>
            </a:pPr>
            <a:r>
              <a:t>C-CAT Tip: Distributive &amp; Absorption laws are most commonly tested in simplification problems!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 Morgan's Theorems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Theorem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defRPr sz="3600" b="1">
                <a:solidFill>
                  <a:srgbClr val="002B5C"/>
                </a:solidFill>
                <a:latin typeface="Consolas"/>
              </a:defRPr>
            </a:pPr>
            <a:r>
              <a:t>(A · B)' = A' + B'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640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"NOT of AND  =  OR of NOTs"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12064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447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Theorem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defRPr sz="3600" b="1">
                <a:solidFill>
                  <a:srgbClr val="002B5C"/>
                </a:solidFill>
                <a:latin typeface="Consolas"/>
              </a:defRPr>
            </a:pPr>
            <a:r>
              <a:t>(A + B)' = A' · B'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00400"/>
            <a:ext cx="5120640" cy="640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"NOT of OR  =  AND of NOTs"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206240"/>
            <a:ext cx="8503920" cy="10972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2000" b="1">
                <a:solidFill>
                  <a:srgbClr val="002B5C"/>
                </a:solidFill>
                <a:latin typeface="Calibri"/>
              </a:defRPr>
            </a:pPr>
            <a:r>
              <a:t>Memory Trick: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800" b="1">
                <a:solidFill>
                  <a:srgbClr val="002B5C"/>
                </a:solidFill>
                <a:latin typeface="Calibri"/>
              </a:defRPr>
            </a:pPr>
            <a:r>
              <a:t>"Break the bar, change the sign"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Step 1: Split the NOT bar over each variable   |   Step 2: Change AND ↔ 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Boolean Simplification —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371600" cy="731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Start: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463040"/>
            <a:ext cx="4114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400" b="1">
                <a:solidFill>
                  <a:srgbClr val="002B5C"/>
                </a:solidFill>
                <a:latin typeface="Consolas"/>
              </a:defRPr>
            </a:pPr>
            <a:r>
              <a:t>A · B  +  A · B'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463040"/>
            <a:ext cx="4572000" cy="73152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333333"/>
                </a:solidFill>
                <a:latin typeface="Calibri"/>
              </a:defRPr>
            </a:pPr>
            <a:r>
              <a:t>Given expression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137160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1: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514600"/>
            <a:ext cx="4114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400" b="1">
                <a:solidFill>
                  <a:srgbClr val="002B5C"/>
                </a:solidFill>
                <a:latin typeface="Consolas"/>
              </a:defRPr>
            </a:pPr>
            <a:r>
              <a:t>A · (B + B')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8A745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514600"/>
            <a:ext cx="4572000" cy="73152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28A745"/>
                </a:solidFill>
                <a:latin typeface="Calibri"/>
              </a:defRPr>
            </a:pPr>
            <a:r>
              <a:t>Distributive Law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1371600" cy="7315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2: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566160"/>
            <a:ext cx="4114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400" b="1">
                <a:solidFill>
                  <a:srgbClr val="002B5C"/>
                </a:solidFill>
                <a:latin typeface="Consolas"/>
              </a:defRPr>
            </a:pPr>
            <a:r>
              <a:t>A ·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90D9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566160"/>
            <a:ext cx="4572000" cy="73152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4A90D9"/>
                </a:solidFill>
                <a:latin typeface="Calibri"/>
              </a:defRPr>
            </a:pPr>
            <a:r>
              <a:t>Complement Law  (B + B' = 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17720"/>
            <a:ext cx="1371600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002B5C"/>
                </a:solidFill>
                <a:latin typeface="Calibri"/>
              </a:defRPr>
            </a:pPr>
            <a:r>
              <a:t>Step 3: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617720"/>
            <a:ext cx="4114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400" b="1">
                <a:solidFill>
                  <a:srgbClr val="002B5C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09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4617720"/>
            <a:ext cx="4572000" cy="73152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002B5C"/>
                </a:solidFill>
                <a:latin typeface="Calibri"/>
              </a:defRPr>
            </a:pPr>
            <a:r>
              <a:t>Identity Law  (A · 1 = 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5486400"/>
            <a:ext cx="667512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Result:  A·B + A·B'  simplifies to 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AND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A ──┐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       D──► Y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B 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4E8C"/>
                </a:solidFill>
                <a:latin typeface="Calibri"/>
              </a:defRPr>
            </a:pPr>
            <a:r>
              <a:t>Symbol: AND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Truth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429000"/>
            <a:ext cx="3200400" cy="64008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onsolas"/>
              </a:defRPr>
            </a:pPr>
            <a:r>
              <a:t>Y = A ·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37160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defRPr sz="1600" b="1">
                <a:solidFill>
                  <a:srgbClr val="002B5C"/>
                </a:solidFill>
                <a:latin typeface="Calibri"/>
              </a:defRPr>
            </a:pPr>
            <a:r>
              <a:t>Output is 1 ONLY</a:t>
            </a:r>
            <a:br/>
            <a:r>
              <a:t>when ALL inputs</a:t>
            </a:r>
            <a:br/>
            <a:r>
              <a:t>are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OR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A ──╲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        )──► Y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B ──╱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4E8C"/>
                </a:solidFill>
                <a:latin typeface="Calibri"/>
              </a:defRPr>
            </a:pPr>
            <a:r>
              <a:t>Symbol: OR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Truth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429000"/>
            <a:ext cx="3200400" cy="64008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onsolas"/>
              </a:defRPr>
            </a:pPr>
            <a:r>
              <a:t>Y = A +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37160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defRPr sz="1600" b="1">
                <a:solidFill>
                  <a:srgbClr val="002B5C"/>
                </a:solidFill>
                <a:latin typeface="Calibri"/>
              </a:defRPr>
            </a:pPr>
            <a:r>
              <a:t>Output is 1 when</a:t>
            </a:r>
            <a:br/>
            <a:r>
              <a:t>ANY input is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NOT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 A ──▷○──► Y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4E8C"/>
                </a:solidFill>
                <a:latin typeface="Calibri"/>
              </a:defRPr>
            </a:pPr>
            <a:r>
              <a:t>Symbol: NOT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Truth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788920"/>
            <a:ext cx="3200400" cy="64008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onsolas"/>
              </a:defRPr>
            </a:pPr>
            <a:r>
              <a:t>Y = 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37160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defRPr sz="1600" b="1">
                <a:solidFill>
                  <a:srgbClr val="002B5C"/>
                </a:solidFill>
                <a:latin typeface="Calibri"/>
              </a:defRPr>
            </a:pPr>
            <a:r>
              <a:t>Flips / inverts</a:t>
            </a:r>
            <a:br/>
            <a:r>
              <a:t>the input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NAND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A ──┐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       D○─► Y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B 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4E8C"/>
                </a:solidFill>
                <a:latin typeface="Calibri"/>
              </a:defRPr>
            </a:pPr>
            <a:r>
              <a:t>Symbol: NAND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Truth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429000"/>
            <a:ext cx="3200400" cy="64008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onsolas"/>
              </a:defRPr>
            </a:pPr>
            <a:r>
              <a:t>Y = (A · B)'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37160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defRPr sz="1600" b="1">
                <a:solidFill>
                  <a:srgbClr val="002B5C"/>
                </a:solidFill>
                <a:latin typeface="Calibri"/>
              </a:defRPr>
            </a:pPr>
            <a:r>
              <a:t>UNIVERSAL GATE</a:t>
            </a:r>
            <a:br/>
            <a:r>
              <a:t>Opposite of 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926080"/>
            <a:ext cx="3474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002B5C"/>
                </a:solidFill>
                <a:latin typeface="Calibri"/>
              </a:defRPr>
            </a:pPr>
            <a:r>
              <a:t>UNIVERSAL 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NOR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A ──╲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        )○─► Y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B ──╱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4E8C"/>
                </a:solidFill>
                <a:latin typeface="Calibri"/>
              </a:defRPr>
            </a:pPr>
            <a:r>
              <a:t>Symbol: NOR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Truth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429000"/>
            <a:ext cx="3200400" cy="64008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onsolas"/>
              </a:defRPr>
            </a:pPr>
            <a:r>
              <a:t>Y = (A + B)'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37160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defRPr sz="1600" b="1">
                <a:solidFill>
                  <a:srgbClr val="002B5C"/>
                </a:solidFill>
                <a:latin typeface="Calibri"/>
              </a:defRPr>
            </a:pPr>
            <a:r>
              <a:t>UNIVERSAL GATE</a:t>
            </a:r>
            <a:br/>
            <a:r>
              <a:t>Opposite of 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926080"/>
            <a:ext cx="34747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002B5C"/>
                </a:solidFill>
                <a:latin typeface="Calibri"/>
              </a:defRPr>
            </a:pPr>
            <a:r>
              <a:t>UNIVERSAL 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XOR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A ──╲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      =)──► Y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B ──╱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4E8C"/>
                </a:solidFill>
                <a:latin typeface="Calibri"/>
              </a:defRPr>
            </a:pPr>
            <a:r>
              <a:t>Symbol: XOR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Truth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429000"/>
            <a:ext cx="3200400" cy="64008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onsolas"/>
              </a:defRPr>
            </a:pPr>
            <a:r>
              <a:t>Y = A ⊕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37160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defRPr sz="1600" b="1">
                <a:solidFill>
                  <a:srgbClr val="002B5C"/>
                </a:solidFill>
                <a:latin typeface="Calibri"/>
              </a:defRPr>
            </a:pPr>
            <a:r>
              <a:t>Output is 1 when</a:t>
            </a:r>
            <a:br/>
            <a:r>
              <a:t>inputs are DIFFERENT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XNOR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A ──╲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      =)○─► Y</a:t>
            </a:r>
          </a:p>
          <a:p>
            <a:pPr algn="ctr">
              <a:defRPr sz="1600" b="1">
                <a:solidFill>
                  <a:srgbClr val="002B5C"/>
                </a:solidFill>
                <a:latin typeface="Consolas"/>
              </a:defRPr>
            </a:pPr>
            <a:r>
              <a:t>B ──╱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4E8C"/>
                </a:solidFill>
                <a:latin typeface="Calibri"/>
              </a:defRPr>
            </a:pPr>
            <a:r>
              <a:t>Symbol: XNOR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Truth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7772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7452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9456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514600"/>
            <a:ext cx="777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834640"/>
            <a:ext cx="7772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429000"/>
            <a:ext cx="3200400" cy="64008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onsolas"/>
              </a:defRPr>
            </a:pPr>
            <a:r>
              <a:t>Y = (A ⊕ B)'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37160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  <a:defRPr sz="1600" b="1">
                <a:solidFill>
                  <a:srgbClr val="002B5C"/>
                </a:solidFill>
                <a:latin typeface="Calibri"/>
              </a:defRPr>
            </a:pPr>
            <a:r>
              <a:t>Output is 1 when</a:t>
            </a:r>
            <a:br/>
            <a:r>
              <a:t>inputs are SAME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All 7 Logic Gates — Master Reference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182880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325880"/>
            <a:ext cx="228600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Symbol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325880"/>
            <a:ext cx="320040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325880"/>
            <a:ext cx="365760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Behavior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7452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000000"/>
                </a:solidFill>
                <a:latin typeface="Calibri"/>
              </a:defRPr>
            </a:pPr>
            <a:r>
              <a:t>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87452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8745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Y=A·B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8745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alibri"/>
              </a:defRPr>
            </a:pPr>
            <a:r>
              <a:t>1 only when ALL=1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23160"/>
            <a:ext cx="18288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000000"/>
                </a:solidFill>
                <a:latin typeface="Calibri"/>
              </a:defRPr>
            </a:pPr>
            <a:r>
              <a:t>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423160"/>
            <a:ext cx="22860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)≥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423160"/>
            <a:ext cx="32004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Y=A+B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2423160"/>
            <a:ext cx="36576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alibri"/>
              </a:defRPr>
            </a:pPr>
            <a:r>
              <a:t>1 when ANY=1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97180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000000"/>
                </a:solidFill>
                <a:latin typeface="Calibri"/>
              </a:defRPr>
            </a:pPr>
            <a:r>
              <a:t>NOT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297180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▷○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97180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Y=A'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297180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alibri"/>
              </a:defRPr>
            </a:pPr>
            <a:r>
              <a:t>Flips input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520440"/>
            <a:ext cx="1828800" cy="548640"/>
          </a:xfrm>
          <a:prstGeom prst="rect">
            <a:avLst/>
          </a:prstGeom>
          <a:solidFill>
            <a:srgbClr val="FFC10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002B5C"/>
                </a:solidFill>
                <a:latin typeface="Calibri"/>
              </a:defRPr>
            </a:pPr>
            <a:r>
              <a:t>NAND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3520440"/>
            <a:ext cx="22860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D○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520440"/>
            <a:ext cx="32004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Y=(A·B)'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3520440"/>
            <a:ext cx="36576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alibri"/>
              </a:defRPr>
            </a:pPr>
            <a:r>
              <a:t>Opposite of 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069080"/>
            <a:ext cx="1828800" cy="548640"/>
          </a:xfrm>
          <a:prstGeom prst="rect">
            <a:avLst/>
          </a:prstGeom>
          <a:solidFill>
            <a:srgbClr val="FFC10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002B5C"/>
                </a:solidFill>
                <a:latin typeface="Calibri"/>
              </a:defRPr>
            </a:pPr>
            <a:r>
              <a:t>NOR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406908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)○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406908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Y=(A+B)'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406908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alibri"/>
              </a:defRPr>
            </a:pPr>
            <a:r>
              <a:t>Opposite of 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617720"/>
            <a:ext cx="18288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000000"/>
                </a:solidFill>
                <a:latin typeface="Calibri"/>
              </a:defRPr>
            </a:pPr>
            <a:r>
              <a:t>XOR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4617720"/>
            <a:ext cx="22860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=)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4617720"/>
            <a:ext cx="32004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Y=A⊕B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4617720"/>
            <a:ext cx="36576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alibri"/>
              </a:defRPr>
            </a:pPr>
            <a:r>
              <a:t>1 when DIFFERENT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516636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000000"/>
                </a:solidFill>
                <a:latin typeface="Calibri"/>
              </a:defRPr>
            </a:pPr>
            <a:r>
              <a:t>XNOR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516636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=)○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516636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onsolas"/>
              </a:defRPr>
            </a:pPr>
            <a:r>
              <a:t>Y=(A⊕B)'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51663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0">
                <a:solidFill>
                  <a:srgbClr val="000000"/>
                </a:solidFill>
                <a:latin typeface="Calibri"/>
              </a:defRPr>
            </a:pPr>
            <a:r>
              <a:t>1 when SAME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71600" y="5760720"/>
            <a:ext cx="9418320" cy="502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Calibri"/>
              </a:defRPr>
            </a:pPr>
            <a:r>
              <a:t>NAND &amp; NOR = Universal Gates (can build ANY other gate using only these)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Universal Gates — Building Everything from NAND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749039" cy="54864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NOT from 1 NAND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749039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Connect both inputs together: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A ──┐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       D○──► A'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A ──┘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Both inputs = A → Output = (A·A)' = A'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371600"/>
            <a:ext cx="3749039" cy="54864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AND from 2 NANDs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011680"/>
            <a:ext cx="3749039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NAND → NOT: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A ──┐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       D○──┐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B ──┘       D○──► Y = A·B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            ──┘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First NAND gives (AB)', second inverts 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371600"/>
            <a:ext cx="3749039" cy="54864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OR from 3 NANDs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011680"/>
            <a:ext cx="3749039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NOT each input, then NAND: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A─D○─A' ──┐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               D○──► Y = A+B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  B─D○─B' ──┘</a:t>
            </a: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</a:p>
          <a:p>
            <a:pPr algn="ctr">
              <a:defRPr sz="1200" b="0">
                <a:solidFill>
                  <a:srgbClr val="002B5C"/>
                </a:solidFill>
                <a:latin typeface="Consolas"/>
              </a:defRPr>
            </a:pPr>
            <a:r>
              <a:t>NOT A, NOT B, then NAND them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486400"/>
            <a:ext cx="941832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Calibri"/>
              </a:defRPr>
            </a:pPr>
            <a:r>
              <a:t>Similarly, NOR is also a Universal Gate — any circuit can be built using only NOR gates!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Half Adder — Adding Two Single Bits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0292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2000" b="1">
                <a:solidFill>
                  <a:srgbClr val="002B5C"/>
                </a:solidFill>
                <a:latin typeface="Calibri"/>
              </a:defRPr>
            </a:pPr>
            <a:r>
              <a:t>Half Adder Circuit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4E8C"/>
                </a:solidFill>
                <a:latin typeface="Calibri"/>
              </a:defRPr>
            </a:pPr>
            <a:r>
              <a:t>Two Inputs: A, B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4E8C"/>
                </a:solidFill>
                <a:latin typeface="Calibri"/>
              </a:defRPr>
            </a:pPr>
            <a:r>
              <a:t>Two Outputs: Sum, Carry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8A745"/>
                </a:solidFill>
                <a:latin typeface="Calibri"/>
              </a:defRPr>
            </a:pPr>
            <a:r>
              <a:t>Sum  =  A ⊕ B    (XOR Gate)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DC3545"/>
                </a:solidFill>
                <a:latin typeface="Calibri"/>
              </a:defRPr>
            </a:pPr>
            <a:r>
              <a:t>Carry  =  A · B    (AND Gate)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Half Adder Truth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10058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645920"/>
            <a:ext cx="10058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645920"/>
            <a:ext cx="10058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645920"/>
            <a:ext cx="100584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Carry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96596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96596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96596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96596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286000"/>
            <a:ext cx="10058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286000"/>
            <a:ext cx="10058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286000"/>
            <a:ext cx="10058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2286000"/>
            <a:ext cx="10058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60604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60604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60604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60604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926080"/>
            <a:ext cx="10058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2926080"/>
            <a:ext cx="10058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2926080"/>
            <a:ext cx="10058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926080"/>
            <a:ext cx="100584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474720"/>
            <a:ext cx="5029200" cy="9144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DC3545"/>
                </a:solidFill>
                <a:latin typeface="Calibri"/>
              </a:defRPr>
            </a:pPr>
            <a:r>
              <a:t>Limitation: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Cannot handle carry input from previous stage.</a:t>
            </a:r>
            <a:br/>
            <a:r>
              <a:t>For chained addition, we need a Full Adder.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029200"/>
            <a:ext cx="941832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Calibri"/>
              </a:defRPr>
            </a:pPr>
            <a:r>
              <a:t>1 XOR gate + 1 AND gate  =  Half Adder   |   Adds two single-bit numbers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Full Adder — Adding with Carry 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45720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002B5C"/>
                </a:solidFill>
                <a:latin typeface="Calibri"/>
              </a:defRPr>
            </a:pPr>
            <a:r>
              <a:t>Full Adder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004E8C"/>
                </a:solidFill>
                <a:latin typeface="Calibri"/>
              </a:defRPr>
            </a:pPr>
            <a:r>
              <a:t>Three Inputs: A, B, Cin (Carry In)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004E8C"/>
                </a:solidFill>
                <a:latin typeface="Calibri"/>
              </a:defRPr>
            </a:pPr>
            <a:r>
              <a:t>Two Outputs: Sum, Cout (Carry Out)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8A745"/>
                </a:solidFill>
                <a:latin typeface="Calibri"/>
              </a:defRPr>
            </a:pPr>
            <a:r>
              <a:t>Sum  =  A ⊕ B ⊕ Cin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DC3545"/>
                </a:solidFill>
                <a:latin typeface="Calibri"/>
              </a:defRPr>
            </a:pPr>
            <a:r>
              <a:t>Cout  =  AB + BCin + ACin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Built from 2 Half Adders + 1 OR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1887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  <a:latin typeface="Calibri"/>
              </a:defRPr>
            </a:pPr>
            <a:r>
              <a:t>Full Adder Truth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554480"/>
            <a:ext cx="86868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554480"/>
            <a:ext cx="86868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554480"/>
            <a:ext cx="86868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554480"/>
            <a:ext cx="86868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554480"/>
            <a:ext cx="868680" cy="320040"/>
          </a:xfrm>
          <a:prstGeom prst="rect">
            <a:avLst/>
          </a:prstGeom>
          <a:solidFill>
            <a:srgbClr val="003D6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87452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87452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87452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87452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87452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19456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19456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19456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19456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9456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51460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51460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251460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51460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51460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83464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283464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83464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283464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83464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15468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315468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15468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315468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15468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347472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347472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347472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347472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347472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379476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379476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379476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379476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3794760"/>
            <a:ext cx="868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411480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411480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411480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411480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4114800"/>
            <a:ext cx="86868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71600" y="5120640"/>
            <a:ext cx="941832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Calibri"/>
              </a:defRPr>
            </a:pPr>
            <a:r>
              <a:t>Full Adder = handles carry propagation  |  Chain N Full Adders = N-bit Ripple Carry Adder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SRAM vs DRAM —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256032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325880"/>
            <a:ext cx="4206240" cy="548640"/>
          </a:xfrm>
          <a:prstGeom prst="rect">
            <a:avLst/>
          </a:prstGeom>
          <a:solidFill>
            <a:srgbClr val="28A74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SRAM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325880"/>
            <a:ext cx="420624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DRAM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7452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87452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Flip-Flops (6 transistors)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87452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Capacitor + 1 Transistor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50008"/>
            <a:ext cx="256032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350008"/>
            <a:ext cx="420624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Very Fast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350008"/>
            <a:ext cx="420624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Slower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82549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82549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Expensive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282549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Cheap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300984"/>
            <a:ext cx="256032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Density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3300984"/>
            <a:ext cx="420624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Low (larger cells)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3300984"/>
            <a:ext cx="420624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High (smaller cells)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7647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Refresh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377647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No refresh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377647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Needs periodic refresh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251960"/>
            <a:ext cx="256032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4251960"/>
            <a:ext cx="420624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More (static current)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4251960"/>
            <a:ext cx="420624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Less (leakage only)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727448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4727448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CPU Cache (L1, L2, L3)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4727448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Main Memory (RAM)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202936"/>
            <a:ext cx="256032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Volatility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5202936"/>
            <a:ext cx="420624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Volatile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5202936"/>
            <a:ext cx="420624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Volatile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5760720"/>
            <a:ext cx="9418320" cy="502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2B5C"/>
                </a:solidFill>
                <a:latin typeface="Calibri"/>
              </a:defRPr>
            </a:pPr>
            <a:r>
              <a:t>C-CAT Tip: SRAM = Static = Cache = Fast = Expensive  |  DRAM = Dynamic = Main RAM = Refresh needed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ROM Types — Evolution of Read-Only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103120" cy="7315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9456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Read Only</a:t>
            </a:r>
            <a:br/>
            <a:r>
              <a:t>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154680"/>
            <a:ext cx="2103120" cy="10972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Factory</a:t>
            </a:r>
            <a:br/>
            <a:r>
              <a:t>programmed</a:t>
            </a:r>
            <a:br/>
            <a:r>
              <a:t>Cannot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463040"/>
            <a:ext cx="2103120" cy="7315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5361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219456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Programmable</a:t>
            </a:r>
            <a:br/>
            <a:r>
              <a:t>ROM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3154680"/>
            <a:ext cx="2103120" cy="10972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One-time</a:t>
            </a:r>
            <a:br/>
            <a:r>
              <a:t>programmable</a:t>
            </a:r>
            <a:br/>
            <a:r>
              <a:t>Burn fuses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2103120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5361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EPROM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19456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Erasable</a:t>
            </a:r>
            <a:br/>
            <a:r>
              <a:t>PROM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154680"/>
            <a:ext cx="2103120" cy="10972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UV light</a:t>
            </a:r>
            <a:br/>
            <a:r>
              <a:t>erasable</a:t>
            </a:r>
            <a:br/>
            <a:r>
              <a:t>Quartz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463040"/>
            <a:ext cx="2103120" cy="73152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5361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EEPROM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19456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Electrically</a:t>
            </a:r>
            <a:br/>
            <a:r>
              <a:t>Erasable PROM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3154680"/>
            <a:ext cx="2103120" cy="10972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Electrically</a:t>
            </a:r>
            <a:br/>
            <a:r>
              <a:t>erasable</a:t>
            </a:r>
            <a:br/>
            <a:r>
              <a:t>Byte-by-byte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463040"/>
            <a:ext cx="2103120" cy="7315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5361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Flash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19456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Flash</a:t>
            </a:r>
            <a:br/>
            <a:r>
              <a:t>Memory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3154680"/>
            <a:ext cx="2103120" cy="10972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Block</a:t>
            </a:r>
            <a:br/>
            <a:r>
              <a:t>erasable</a:t>
            </a:r>
            <a:br/>
            <a:r>
              <a:t>Type of EEPROM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572000"/>
            <a:ext cx="1106424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Calibri"/>
              </a:defRPr>
            </a:pPr>
            <a:r>
              <a:t>◀─── Less Flexible                                                                                              More Flexible ───▶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5394960"/>
            <a:ext cx="94183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C-CAT Exam Focus: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2B5C"/>
                </a:solidFill>
                <a:latin typeface="Calibri"/>
              </a:defRPr>
            </a:pPr>
            <a:r>
              <a:t>EPROM = UV erasable  |  EEPROM = Electrically erasable  |  Flash = Block erasable (type of EEPROM)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Secondary Storage Devices —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182880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71600"/>
            <a:ext cx="201168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228600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371600"/>
            <a:ext cx="210312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371600"/>
            <a:ext cx="2286000" cy="548640"/>
          </a:xfrm>
          <a:prstGeom prst="rect">
            <a:avLst/>
          </a:prstGeom>
          <a:solidFill>
            <a:srgbClr val="003D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92024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HDD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92024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Magnetic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92024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92024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92024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1-20 TB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23160"/>
            <a:ext cx="182880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SSD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423160"/>
            <a:ext cx="201168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423160"/>
            <a:ext cx="228600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423160"/>
            <a:ext cx="210312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Very Fast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423160"/>
            <a:ext cx="228600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256GB-8TB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92608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CD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92608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Optical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92608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Sequential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92608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Slow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92608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700 MB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429000"/>
            <a:ext cx="182880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DVD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3429000"/>
            <a:ext cx="201168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Optical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429000"/>
            <a:ext cx="228600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Sequential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429000"/>
            <a:ext cx="210312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Slow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3429000"/>
            <a:ext cx="228600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4.7 GB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9319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Blu-ray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93192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Optical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93192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Sequential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9319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393192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25-50 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34840"/>
            <a:ext cx="182880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Tape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4434840"/>
            <a:ext cx="201168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Magnetic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4434840"/>
            <a:ext cx="228600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Sequential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434840"/>
            <a:ext cx="210312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Slow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4434840"/>
            <a:ext cx="228600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0000"/>
                </a:solidFill>
                <a:latin typeface="Calibri"/>
              </a:defRPr>
            </a:pPr>
            <a:r>
              <a:t>Backup/TB+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5120640"/>
            <a:ext cx="9418320" cy="502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B5C"/>
                </a:solidFill>
                <a:latin typeface="Calibri"/>
              </a:defRPr>
            </a:pPr>
            <a:r>
              <a:t>SSD = No moving parts = faster, more durable  |  HDD = moving platters = cheaper per TB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Storage Units — Data Measurement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51760" cy="640080"/>
          </a:xfrm>
          <a:prstGeom prst="round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Bit  0 or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2651760" cy="4572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Smallest unit of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651760" cy="640080"/>
          </a:xfrm>
          <a:prstGeom prst="roundRect">
            <a:avLst/>
          </a:prstGeom>
          <a:solidFill>
            <a:srgbClr val="006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Nibble  = 4 Bits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2651760" cy="4572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6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One hex digit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51760" cy="640080"/>
          </a:xfrm>
          <a:prstGeom prst="roundRect">
            <a:avLst/>
          </a:prstGeom>
          <a:solidFill>
            <a:srgbClr val="00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Byte  = 8 Bits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2651760" cy="4572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6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One character (ASCII)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371600"/>
            <a:ext cx="2651760" cy="640080"/>
          </a:xfrm>
          <a:prstGeom prst="roundRect">
            <a:avLst/>
          </a:prstGeom>
          <a:solidFill>
            <a:srgbClr val="006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KB  = 1024 Bytes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057400"/>
            <a:ext cx="2651760" cy="4572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6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short text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2651760" cy="640080"/>
          </a:xfrm>
          <a:prstGeom prst="roundRect">
            <a:avLst/>
          </a:prstGeom>
          <a:solidFill>
            <a:srgbClr val="00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MB  = 1024 KB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60520"/>
            <a:ext cx="2651760" cy="4572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6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photo / short song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474720"/>
            <a:ext cx="2651760" cy="640080"/>
          </a:xfrm>
          <a:prstGeom prst="roundRect">
            <a:avLst/>
          </a:prstGeom>
          <a:solidFill>
            <a:srgbClr val="0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GB  = 1024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160520"/>
            <a:ext cx="2651760" cy="4572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movie / large 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74720"/>
            <a:ext cx="2651760" cy="640080"/>
          </a:xfrm>
          <a:prstGeom prst="roundRect">
            <a:avLst/>
          </a:prstGeom>
          <a:solidFill>
            <a:srgbClr val="006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TB  = 1024 GB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60520"/>
            <a:ext cx="2651760" cy="4572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6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Large hard drive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3474720"/>
            <a:ext cx="2651760" cy="640080"/>
          </a:xfrm>
          <a:prstGeom prst="roundRect">
            <a:avLst/>
          </a:prstGeom>
          <a:solidFill>
            <a:srgbClr val="006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PB  = 1024 TB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4160520"/>
            <a:ext cx="2651760" cy="4572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6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Data center scale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754880"/>
            <a:ext cx="9418320" cy="8229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C-CAT TRAP WARNING!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 KB = 1024 bytes, NOT 1000!  |  Always use powers of 2: 2¹⁰ = 1024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Day 2 — Quick Revision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C-CAT Preparation  |  Day 2: Boolean Algebra, Logic Gates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200400" cy="56692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 Morgan's Theorems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325880"/>
            <a:ext cx="795527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2B5C"/>
                </a:solidFill>
                <a:latin typeface="Calibri"/>
              </a:defRPr>
            </a:pPr>
            <a:r>
              <a:t>(AB)' = A'+B'  |  (A+B)' = A'·B'  |  Break bar, change 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84248"/>
            <a:ext cx="3200400" cy="566928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Universal 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984248"/>
            <a:ext cx="795527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2B5C"/>
                </a:solidFill>
                <a:latin typeface="Calibri"/>
              </a:defRPr>
            </a:pPr>
            <a:r>
              <a:t>NAND &amp; NOR can build ANY other gate — most tested concept!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42616"/>
            <a:ext cx="3200400" cy="566928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XOR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642616"/>
            <a:ext cx="795527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2B5C"/>
                </a:solidFill>
                <a:latin typeface="Calibri"/>
              </a:defRPr>
            </a:pPr>
            <a:r>
              <a:t>Different inputs → 1  |  Same inputs → 0 (XNOR)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00984"/>
            <a:ext cx="3200400" cy="566928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Memory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300984"/>
            <a:ext cx="795527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2B5C"/>
                </a:solidFill>
                <a:latin typeface="Calibri"/>
              </a:defRPr>
            </a:pPr>
            <a:r>
              <a:t>SRAM = Cache (fast, expensive)  |  DRAM = Main RAM (needs refresh)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59352"/>
            <a:ext cx="3200400" cy="566928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ROM Evolution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959352"/>
            <a:ext cx="795527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2B5C"/>
                </a:solidFill>
                <a:latin typeface="Calibri"/>
              </a:defRPr>
            </a:pPr>
            <a:r>
              <a:t>ROM → PROM → EPROM (UV) → EEPROM (Electrical) → Flash (Block)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17720"/>
            <a:ext cx="3200400" cy="566928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Flash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617720"/>
            <a:ext cx="795527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2B5C"/>
                </a:solidFill>
                <a:latin typeface="Calibri"/>
              </a:defRPr>
            </a:pPr>
            <a:r>
              <a:t>Type of EEPROM  |  Block erasable  |  Used in SSDs, USB drives, SD cards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76088"/>
            <a:ext cx="3200400" cy="566928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Storage Units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5276088"/>
            <a:ext cx="795527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0">
                <a:solidFill>
                  <a:srgbClr val="002B5C"/>
                </a:solidFill>
                <a:latin typeface="Calibri"/>
              </a:defRPr>
            </a:pPr>
            <a:r>
              <a:t>1 KB = 1024 bytes (NOT 1000!)  |  Bit → Nibble → Byte → KB → MB → GB → TB → PB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6035040"/>
            <a:ext cx="7589520" cy="45720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FFC107"/>
                </a:solidFill>
                <a:latin typeface="Calibri"/>
              </a:defRPr>
            </a:pPr>
            <a:r>
              <a:t>Master these 21 slides and you own Day 2 of C-CAT prep!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