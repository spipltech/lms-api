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D5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56032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A90D9"/>
                </a:solidFill>
                <a:latin typeface="Calibri"/>
              </a:defRPr>
            </a:pPr>
            <a:r>
              <a:t>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834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Software, Operating Systems</a:t>
            </a:r>
            <a:br/>
            <a:r>
              <a:t>&amp; Programming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3891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CCFF"/>
                </a:solidFill>
                <a:latin typeface="Calibri"/>
              </a:defRPr>
            </a:pPr>
            <a:r>
              <a:t>C-CAT Preparation Course | Module 1: Computer Fundamentals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5120640"/>
            <a:ext cx="6400800" cy="1097280"/>
          </a:xfrm>
          <a:prstGeom prst="roundRect">
            <a:avLst/>
          </a:prstGeom>
          <a:solidFill>
            <a:srgbClr val="122A60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400">
                <a:solidFill>
                  <a:srgbClr val="CCDDFF"/>
                </a:solidFill>
                <a:latin typeface="Calibri"/>
              </a:defRPr>
            </a:pPr>
            <a:r>
              <a:t>Topics: Software Classification | Language Generations | Translators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1400" b="0">
                <a:solidFill>
                  <a:srgbClr val="CCDDFF"/>
                </a:solidFill>
                <a:latin typeface="Calibri"/>
              </a:defRPr>
            </a:pPr>
            <a:r>
              <a:t>Operating Systems | Algorithms | Flowcharts | Pseudocode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Software Classification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Hierarchical view of software types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1280160"/>
            <a:ext cx="2560320" cy="502920"/>
          </a:xfrm>
          <a:prstGeom prst="round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SOFTWARE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926080" y="1783080"/>
            <a:ext cx="2103120" cy="5029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7132320" y="1783080"/>
            <a:ext cx="2103120" cy="502920"/>
          </a:xfrm>
          <a:prstGeom prst="line">
            <a:avLst/>
          </a:prstGeom>
          <a:ln w="2540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188720" y="2286000"/>
            <a:ext cx="2926080" cy="502920"/>
          </a:xfrm>
          <a:prstGeom prst="round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System Software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2286000"/>
            <a:ext cx="3200400" cy="5029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Application Software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188720" y="2788920"/>
            <a:ext cx="1463040" cy="502920"/>
          </a:xfrm>
          <a:prstGeom prst="line">
            <a:avLst/>
          </a:prstGeom>
          <a:ln w="1905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74320" y="3291840"/>
            <a:ext cx="1828800" cy="640080"/>
          </a:xfrm>
          <a:prstGeom prst="roundRect">
            <a:avLst/>
          </a:prstGeom>
          <a:solidFill>
            <a:srgbClr val="2C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Operating</a:t>
            </a:r>
            <a:br/>
            <a:r>
              <a:t>Systems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39776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Windows, Linux</a:t>
            </a:r>
            <a:br/>
            <a:r>
              <a:t>macOS, Android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651760" y="2788920"/>
            <a:ext cx="731519" cy="502920"/>
          </a:xfrm>
          <a:prstGeom prst="line">
            <a:avLst/>
          </a:prstGeom>
          <a:ln w="1905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468879" y="3291840"/>
            <a:ext cx="1828800" cy="640080"/>
          </a:xfrm>
          <a:prstGeom prst="roundRect">
            <a:avLst/>
          </a:prstGeom>
          <a:solidFill>
            <a:srgbClr val="2C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Language</a:t>
            </a:r>
            <a:br/>
            <a:r>
              <a:t>Translators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79" y="39776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Compiler, Interpreter</a:t>
            </a:r>
            <a:br/>
            <a:r>
              <a:t>Assembler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2651760" y="2788920"/>
            <a:ext cx="2926080" cy="502920"/>
          </a:xfrm>
          <a:prstGeom prst="line">
            <a:avLst/>
          </a:prstGeom>
          <a:ln w="1905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4663440" y="3291840"/>
            <a:ext cx="1828800" cy="640080"/>
          </a:xfrm>
          <a:prstGeom prst="roundRect">
            <a:avLst/>
          </a:prstGeom>
          <a:solidFill>
            <a:srgbClr val="2C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Device</a:t>
            </a:r>
            <a:br/>
            <a:r>
              <a:t>Drivers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Printer, GPU</a:t>
            </a:r>
            <a:br/>
            <a:r>
              <a:t>Network drivers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2651760" y="2788920"/>
            <a:ext cx="5120640" cy="502920"/>
          </a:xfrm>
          <a:prstGeom prst="line">
            <a:avLst/>
          </a:prstGeom>
          <a:ln w="1905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857999" y="3291840"/>
            <a:ext cx="1828800" cy="640080"/>
          </a:xfrm>
          <a:prstGeom prst="roundRect">
            <a:avLst/>
          </a:prstGeom>
          <a:solidFill>
            <a:srgbClr val="2C5F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Utilities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7999" y="3977639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Antivirus, Disk</a:t>
            </a:r>
            <a:br/>
            <a:r>
              <a:t>Cleanup, Backup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7726679" y="2788920"/>
            <a:ext cx="1600201" cy="50292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6949440" y="3291840"/>
            <a:ext cx="1554480" cy="640080"/>
          </a:xfrm>
          <a:prstGeom prst="roundRect">
            <a:avLst/>
          </a:prstGeom>
          <a:solidFill>
            <a:srgbClr val="1E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General</a:t>
            </a:r>
            <a:br/>
            <a:r>
              <a:t>Purpose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39776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Word Processors</a:t>
            </a:r>
            <a:br/>
            <a:r>
              <a:t>Spreadsheets</a:t>
            </a:r>
            <a:br/>
            <a:r>
              <a:t>Browsers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9326880" y="2788920"/>
            <a:ext cx="228600" cy="50292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3291840"/>
            <a:ext cx="1554480" cy="640080"/>
          </a:xfrm>
          <a:prstGeom prst="roundRect">
            <a:avLst/>
          </a:prstGeom>
          <a:solidFill>
            <a:srgbClr val="1E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Special</a:t>
            </a:r>
            <a:br/>
            <a:r>
              <a:t>Purpose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9776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Accounting (Tally)</a:t>
            </a:r>
            <a:br/>
            <a:r>
              <a:t>ERP, CAD</a:t>
            </a:r>
            <a:br/>
            <a:r>
              <a:t>Payroll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0" y="2788920"/>
            <a:ext cx="2057400" cy="502920"/>
          </a:xfrm>
          <a:prstGeom prst="line">
            <a:avLst/>
          </a:prstGeom>
          <a:ln w="1905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607040" y="3291840"/>
            <a:ext cx="1554480" cy="640080"/>
          </a:xfrm>
          <a:prstGeom prst="roundRect">
            <a:avLst/>
          </a:prstGeom>
          <a:solidFill>
            <a:srgbClr val="1E8C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Custom</a:t>
            </a:r>
            <a:br/>
            <a:r>
              <a:t>Built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7040" y="3977639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B9B9B"/>
                </a:solidFill>
                <a:latin typeface="Calibri"/>
              </a:defRPr>
            </a:pPr>
            <a:r>
              <a:t>Tailor-made for</a:t>
            </a:r>
            <a:br/>
            <a:r>
              <a:t>specific business</a:t>
            </a:r>
            <a:br/>
            <a:r>
              <a:t>needs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937760"/>
            <a:ext cx="1005840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System software manages hardware &amp; provides platform. Application software performs user tasks. Language translators convert code to machine language.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Programming Language Generations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From Machine Code to Natural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95647" y="1371600"/>
            <a:ext cx="3200400" cy="59436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5GL  |  Natural Language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Prolog, Mercury, AI 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72687" y="2103120"/>
            <a:ext cx="4846320" cy="594360"/>
          </a:xfrm>
          <a:prstGeom prst="round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4GL  |  Very High-Level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SQL, MATLAB, R, SAS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49727" y="2834640"/>
            <a:ext cx="649224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3GL  |  High-Level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C, C++, Java, 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6767" y="3566160"/>
            <a:ext cx="8138160" cy="5943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2GL  |  Assembly Language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MOV, ADD, SUB (Mnemonics)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03807" y="4297680"/>
            <a:ext cx="9784080" cy="594360"/>
          </a:xfrm>
          <a:prstGeom prst="round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1GL  |  Machine Language</a:t>
            </a:r>
          </a:p>
          <a:p>
            <a:pPr algn="ctr"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EEEEEE"/>
                </a:solidFill>
                <a:latin typeface="Calibri"/>
              </a:defRPr>
            </a:pPr>
            <a:r>
              <a:t>Binary: 10110000 01100001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515600" y="1371600"/>
            <a:ext cx="1371600" cy="3840480"/>
          </a:xfrm>
          <a:prstGeom prst="rect">
            <a:avLst/>
          </a:prstGeom>
          <a:solidFill>
            <a:srgbClr val="E8EEF7"/>
          </a:solidFill>
          <a:ln w="1270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tIns="137160"/>
          <a:lstStyle/>
          <a:p>
            <a:pPr algn="ctr">
              <a:defRPr sz="1100" b="1">
                <a:solidFill>
                  <a:srgbClr val="8E44AD"/>
                </a:solidFill>
              </a:defRPr>
            </a:pPr>
            <a:r>
              <a:t>Close to</a:t>
            </a:r>
            <a:br/>
            <a:r>
              <a:t>Human</a:t>
            </a:r>
          </a:p>
          <a:p>
            <a:pPr algn="ctr">
              <a:spcBef>
                <a:spcPts val="400"/>
              </a:spcBef>
              <a:spcAft>
                <a:spcPts val="200"/>
              </a:spcAft>
              <a:defRPr sz="800" b="0">
                <a:solidFill>
                  <a:srgbClr val="000000"/>
                </a:solidFill>
                <a:latin typeface="Calibri"/>
              </a:defRPr>
            </a:pPr>
            <a:br/>
            <a:br/>
            <a:br/>
          </a:p>
          <a:p>
            <a:pPr algn="ctr">
              <a:spcBef>
                <a:spcPts val="400"/>
              </a:spcBef>
              <a:spcAft>
                <a:spcPts val="200"/>
              </a:spcAft>
              <a:defRPr sz="1100" b="1">
                <a:solidFill>
                  <a:srgbClr val="E74C3C"/>
                </a:solidFill>
                <a:latin typeface="Calibri"/>
              </a:defRPr>
            </a:pPr>
            <a:r>
              <a:t>Close to</a:t>
            </a:r>
            <a:br/>
            <a:r>
              <a:t>Hardware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0972800" y="1645920"/>
            <a:ext cx="365760" cy="457200"/>
          </a:xfrm>
          <a:prstGeom prst="rightArrow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7200" y="5303520"/>
            <a:ext cx="7315200" cy="64008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C-CAT often asks: Which generation does SQL belong to? Answer: 4GL. Java/C/Python = 3GL.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Assembler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2GL to 1GL Translation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103120"/>
            <a:ext cx="2926080" cy="18288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Assembly Code</a:t>
            </a:r>
            <a:br/>
            <a:r>
              <a:t>(2GL)</a:t>
            </a:r>
            <a:br/>
            <a:br/>
            <a:r>
              <a:t>MOV AX, 5</a:t>
            </a:r>
            <a:br/>
            <a:r>
              <a:t>ADD AX, 3</a:t>
            </a:r>
            <a:br/>
            <a:r>
              <a:t>MOV BX, AX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14800" y="2651760"/>
            <a:ext cx="1371600" cy="731520"/>
          </a:xfrm>
          <a:prstGeom prst="rightArrow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3474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86C00"/>
                </a:solidFill>
                <a:latin typeface="Calibri"/>
              </a:defRPr>
            </a:pPr>
            <a:r>
              <a:t>translates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760720" y="1828800"/>
            <a:ext cx="2286000" cy="1097280"/>
          </a:xfrm>
          <a:prstGeom prst="round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200" b="1">
                <a:solidFill>
                  <a:srgbClr val="FFFFFF"/>
                </a:solidFill>
                <a:latin typeface="Calibri"/>
              </a:defRPr>
            </a:pPr>
            <a:r>
              <a:t>ASSEMBLER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30175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B1D51"/>
                </a:solidFill>
                <a:latin typeface="Calibri"/>
              </a:defRPr>
            </a:pPr>
            <a:r>
              <a:t>One-to-One</a:t>
            </a:r>
            <a:br/>
            <a:r>
              <a:t>Translation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321040" y="2651760"/>
            <a:ext cx="1371600" cy="73152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966960" y="2103120"/>
            <a:ext cx="1828800" cy="182880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Machine Code</a:t>
            </a:r>
            <a:br/>
            <a:r>
              <a:t>(1GL)</a:t>
            </a:r>
            <a:br/>
            <a:br/>
            <a:r>
              <a:t>10110000</a:t>
            </a:r>
            <a:br/>
            <a:r>
              <a:t>00000101</a:t>
            </a:r>
            <a:br/>
            <a:r>
              <a:t>00000011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4572000"/>
            <a:ext cx="10058400" cy="118872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B1D51"/>
                </a:solidFill>
              </a:defRPr>
            </a:pPr>
            <a:r>
              <a:t>Key Facts: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One assembly instruction = One machine instruction (1:1 mapping)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Assembler is specific to processor architecture (x86, ARM, etc.)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Output is directly executable by the CPU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Compiler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Translates entire source code at once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Entire Source</a:t>
            </a:r>
            <a:br/>
            <a:r>
              <a:t>Code</a:t>
            </a:r>
            <a:br/>
            <a:br/>
            <a:r>
              <a:t>#include&lt;stdio.h&gt;</a:t>
            </a:r>
            <a:br/>
            <a:r>
              <a:t>int main() {</a:t>
            </a:r>
            <a:br/>
            <a:r>
              <a:t>  printf("Hello");</a:t>
            </a:r>
            <a:br/>
            <a:r>
              <a:t>  return 0;</a:t>
            </a:r>
            <a:br/>
            <a:r>
              <a:t>}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560320"/>
            <a:ext cx="1188720" cy="640080"/>
          </a:xfrm>
          <a:prstGeom prst="rightArrow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846320" y="1737360"/>
            <a:ext cx="2286000" cy="1188720"/>
          </a:xfrm>
          <a:prstGeom prst="round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COMPILER</a:t>
            </a:r>
            <a:br/>
            <a:br/>
            <a:r>
              <a:t>Translates</a:t>
            </a:r>
            <a:br/>
            <a:r>
              <a:t>ALL at once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406640" y="2560320"/>
            <a:ext cx="1188720" cy="6400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869680" y="1828800"/>
            <a:ext cx="2743200" cy="2011680"/>
          </a:xfrm>
          <a:prstGeom prst="round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Executable</a:t>
            </a:r>
            <a:br/>
            <a:r>
              <a:t>(.exe / .out)</a:t>
            </a:r>
            <a:br/>
            <a:br/>
            <a:r>
              <a:t>Ready to run</a:t>
            </a:r>
            <a:br/>
            <a:r>
              <a:t>independently!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16052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Translates ALL code at once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52628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887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Creates executable file (.exe)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4892040"/>
            <a:ext cx="137160" cy="1371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Shows ALL errors after compilation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5257800"/>
            <a:ext cx="137160" cy="1371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Faster execution (pre-compiled)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5623560"/>
            <a:ext cx="137160" cy="1371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Examples: C, C++, Go, Rust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206240"/>
            <a:ext cx="502920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Compiler = ALL at once, creates .exe, shows ALL errors. Remember: C for Compiler, C for Complete!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Interpreter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Translates and executes line by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2743200" cy="201168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Source Code</a:t>
            </a:r>
            <a:br/>
            <a:r>
              <a:t>(Line by Line)</a:t>
            </a:r>
            <a:br/>
            <a:br/>
            <a:r>
              <a:t>Line 1: x = 10</a:t>
            </a:r>
            <a:br/>
            <a:r>
              <a:t>Line 2: y = 20</a:t>
            </a:r>
            <a:br/>
            <a:r>
              <a:t>Line 3: print(x+y)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474720" y="2560320"/>
            <a:ext cx="1188720" cy="640080"/>
          </a:xfrm>
          <a:prstGeom prst="rightArrow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32918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E86C00"/>
                </a:solidFill>
                <a:latin typeface="Calibri"/>
              </a:defRPr>
            </a:pPr>
            <a:r>
              <a:t>one line</a:t>
            </a:r>
            <a:br/>
            <a:r>
              <a:t>at a time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1737360"/>
            <a:ext cx="2560320" cy="118872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INTERPRETER</a:t>
            </a:r>
            <a:br/>
            <a:br/>
            <a:r>
              <a:t>Translate &amp;</a:t>
            </a:r>
            <a:br/>
            <a:r>
              <a:t>Execute each line</a:t>
            </a:r>
          </a:p>
        </p:txBody>
      </p:sp>
      <p:sp>
        <p:nvSpPr>
          <p:cNvPr id="9" name="Right Arrow 8"/>
          <p:cNvSpPr/>
          <p:nvPr/>
        </p:nvSpPr>
        <p:spPr>
          <a:xfrm>
            <a:off x="7680960" y="2560320"/>
            <a:ext cx="1188720" cy="640080"/>
          </a:xfrm>
          <a:prstGeom prst="rightArrow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9144000" y="1828800"/>
            <a:ext cx="2560320" cy="2011680"/>
          </a:xfrm>
          <a:prstGeom prst="roundRect">
            <a:avLst/>
          </a:prstGeom>
          <a:solidFill>
            <a:srgbClr val="B74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Immediate</a:t>
            </a:r>
            <a:br/>
            <a:r>
              <a:t>Execution</a:t>
            </a:r>
            <a:br/>
            <a:br/>
            <a:r>
              <a:t>Output: 30</a:t>
            </a:r>
            <a:br/>
            <a:br/>
            <a:r>
              <a:t>No .exe created!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4160520"/>
            <a:ext cx="137160" cy="1371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0690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Line-by-line translation &amp; execution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52628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88720" y="44348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NO executable file created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892040"/>
            <a:ext cx="137160" cy="1371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88720" y="48006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Stops at FIRST error found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" y="5257800"/>
            <a:ext cx="137160" cy="13716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88720" y="51663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Slower execution (re-interprets each time)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5623560"/>
            <a:ext cx="137160" cy="137160"/>
          </a:xfrm>
          <a:prstGeom prst="ellipse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5532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333333"/>
                </a:solidFill>
                <a:latin typeface="Calibri"/>
              </a:defRPr>
            </a:pPr>
            <a:r>
              <a:t>Examples: Python, JavaScript, Ruby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0" y="4206240"/>
            <a:ext cx="5029200" cy="9144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Interpreter = Line by line, NO .exe, stops at FIRST error. Python uses interpreter (but also has bytecode compilation).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Compiler vs Interpreter — Comparison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Key differences every C-CAT aspirant must know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228600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Feature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4114800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Compiler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0" y="1371600"/>
            <a:ext cx="411480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500" b="1">
                <a:solidFill>
                  <a:srgbClr val="FFFFFF"/>
                </a:solidFill>
                <a:latin typeface="Calibri"/>
              </a:defRPr>
            </a:pPr>
            <a:r>
              <a:t>Interpreter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7452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Translation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87452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Entire program at once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0" y="187452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Line by line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37744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Executable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37744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Yes (.exe created)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0" y="237744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 executable created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88036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Execution Speed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288036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Faster (pre-compiled)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288036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Slower (re-interprets)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38328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Error Display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38328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ALL errors after compilation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20" y="338328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Stops at FIRST error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388620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Memory Usage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388620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More (stores executable)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0" y="388620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Less (no executable)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38912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Debugging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438912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Harder (all errors at once)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132320" y="438912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Easier (one error at time)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489204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Re-translation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489204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Not needed once compiled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4892040"/>
            <a:ext cx="4114800" cy="50292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Every time program runs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5394960"/>
            <a:ext cx="2286000" cy="502920"/>
          </a:xfrm>
          <a:prstGeom prst="rect">
            <a:avLst/>
          </a:prstGeom>
          <a:solidFill>
            <a:srgbClr val="E0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Examples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017520" y="539496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C, C++, Go, Rust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132320" y="5394960"/>
            <a:ext cx="41148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0">
                <a:solidFill>
                  <a:srgbClr val="333333"/>
                </a:solidFill>
                <a:latin typeface="Calibri"/>
              </a:defRPr>
            </a:pPr>
            <a:r>
              <a:t>Python, JavaScript, Ruby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669280"/>
            <a:ext cx="105156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Most frequently asked: Compiler creates executable, Interpreter does NOT. Compiler shows ALL errors, Interpreter stops at FIRST.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Java's Hybrid Approach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Both Compiled AND Interpreted!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828800"/>
            <a:ext cx="1920240" cy="1371600"/>
          </a:xfrm>
          <a:prstGeom prst="round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Source.java</a:t>
            </a:r>
            <a:br/>
            <a:br/>
            <a:r>
              <a:t>Human-readable</a:t>
            </a:r>
            <a:br/>
            <a:r>
              <a:t>Java code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331720" y="2286000"/>
            <a:ext cx="45720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880360" y="1828800"/>
            <a:ext cx="1920240" cy="1371600"/>
          </a:xfrm>
          <a:prstGeom prst="round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javac</a:t>
            </a:r>
            <a:br/>
            <a:r>
              <a:t>(Compiler)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46320" y="2286000"/>
            <a:ext cx="45720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394960" y="1828800"/>
            <a:ext cx="2011680" cy="13716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Bytecode</a:t>
            </a:r>
            <a:br/>
            <a:r>
              <a:t>(.class file)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452360" y="2286000"/>
            <a:ext cx="45720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01000" y="1828800"/>
            <a:ext cx="1920240" cy="137160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JVM</a:t>
            </a:r>
            <a:br/>
            <a:r>
              <a:t>(Interpreter / JIT)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966960" y="2286000"/>
            <a:ext cx="457200" cy="457200"/>
          </a:xfrm>
          <a:prstGeom prst="right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515600" y="1828800"/>
            <a:ext cx="1920240" cy="13716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Execution</a:t>
            </a:r>
            <a:br/>
            <a:r>
              <a:t>on any OS!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286000" y="3566160"/>
            <a:ext cx="7315200" cy="640080"/>
          </a:xfrm>
          <a:prstGeom prst="roundRect">
            <a:avLst/>
          </a:prstGeom>
          <a:solidFill>
            <a:srgbClr val="FFF0E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73152"/>
          <a:lstStyle/>
          <a:p>
            <a:pPr algn="ctr">
              <a:defRPr sz="1700" b="1">
                <a:solidFill>
                  <a:srgbClr val="E86C00"/>
                </a:solidFill>
                <a:latin typeface="Calibri"/>
              </a:defRPr>
            </a:pPr>
            <a:r>
              <a:t>Java is BOTH Compiled AND Interpreted — "Write Once, Run Anywhere" (WORA)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4389120"/>
            <a:ext cx="5029200" cy="1371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91440"/>
          <a:lstStyle/>
          <a:p>
            <a:pPr algn="ctr">
              <a:defRPr sz="1300" b="1">
                <a:solidFill>
                  <a:srgbClr val="0B1D51"/>
                </a:solidFill>
              </a:defRPr>
            </a:pPr>
            <a:r>
              <a:t>How it works: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Step 1: javac compiles .java to bytecode (.class)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Step 2: JVM interprets bytecode (or JIT compiles)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100" b="0">
                <a:solidFill>
                  <a:srgbClr val="333333"/>
                </a:solidFill>
                <a:latin typeface="Calibri"/>
              </a:defRPr>
            </a:pPr>
            <a:r>
              <a:t>  Step 3: Bytecode runs on ANY platform with JVM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4389120"/>
            <a:ext cx="5029200" cy="13716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If C-CAT asks 'Is Java compiled or interpreted?' — Answer: BOTH! Java uses a 2-step process. Bytecode is platform-independent. JVM makes it portable. JIT = Just-In-Time compiler inside JVM for speed.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Operating System as Intermediary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The bridge between User and Hardware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5486400" cy="731520"/>
          </a:xfrm>
          <a:prstGeom prst="round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USER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0" y="155448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9B9B"/>
                </a:solidFill>
                <a:latin typeface="Calibri"/>
              </a:defRPr>
            </a:pPr>
            <a:r>
              <a:t>Interacts via keyboard, mouse, touch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15000" y="2194560"/>
            <a:ext cx="457200" cy="457200"/>
          </a:xfrm>
          <a:prstGeom prst="down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2697480"/>
            <a:ext cx="5486400" cy="73152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APPLICATION SOFTWARE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278892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9B9B"/>
                </a:solidFill>
                <a:latin typeface="Calibri"/>
              </a:defRPr>
            </a:pPr>
            <a:r>
              <a:t>Word, Excel, Chrome, Games</a:t>
            </a:r>
          </a:p>
        </p:txBody>
      </p:sp>
      <p:sp>
        <p:nvSpPr>
          <p:cNvPr id="10" name="Down Arrow 9"/>
          <p:cNvSpPr/>
          <p:nvPr/>
        </p:nvSpPr>
        <p:spPr>
          <a:xfrm>
            <a:off x="5715000" y="3429000"/>
            <a:ext cx="457200" cy="457200"/>
          </a:xfrm>
          <a:prstGeom prst="down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00400" y="3931920"/>
            <a:ext cx="5486400" cy="731520"/>
          </a:xfrm>
          <a:prstGeom prst="round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OPERATING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0" y="402336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9B9B"/>
                </a:solidFill>
                <a:latin typeface="Calibri"/>
              </a:defRPr>
            </a:pPr>
            <a:r>
              <a:t>Manages all resources &amp; communication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15000" y="4663440"/>
            <a:ext cx="457200" cy="457200"/>
          </a:xfrm>
          <a:prstGeom prst="downArrow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5166360"/>
            <a:ext cx="5486400" cy="731520"/>
          </a:xfrm>
          <a:prstGeom prst="roundRect">
            <a:avLst/>
          </a:prstGeom>
          <a:solidFill>
            <a:srgbClr val="5D41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0" y="5257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B9B9B"/>
                </a:solidFill>
                <a:latin typeface="Calibri"/>
              </a:defRPr>
            </a:pPr>
            <a:r>
              <a:t>CPU, RAM, Disk, I/O Devices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A90D9"/>
                </a:solidFill>
                <a:latin typeface="Calibri"/>
              </a:defRPr>
            </a:pPr>
            <a:r>
              <a:t>Requests</a:t>
            </a:r>
            <a:br/>
            <a:r>
              <a:t>flow down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6576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7AE60"/>
                </a:solidFill>
                <a:latin typeface="Calibri"/>
              </a:defRPr>
            </a:pPr>
            <a:r>
              <a:t>Results</a:t>
            </a:r>
            <a:br/>
            <a:r>
              <a:t>flow up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5669280"/>
            <a:ext cx="91440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OS acts as Resource Manager and Intermediary. Without OS, users cannot interact with hardware directly.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Functions of an Operating System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6 core responsibilities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463040"/>
            <a:ext cx="731520" cy="731520"/>
          </a:xfrm>
          <a:prstGeom prst="ellipse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A3C8F"/>
                </a:solidFill>
                <a:latin typeface="Calibri"/>
              </a:defRPr>
            </a:pPr>
            <a:r>
              <a:t>Process</a:t>
            </a:r>
            <a:br/>
            <a:r>
              <a:t>Management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057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Creates, schedules &amp;</a:t>
            </a:r>
            <a:br/>
            <a:r>
              <a:t>terminates processes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51760"/>
            <a:ext cx="3474720" cy="27432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114800" y="1463040"/>
            <a:ext cx="731520" cy="73152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7AE60"/>
                </a:solidFill>
                <a:latin typeface="Calibri"/>
              </a:defRPr>
            </a:pPr>
            <a:r>
              <a:t>Memory</a:t>
            </a:r>
            <a:br/>
            <a:r>
              <a:t>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057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Allocates &amp; deallocates</a:t>
            </a:r>
            <a:br/>
            <a:r>
              <a:t>RAM for processes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651760"/>
            <a:ext cx="3474720" cy="2743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0" y="1463040"/>
            <a:ext cx="731520" cy="73152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FILES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41732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86C00"/>
                </a:solidFill>
                <a:latin typeface="Calibri"/>
              </a:defRPr>
            </a:pPr>
            <a:r>
              <a:t>File</a:t>
            </a:r>
            <a:br/>
            <a:r>
              <a:t>Management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0574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Creates, deletes, organizes</a:t>
            </a:r>
            <a:br/>
            <a:r>
              <a:t>files &amp; directories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651760"/>
            <a:ext cx="3474720" cy="27432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57200" y="3657600"/>
            <a:ext cx="731520" cy="73152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I/O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8E44AD"/>
                </a:solidFill>
                <a:latin typeface="Calibri"/>
              </a:defRPr>
            </a:pPr>
            <a:r>
              <a:t>I/O</a:t>
            </a:r>
            <a:br/>
            <a:r>
              <a:t>Management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Controls input/output</a:t>
            </a:r>
            <a:br/>
            <a:r>
              <a:t>device communication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3474720" cy="27432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114800" y="3657600"/>
            <a:ext cx="731520" cy="73152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LOCK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Security &amp;</a:t>
            </a:r>
            <a:br/>
            <a:r>
              <a:t>Protection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Authentication, access</a:t>
            </a:r>
            <a:br/>
            <a:r>
              <a:t>control, encryption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846320"/>
            <a:ext cx="3474720" cy="27432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72400" y="3657600"/>
            <a:ext cx="731520" cy="73152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NET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0" y="3611880"/>
            <a:ext cx="2560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9688"/>
                </a:solidFill>
                <a:latin typeface="Calibri"/>
              </a:defRPr>
            </a:pPr>
            <a:r>
              <a:t>Network</a:t>
            </a:r>
            <a:br/>
            <a:r>
              <a:t>Management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425196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Manages network</a:t>
            </a:r>
            <a:br/>
            <a:r>
              <a:t>connections &amp; protocols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846320"/>
            <a:ext cx="3474720" cy="27432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Types of Operating Systems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Classification by processing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256032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Type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371600"/>
            <a:ext cx="502920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2926080" cy="50292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Example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874520"/>
            <a:ext cx="2560320" cy="6858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Batch OS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1874520"/>
            <a:ext cx="502920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Jobs collected in batches, no user interaction during execution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874520"/>
            <a:ext cx="292608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Early IBM mainframes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60320"/>
            <a:ext cx="2560320" cy="6858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Multiprogramming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017520" y="256032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Multiple programs in memory; CPU switches when one waits for I/O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2560320"/>
            <a:ext cx="2926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IBM OS/360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46120"/>
            <a:ext cx="2560320" cy="6858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Multitasking /</a:t>
            </a:r>
            <a:br/>
            <a:r>
              <a:t>Time-sharing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017520" y="3246120"/>
            <a:ext cx="502920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CPU gives time slices to each process; appears simultaneous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246120"/>
            <a:ext cx="292608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Windows, Linux, macOS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2560320" cy="685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Real-time OS</a:t>
            </a:r>
            <a:br/>
            <a:r>
              <a:t>(RTOS)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17520" y="393192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Strict time deadlines; response guaranteed within time limit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46720" y="3931920"/>
            <a:ext cx="2926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VxWorks, FreeRTOS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617720"/>
            <a:ext cx="2560320" cy="68580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Distributed OS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017520" y="4617720"/>
            <a:ext cx="502920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Multiple computers work as one unified 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046720" y="4617720"/>
            <a:ext cx="2926080" cy="685800"/>
          </a:xfrm>
          <a:prstGeom prst="rect">
            <a:avLst/>
          </a:prstGeom>
          <a:solidFill>
            <a:srgbClr val="F0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Google's systems, Amoeba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5303520"/>
            <a:ext cx="2560320" cy="68580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Embedded 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017520" y="5303520"/>
            <a:ext cx="50292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Built into devices; limited resources, specific tasks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5303520"/>
            <a:ext cx="292608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Android Auto, Tizen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Multiprogramming vs Multitasking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CPU scheduling strategies compared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303520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MULTIPROGRAMMING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C8F"/>
                </a:solidFill>
                <a:latin typeface="Calibri"/>
              </a:defRPr>
            </a:pPr>
            <a:r>
              <a:t>Program 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Program 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Program C: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103120"/>
            <a:ext cx="137160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0" y="2103120"/>
            <a:ext cx="731520" cy="22860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0" y="2103120"/>
            <a:ext cx="73152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0" y="2468880"/>
            <a:ext cx="109728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754880" y="2468880"/>
            <a:ext cx="731520" cy="228600"/>
          </a:xfrm>
          <a:prstGeom prst="rect">
            <a:avLst/>
          </a:prstGeom>
          <a:solidFill>
            <a:srgbClr val="CCFF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54880" y="2834640"/>
            <a:ext cx="73152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CPU switches only on I/O wait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3566160"/>
            <a:ext cx="274320" cy="18288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= Running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3566160"/>
            <a:ext cx="274320" cy="182880"/>
          </a:xfrm>
          <a:prstGeom prst="rect">
            <a:avLst/>
          </a:prstGeom>
          <a:solidFill>
            <a:srgbClr val="CCDD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51760" y="35204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33333"/>
                </a:solidFill>
                <a:latin typeface="Calibri"/>
              </a:defRPr>
            </a:pPr>
            <a:r>
              <a:t>= I/O Wait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30352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MULTITASKING (Time-sharing)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1031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3C8F"/>
                </a:solidFill>
                <a:latin typeface="Calibri"/>
              </a:defRPr>
            </a:pPr>
            <a:r>
              <a:t>Program A: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4688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7AE60"/>
                </a:solidFill>
                <a:latin typeface="Calibri"/>
              </a:defRPr>
            </a:pPr>
            <a:r>
              <a:t>Program B: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834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86C00"/>
                </a:solidFill>
                <a:latin typeface="Calibri"/>
              </a:defRPr>
            </a:pPr>
            <a:r>
              <a:t>Program C: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22960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9536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834640"/>
            <a:ext cx="32004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969264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0058400" y="2834640"/>
            <a:ext cx="32004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042416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1078992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155680" y="2834640"/>
            <a:ext cx="320040" cy="2286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152144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88720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261872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298448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3716000" y="2103120"/>
            <a:ext cx="320040" cy="22860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4081760" y="2468880"/>
            <a:ext cx="320040" cy="2286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0" y="32004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Calibri"/>
              </a:defRPr>
            </a:pPr>
            <a:r>
              <a:t>CPU gives fixed time slices (rapid switching)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4114800"/>
            <a:ext cx="10972800" cy="182880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0B1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500" b="1">
                <a:solidFill>
                  <a:srgbClr val="0B1D51"/>
                </a:solidFill>
              </a:defRPr>
            </a:pPr>
            <a:r>
              <a:t>Key Difference: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1A3C8F"/>
                </a:solidFill>
                <a:latin typeface="Calibri"/>
              </a:defRPr>
            </a:pPr>
            <a:r>
              <a:t>Multiprogramming: CPU switches to another program ONLY when current program requests I/O (event-driven)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300" b="1">
                <a:solidFill>
                  <a:srgbClr val="E86C00"/>
                </a:solidFill>
                <a:latin typeface="Calibri"/>
              </a:defRPr>
            </a:pPr>
            <a:r>
              <a:t>Multitasking: CPU gives each program a fixed TIME SLICE and switches rapidly (time-driven)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Both keep CPU busy, but multitasking provides better response time for interactive users.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6035040"/>
            <a:ext cx="109728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C-CAT favorite! Multiprogramming = switch on I/O wait. Multitasking = switch on time slice. Both != parallel execution.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5 Properties of a Good Algorithm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Essential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371600"/>
            <a:ext cx="548640" cy="548640"/>
          </a:xfrm>
          <a:prstGeom prst="ellipse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A3C8F"/>
                </a:solidFill>
                <a:latin typeface="Calibri"/>
              </a:defRPr>
            </a:pPr>
            <a: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6916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Zero or more inputs from external source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371600"/>
            <a:ext cx="5943600" cy="5486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Algorithm may take inputs, but it's not mandatory (e.g., print 'Hello')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057400"/>
            <a:ext cx="109728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7200" y="2286000"/>
            <a:ext cx="548640" cy="54864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2402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7AE60"/>
                </a:solidFill>
                <a:latin typeface="Calibri"/>
              </a:defRPr>
            </a:pPr>
            <a:r>
              <a:t>Output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6060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At least one output must be produced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0" y="2286000"/>
            <a:ext cx="5943600" cy="5486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Every algorithm MUST produce at least one result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971800"/>
            <a:ext cx="109728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57200" y="3200400"/>
            <a:ext cx="548640" cy="548640"/>
          </a:xfrm>
          <a:prstGeom prst="ellipse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1546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6C00"/>
                </a:solidFill>
                <a:latin typeface="Calibri"/>
              </a:defRPr>
            </a:pPr>
            <a:r>
              <a:t>Definiteness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5204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Each step must be clear and unambiguous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0" y="3200400"/>
            <a:ext cx="5943600" cy="5486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No vague instructions like 'do something' — must be precise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886200"/>
            <a:ext cx="109728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57200" y="4114800"/>
            <a:ext cx="548640" cy="54864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40690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  <a:latin typeface="Calibri"/>
              </a:defRPr>
            </a:pPr>
            <a:r>
              <a:t>Finiteness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44348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Must terminate after finite number of steps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0" y="4114800"/>
            <a:ext cx="5943600" cy="5486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An infinite loop is NOT an algorithm — it must 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800600"/>
            <a:ext cx="10972800" cy="13716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7200" y="5029200"/>
            <a:ext cx="548640" cy="548640"/>
          </a:xfrm>
          <a:prstGeom prst="ellipse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20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9834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8E44AD"/>
                </a:solidFill>
                <a:latin typeface="Calibri"/>
              </a:defRPr>
            </a:pPr>
            <a:r>
              <a:t>Effectiveness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349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Each step must be feasible and executable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5029200"/>
            <a:ext cx="5943600" cy="548640"/>
          </a:xfrm>
          <a:prstGeom prst="roundRect">
            <a:avLst/>
          </a:prstGeom>
          <a:solidFill>
            <a:srgbClr val="F0F2F5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0">
                <a:solidFill>
                  <a:srgbClr val="333333"/>
                </a:solidFill>
                <a:latin typeface="Calibri"/>
              </a:defRPr>
            </a:pPr>
            <a:r>
              <a:t>Steps must be basic enough to be carried out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57200" y="5760720"/>
            <a:ext cx="109728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Remember: I-O-D-F-E. Input (0+), Output (1+), Definiteness, Finiteness, Effectiveness. Output is the ONLY mandatory one (at least 1).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Flowchart Symbols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Standard symbols used in flowcharting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1554480"/>
            <a:ext cx="1371600" cy="822960"/>
          </a:xfrm>
          <a:prstGeom prst="ellipse">
            <a:avLst/>
          </a:prstGeom>
          <a:solidFill>
            <a:srgbClr val="1A3C8F"/>
          </a:solidFill>
          <a:ln w="2540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14630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A3C8F"/>
                </a:solidFill>
                <a:latin typeface="Calibri"/>
              </a:defRPr>
            </a:pPr>
            <a:r>
              <a:t>Terminal</a:t>
            </a:r>
            <a:br/>
            <a:r>
              <a:t>(Oval)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START / STOP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560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114800" y="1554480"/>
            <a:ext cx="1371600" cy="822960"/>
          </a:xfrm>
          <a:prstGeom prst="rect">
            <a:avLst/>
          </a:prstGeom>
          <a:solidFill>
            <a:srgbClr val="27AE60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14630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7AE60"/>
                </a:solidFill>
                <a:latin typeface="Calibri"/>
              </a:defRPr>
            </a:pPr>
            <a:r>
              <a:t>Process</a:t>
            </a:r>
            <a:br/>
            <a:r>
              <a:t>(Rectangle)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Computation /</a:t>
            </a:r>
            <a:br/>
            <a:r>
              <a:t>Assignment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0" y="2560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iamond 12"/>
          <p:cNvSpPr/>
          <p:nvPr/>
        </p:nvSpPr>
        <p:spPr>
          <a:xfrm>
            <a:off x="7772400" y="1554480"/>
            <a:ext cx="1371600" cy="822960"/>
          </a:xfrm>
          <a:prstGeom prst="diamond">
            <a:avLst/>
          </a:prstGeom>
          <a:solidFill>
            <a:srgbClr val="E86C00"/>
          </a:solidFill>
          <a:ln w="254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0" y="1463039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6C00"/>
                </a:solidFill>
                <a:latin typeface="Calibri"/>
              </a:defRPr>
            </a:pPr>
            <a:r>
              <a:t>Decision</a:t>
            </a:r>
            <a:br/>
            <a:r>
              <a:t>(Diamond)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2011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Yes/No</a:t>
            </a:r>
            <a:br/>
            <a: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0" y="2560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Parallelogram 16"/>
          <p:cNvSpPr/>
          <p:nvPr/>
        </p:nvSpPr>
        <p:spPr>
          <a:xfrm>
            <a:off x="457200" y="3840480"/>
            <a:ext cx="1371600" cy="822960"/>
          </a:xfrm>
          <a:prstGeom prst="parallelogram">
            <a:avLst/>
          </a:prstGeom>
          <a:solidFill>
            <a:srgbClr val="8E44AD"/>
          </a:solidFill>
          <a:ln w="2540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0" y="3749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E44AD"/>
                </a:solidFill>
                <a:latin typeface="Calibri"/>
              </a:defRPr>
            </a:pPr>
            <a:r>
              <a:t>Input/Output</a:t>
            </a:r>
            <a:br/>
            <a:r>
              <a:t>(Parallelogram)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READ / PRINT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846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ight Arrow 20"/>
          <p:cNvSpPr/>
          <p:nvPr/>
        </p:nvSpPr>
        <p:spPr>
          <a:xfrm>
            <a:off x="4114800" y="3840480"/>
            <a:ext cx="1371600" cy="822960"/>
          </a:xfrm>
          <a:prstGeom prst="rightArrow">
            <a:avLst/>
          </a:prstGeom>
          <a:solidFill>
            <a:srgbClr val="009688"/>
          </a:solidFill>
          <a:ln w="25400"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0" y="3749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9688"/>
                </a:solidFill>
                <a:latin typeface="Calibri"/>
              </a:defRPr>
            </a:pPr>
            <a:r>
              <a:t>Flow Lines</a:t>
            </a:r>
            <a:br/>
            <a:r>
              <a:t>(Arrows)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92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Direction</a:t>
            </a:r>
            <a:br/>
            <a:r>
              <a:t>of flow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4846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138160" y="3931920"/>
            <a:ext cx="640080" cy="64008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9326880" y="37490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  <a:latin typeface="Calibri"/>
              </a:defRPr>
            </a:pPr>
            <a:r>
              <a:t>Connector</a:t>
            </a:r>
            <a:br/>
            <a:r>
              <a:t>(Circle)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26880" y="429768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333333"/>
                </a:solidFill>
                <a:latin typeface="Calibri"/>
              </a:defRPr>
            </a:pPr>
            <a:r>
              <a:t>Join different</a:t>
            </a:r>
            <a:br/>
            <a:r>
              <a:t>parts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72400" y="4846320"/>
            <a:ext cx="3200400" cy="18288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57200" y="5669280"/>
            <a:ext cx="10972800" cy="54864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Diamond = Decision (Yes/No). Parallelogram = I/O. Rectangle = Process. Oval = Start/Stop. These are C-CAT favorites!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Flowchart Example: Largest of 3 Numbers (A, B, C)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Step-by-step visual logic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Oval 4"/>
          <p:cNvSpPr/>
          <p:nvPr/>
        </p:nvSpPr>
        <p:spPr>
          <a:xfrm>
            <a:off x="5029200" y="1280160"/>
            <a:ext cx="1645920" cy="45720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6" name="Down Arrow 5"/>
          <p:cNvSpPr/>
          <p:nvPr/>
        </p:nvSpPr>
        <p:spPr>
          <a:xfrm>
            <a:off x="5623560" y="1737360"/>
            <a:ext cx="32004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arallelogram 6"/>
          <p:cNvSpPr/>
          <p:nvPr/>
        </p:nvSpPr>
        <p:spPr>
          <a:xfrm>
            <a:off x="4754880" y="2103120"/>
            <a:ext cx="2194560" cy="457200"/>
          </a:xfrm>
          <a:prstGeom prst="parallelogram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Read A, B, C</a:t>
            </a:r>
          </a:p>
        </p:txBody>
      </p:sp>
      <p:sp>
        <p:nvSpPr>
          <p:cNvPr id="8" name="Down Arrow 7"/>
          <p:cNvSpPr/>
          <p:nvPr/>
        </p:nvSpPr>
        <p:spPr>
          <a:xfrm>
            <a:off x="5623560" y="2560320"/>
            <a:ext cx="320040" cy="32004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iamond 8"/>
          <p:cNvSpPr/>
          <p:nvPr/>
        </p:nvSpPr>
        <p:spPr>
          <a:xfrm>
            <a:off x="4754880" y="2926080"/>
            <a:ext cx="2194560" cy="640080"/>
          </a:xfrm>
          <a:prstGeom prst="diamond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 &gt; B 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1" name="Diamond 10"/>
          <p:cNvSpPr/>
          <p:nvPr/>
        </p:nvSpPr>
        <p:spPr>
          <a:xfrm>
            <a:off x="1828800" y="3566160"/>
            <a:ext cx="1828800" cy="640080"/>
          </a:xfrm>
          <a:prstGeom prst="diamond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 &gt; C 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6576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274320" y="4297680"/>
            <a:ext cx="1371600" cy="41148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Print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5" name="Parallelogram 14"/>
          <p:cNvSpPr/>
          <p:nvPr/>
        </p:nvSpPr>
        <p:spPr>
          <a:xfrm>
            <a:off x="2011680" y="4572000"/>
            <a:ext cx="1371600" cy="41148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Print 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301752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Diamond 16"/>
          <p:cNvSpPr/>
          <p:nvPr/>
        </p:nvSpPr>
        <p:spPr>
          <a:xfrm>
            <a:off x="7772400" y="3566160"/>
            <a:ext cx="1828800" cy="640080"/>
          </a:xfrm>
          <a:prstGeom prst="diamond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 &gt; C 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9" name="Parallelogram 18"/>
          <p:cNvSpPr/>
          <p:nvPr/>
        </p:nvSpPr>
        <p:spPr>
          <a:xfrm>
            <a:off x="7315200" y="4572000"/>
            <a:ext cx="1371600" cy="41148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Print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25196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E74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1" name="Parallelogram 20"/>
          <p:cNvSpPr/>
          <p:nvPr/>
        </p:nvSpPr>
        <p:spPr>
          <a:xfrm>
            <a:off x="9418320" y="4572000"/>
            <a:ext cx="1371600" cy="41148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Print C</a:t>
            </a:r>
          </a:p>
        </p:txBody>
      </p:sp>
      <p:sp>
        <p:nvSpPr>
          <p:cNvPr id="22" name="Oval 21"/>
          <p:cNvSpPr/>
          <p:nvPr/>
        </p:nvSpPr>
        <p:spPr>
          <a:xfrm>
            <a:off x="5029200" y="5303520"/>
            <a:ext cx="1645920" cy="45720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STOP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943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Calibri"/>
              </a:defRPr>
            </a:pPr>
            <a:r>
              <a:t>Note: All 'Print' outputs connect to STOP. This is a classic C-CAT flowchart question — practice tracing with different values!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Pseudocode Example: Even or Odd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Flowchart vs Pseudocode side by side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FLOWCHART</a:t>
            </a:r>
          </a:p>
        </p:txBody>
      </p:sp>
      <p:sp>
        <p:nvSpPr>
          <p:cNvPr id="6" name="Oval 5"/>
          <p:cNvSpPr/>
          <p:nvPr/>
        </p:nvSpPr>
        <p:spPr>
          <a:xfrm>
            <a:off x="1828800" y="2011680"/>
            <a:ext cx="1371600" cy="365760"/>
          </a:xfrm>
          <a:prstGeom prst="ellipse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START</a:t>
            </a:r>
          </a:p>
        </p:txBody>
      </p:sp>
      <p:sp>
        <p:nvSpPr>
          <p:cNvPr id="7" name="Down Arrow 6"/>
          <p:cNvSpPr/>
          <p:nvPr/>
        </p:nvSpPr>
        <p:spPr>
          <a:xfrm>
            <a:off x="2331720" y="2377440"/>
            <a:ext cx="274320" cy="22860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arallelogram 7"/>
          <p:cNvSpPr/>
          <p:nvPr/>
        </p:nvSpPr>
        <p:spPr>
          <a:xfrm>
            <a:off x="1371600" y="2651760"/>
            <a:ext cx="2286000" cy="365760"/>
          </a:xfrm>
          <a:prstGeom prst="parallelogram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READ number</a:t>
            </a:r>
          </a:p>
        </p:txBody>
      </p:sp>
      <p:sp>
        <p:nvSpPr>
          <p:cNvPr id="9" name="Down Arrow 8"/>
          <p:cNvSpPr/>
          <p:nvPr/>
        </p:nvSpPr>
        <p:spPr>
          <a:xfrm>
            <a:off x="2331720" y="3017520"/>
            <a:ext cx="274320" cy="22860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iamond 9"/>
          <p:cNvSpPr/>
          <p:nvPr/>
        </p:nvSpPr>
        <p:spPr>
          <a:xfrm>
            <a:off x="1371600" y="3291840"/>
            <a:ext cx="2286000" cy="548640"/>
          </a:xfrm>
          <a:prstGeom prst="diamond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number MOD 2</a:t>
            </a:r>
            <a:br/>
            <a:r>
              <a:t>== 0 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27AE60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2" name="Parallelogram 11"/>
          <p:cNvSpPr/>
          <p:nvPr/>
        </p:nvSpPr>
        <p:spPr>
          <a:xfrm>
            <a:off x="182880" y="4023360"/>
            <a:ext cx="1371600" cy="36576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Print 'Even'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3383280"/>
            <a:ext cx="731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74C3C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4" name="Parallelogram 13"/>
          <p:cNvSpPr/>
          <p:nvPr/>
        </p:nvSpPr>
        <p:spPr>
          <a:xfrm>
            <a:off x="3474720" y="4023360"/>
            <a:ext cx="1371600" cy="365760"/>
          </a:xfrm>
          <a:prstGeom prst="parallelogram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Print 'Odd'</a:t>
            </a:r>
          </a:p>
        </p:txBody>
      </p:sp>
      <p:sp>
        <p:nvSpPr>
          <p:cNvPr id="15" name="Oval 14"/>
          <p:cNvSpPr/>
          <p:nvPr/>
        </p:nvSpPr>
        <p:spPr>
          <a:xfrm>
            <a:off x="1828800" y="4663440"/>
            <a:ext cx="1371600" cy="365760"/>
          </a:xfrm>
          <a:prstGeom prst="ellipse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STOP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0" y="1371600"/>
            <a:ext cx="36576" cy="4114800"/>
          </a:xfrm>
          <a:prstGeom prst="rect">
            <a:avLst/>
          </a:prstGeom>
          <a:solidFill>
            <a:srgbClr val="9B9B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371600"/>
            <a:ext cx="5029200" cy="4572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PSEUDOCODE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2011680"/>
            <a:ext cx="5029200" cy="3200400"/>
          </a:xfrm>
          <a:prstGeom prst="roundRect">
            <a:avLst/>
          </a:prstGeom>
          <a:solidFill>
            <a:srgbClr val="1E1E2E"/>
          </a:solidFill>
          <a:ln w="19050">
            <a:solidFill>
              <a:srgbClr val="4A90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82880"/>
          <a:lstStyle/>
          <a:p>
            <a:pPr algn="ctr"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4A90D9"/>
                </a:solidFill>
                <a:latin typeface="Consolas"/>
              </a:defRPr>
            </a:pPr>
            <a:r>
              <a:t>BEGIN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BBFF"/>
                </a:solidFill>
                <a:latin typeface="Consolas"/>
              </a:defRPr>
            </a:pPr>
            <a:r>
              <a:t>    READ number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D700"/>
                </a:solidFill>
                <a:latin typeface="Consolas"/>
              </a:defRPr>
            </a:pPr>
            <a:r>
              <a:t>    IF number MOD 2 == 0 THEN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27AE60"/>
                </a:solidFill>
                <a:latin typeface="Consolas"/>
              </a:defRPr>
            </a:pPr>
            <a:r>
              <a:t>        PRINT "Even"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D700"/>
                </a:solidFill>
                <a:latin typeface="Consolas"/>
              </a:defRPr>
            </a:pPr>
            <a:r>
              <a:t>    ELSE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27AE60"/>
                </a:solidFill>
                <a:latin typeface="Consolas"/>
              </a:defRPr>
            </a:pPr>
            <a:r>
              <a:t>        PRINT "Odd"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D700"/>
                </a:solidFill>
                <a:latin typeface="Consolas"/>
              </a:defRPr>
            </a:pPr>
            <a:r>
              <a:t>    ENDIF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FFFFFF"/>
                </a:solidFill>
                <a:latin typeface="Consolas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4A90D9"/>
                </a:solidFill>
                <a:latin typeface="Consolas"/>
              </a:defRPr>
            </a:pPr>
            <a:r>
              <a:t>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5303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  <a:latin typeface="Calibri"/>
              </a:defRPr>
            </a:pPr>
            <a:r>
              <a:t>Flowchart shapes map directly to pseudocode constructs: Oval = BEGIN/END, Parallelogram = READ/PRINT, Diamond = IF-ELSE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5760720"/>
            <a:ext cx="109728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Pseudocode uses structured English — no specific syntax. Focus on logic, not language rules. MOD gives remainder.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Top-Down Design (Stepwise Refinement)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Breaking complex problems into manageable modules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114800" y="1371600"/>
            <a:ext cx="3657600" cy="640080"/>
          </a:xfrm>
          <a:prstGeom prst="round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MAIN PROBLEM</a:t>
            </a:r>
            <a:br/>
            <a:r>
              <a:t>(Student Result System)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2286000" y="2011680"/>
            <a:ext cx="3657600" cy="54864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914400" y="2560320"/>
            <a:ext cx="2743200" cy="594360"/>
          </a:xfrm>
          <a:prstGeom prst="round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Input</a:t>
            </a:r>
            <a:br/>
            <a:r>
              <a:t>Module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0" y="2011680"/>
            <a:ext cx="0" cy="54864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572000" y="2560320"/>
            <a:ext cx="2743200" cy="59436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Processing</a:t>
            </a:r>
            <a:br/>
            <a:r>
              <a:t>Module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0" y="2011680"/>
            <a:ext cx="3657600" cy="548640"/>
          </a:xfrm>
          <a:prstGeom prst="line">
            <a:avLst/>
          </a:prstGeom>
          <a:ln w="19050">
            <a:solidFill>
              <a:srgbClr val="3333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229600" y="2560320"/>
            <a:ext cx="2743200" cy="594360"/>
          </a:xfrm>
          <a:prstGeom prst="round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Output</a:t>
            </a:r>
            <a:br/>
            <a:r>
              <a:t>Module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914400" y="3154680"/>
            <a:ext cx="1371600" cy="411480"/>
          </a:xfrm>
          <a:prstGeom prst="line">
            <a:avLst/>
          </a:prstGeom>
          <a:ln w="1270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" y="3566160"/>
            <a:ext cx="1280160" cy="54864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  <a:br/>
            <a:r>
              <a:t>Names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286000" y="3154680"/>
            <a:ext cx="182880" cy="411480"/>
          </a:xfrm>
          <a:prstGeom prst="line">
            <a:avLst/>
          </a:prstGeom>
          <a:ln w="12700">
            <a:solidFill>
              <a:srgbClr val="1A3C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828800" y="3566160"/>
            <a:ext cx="1280160" cy="548640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Read</a:t>
            </a:r>
            <a:br/>
            <a:r>
              <a:t>Marks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4434840" y="3154680"/>
            <a:ext cx="1508760" cy="41148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3840480" y="3566160"/>
            <a:ext cx="128016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Calculate</a:t>
            </a:r>
            <a:br/>
            <a:r>
              <a:t>Total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43600" y="3154680"/>
            <a:ext cx="137160" cy="41148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86400" y="3566160"/>
            <a:ext cx="128016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Calculate</a:t>
            </a:r>
            <a:br/>
            <a:r>
              <a:t>Percentage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43600" y="3154680"/>
            <a:ext cx="1783079" cy="41148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132320" y="3566160"/>
            <a:ext cx="1280160" cy="548640"/>
          </a:xfrm>
          <a:prstGeom prst="round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Assign</a:t>
            </a:r>
            <a:br/>
            <a:r>
              <a:t>Grade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9006840" y="3154680"/>
            <a:ext cx="594360" cy="411480"/>
          </a:xfrm>
          <a:prstGeom prst="line">
            <a:avLst/>
          </a:prstGeom>
          <a:ln w="127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8412480" y="3566160"/>
            <a:ext cx="1280160" cy="548640"/>
          </a:xfrm>
          <a:prstGeom prst="roundRect">
            <a:avLst/>
          </a:prstGeom>
          <a:solidFill>
            <a:srgbClr val="E0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Display</a:t>
            </a:r>
            <a:br/>
            <a:r>
              <a:t>Result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01200" y="3154680"/>
            <a:ext cx="868680" cy="411480"/>
          </a:xfrm>
          <a:prstGeom prst="line">
            <a:avLst/>
          </a:prstGeom>
          <a:ln w="12700">
            <a:solidFill>
              <a:srgbClr val="E86C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875520" y="3566160"/>
            <a:ext cx="1280160" cy="548640"/>
          </a:xfrm>
          <a:prstGeom prst="roundRect">
            <a:avLst/>
          </a:prstGeom>
          <a:solidFill>
            <a:srgbClr val="E08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Print</a:t>
            </a:r>
            <a:br/>
            <a:r>
              <a:t>Report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4572000"/>
            <a:ext cx="10972800" cy="1371600"/>
          </a:xfrm>
          <a:prstGeom prst="roundRect">
            <a:avLst/>
          </a:prstGeom>
          <a:solidFill>
            <a:srgbClr val="F0F2F5"/>
          </a:solidFill>
          <a:ln w="12700">
            <a:solidFill>
              <a:srgbClr val="0B1D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91440"/>
          <a:lstStyle/>
          <a:p>
            <a:pPr algn="ctr">
              <a:defRPr sz="1400" b="1">
                <a:solidFill>
                  <a:srgbClr val="0B1D51"/>
                </a:solidFill>
              </a:defRPr>
            </a:pPr>
            <a:r>
              <a:t>Benefits of Top-Down Design: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Simplifies complex problems into smaller, manageable sub-problems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Each module can be developed and tested independently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Promotes code reusability and easier maintenance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200" b="0">
                <a:solidFill>
                  <a:srgbClr val="333333"/>
                </a:solidFill>
                <a:latin typeface="Calibri"/>
              </a:defRPr>
            </a:pPr>
            <a:r>
              <a:t>  Also called 'Divide and Conquer' approach in problem solving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Day 3 — Quick Revision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Key facts for C-CAT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36576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Software Classification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System SW: OS, Translators, Drivers, Utilities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Application SW: General, Special, Custom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468879"/>
            <a:ext cx="50292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Language Translators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88036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Compiler: ALL at once, creates .exe, ALL errors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15467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Interpreter: Line by line, NO .exe, FIRST error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2899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Assembler: 1-to-1, Assembly to Machine code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Java = BOTH compiled AND interpreted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5029200" cy="36576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Language Generations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5262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1GL=Machine, 2GL=Assembly, 3GL=High-level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4GL=SQL/MATLAB, 5GL=Prolog/AI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Operating Systems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78308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OS = Intermediary between User &amp; Hardware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0574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Functions: Process, Memory, File, I/O, Security, Network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3317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Multiprogramming: switch on I/O wait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060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Multitasking: switch on time slice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3017519"/>
            <a:ext cx="5029200" cy="365760"/>
          </a:xfrm>
          <a:prstGeom prst="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Algorithms &amp; Flowcharts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42899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5 properties: Input, Output, Definiteness, Finiteness, Effectiveness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7033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7 symbols: Terminal, Process, Decision, I/O, Flow, Connector, Preparation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3977639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Pseudocode = structured English for logic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4389120"/>
            <a:ext cx="5029200" cy="36576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Top-Down Design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80060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Break big problem into sub-problems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5074920"/>
            <a:ext cx="4846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33333"/>
                </a:solidFill>
                <a:latin typeface="Calibri"/>
              </a:defRPr>
            </a:pPr>
            <a:r>
              <a:t>  Also called Stepwise Refinement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/>
          <a:lstStyle/>
          <a:p>
            <a:pPr algn="l">
              <a:spcBef>
                <a:spcPts val="800"/>
              </a:spcBef>
              <a:defRPr sz="3000" b="1">
                <a:solidFill>
                  <a:srgbClr val="FFFFFF"/>
                </a:solidFill>
                <a:latin typeface="Calibri"/>
              </a:defRPr>
            </a:pPr>
            <a:r>
              <a:t>Module 1 Complete Revision — All 3 Days</a:t>
            </a:r>
          </a:p>
          <a:p>
            <a:pPr algn="l">
              <a:spcBef>
                <a:spcPts val="400"/>
              </a:spcBef>
              <a:spcAft>
                <a:spcPts val="200"/>
              </a:spcAft>
              <a:defRPr sz="1500" b="0">
                <a:solidFill>
                  <a:srgbClr val="AACCFF"/>
                </a:solidFill>
                <a:latin typeface="Calibri"/>
              </a:defRPr>
            </a:pPr>
            <a:r>
              <a:t>Master Summary for C-CAT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45720"/>
          </a:xfrm>
          <a:prstGeom prst="rect">
            <a:avLst/>
          </a:prstGeom>
          <a:solidFill>
            <a:srgbClr val="4A90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0B1D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99AACC"/>
                </a:solidFill>
                <a:latin typeface="Calibri"/>
              </a:defRPr>
            </a:pPr>
            <a:r>
              <a:t>Day 3 | C-CAT Preparation | Software, OS &amp; Programming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3657600" cy="502920"/>
          </a:xfrm>
          <a:prstGeom prst="rect">
            <a:avLst/>
          </a:prstGeom>
          <a:solidFill>
            <a:srgbClr val="1A3C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1: Hardware &amp; Numbers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828800"/>
            <a:ext cx="3657600" cy="4114800"/>
          </a:xfrm>
          <a:prstGeom prst="roundRect">
            <a:avLst/>
          </a:prstGeom>
          <a:solidFill>
            <a:srgbClr val="E8F0FE"/>
          </a:solidFill>
          <a:ln w="19050">
            <a:solidFill>
              <a:srgbClr val="1A3C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Computer Generations (1-5)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1G=Vacuum, 2G=Transistor, 3G=IC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4G=Microprocessor, 5G=AI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CPU: ALU + CU + Registers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ALU=Arithmetic+Logic, CU=Control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Bus: Data, Address, Control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Number Systems: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Binary(2), Octal(8), Decimal(10), Hex(16)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Conversions: Divide method, Positional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1's complement: Flip all bits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2's complement: 1's comp + 1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1A3C8F"/>
                </a:solidFill>
                <a:latin typeface="Calibri"/>
              </a:defRPr>
            </a:pPr>
            <a:r>
              <a:t>IEEE 754: Sign + Exponent + Mantissa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1280160"/>
            <a:ext cx="3657600" cy="5029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2: Logic &amp; Storage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0" y="1828800"/>
            <a:ext cx="3657600" cy="4114800"/>
          </a:xfrm>
          <a:prstGeom prst="roundRect">
            <a:avLst/>
          </a:prstGeom>
          <a:solidFill>
            <a:srgbClr val="E8F8E8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Boolean Algebra Laws: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De Morgan's: (A+B)' = A'.B'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Absorption, Idempotent, Identity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Logic Gates (7):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AND, OR, NOT, NAND, NOR, XOR, XNOR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NAND &amp; NOR = Universal gates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Half Adder: Sum=XOR, Carry=AND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Full Adder: 3 inputs (A, B, Cin)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Storage Hierarchy: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Register &gt; Cache &gt; RAM &gt; SSD &gt; HDD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Speed decreases, Capacity increases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Units: 1 KB=1024 B, TB, PB, EB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27AE60"/>
                </a:solidFill>
                <a:latin typeface="Calibri"/>
              </a:defRPr>
            </a:pPr>
            <a:r>
              <a:t>Types: Primary (RAM/ROM) vs Secondary</a:t>
            </a:r>
          </a:p>
        </p:txBody>
      </p:sp>
      <p:sp>
        <p:nvSpPr>
          <p:cNvPr id="9" name="Rectangle 8"/>
          <p:cNvSpPr/>
          <p:nvPr/>
        </p:nvSpPr>
        <p:spPr>
          <a:xfrm>
            <a:off x="8138160" y="1280160"/>
            <a:ext cx="3657600" cy="50292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36576" bIns="36576"/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DAY 3: Software &amp; 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828800"/>
            <a:ext cx="3657600" cy="4114800"/>
          </a:xfrm>
          <a:prstGeom prst="roundRect">
            <a:avLst/>
          </a:prstGeom>
          <a:solidFill>
            <a:srgbClr val="FFF3E0"/>
          </a:solidFill>
          <a:ln w="190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91440"/>
          <a:lstStyle/>
          <a:p>
            <a:pPr algn="ctr"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Software: System vs Application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System: OS, Translators, Drivers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Application: General, Special, Custom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Languages: 1GL to 5GL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3GL = C, Java, Python (most common)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Compiler vs Interpreter: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Compiler: All at once, .exe, all errors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Interpreter: Line by line, no .exe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Java = Both (javac + JVM)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OS Functions: Process, Memory, File,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I/O, Security, Networking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OS Types: Batch, Multiprogramming,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0">
                <a:solidFill>
                  <a:srgbClr val="333333"/>
                </a:solidFill>
                <a:latin typeface="Calibri"/>
              </a:defRPr>
            </a:pPr>
            <a:r>
              <a:t>  Multitasking, Real-time, Distributed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Algorithm: 5 properties (I-O-D-F-E)</a:t>
            </a:r>
          </a:p>
          <a:p>
            <a:pPr>
              <a:spcBef>
                <a:spcPts val="200"/>
              </a:spcBef>
              <a:spcAft>
                <a:spcPts val="100"/>
              </a:spcAft>
              <a:defRPr sz="900" b="1">
                <a:solidFill>
                  <a:srgbClr val="E86C00"/>
                </a:solidFill>
                <a:latin typeface="Calibri"/>
              </a:defRPr>
            </a:pPr>
            <a:r>
              <a:t>Flowchart: 7 standard symbols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4320" y="6035040"/>
            <a:ext cx="11430000" cy="457200"/>
          </a:xfrm>
          <a:prstGeom prst="roundRect">
            <a:avLst/>
          </a:prstGeom>
          <a:solidFill>
            <a:srgbClr val="FFF8E1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/>
          <a:lstStyle/>
          <a:p>
            <a:pPr algn="ctr">
              <a:defRPr sz="1300" b="1">
                <a:solidFill>
                  <a:srgbClr val="E86C00"/>
                </a:solidFill>
                <a:latin typeface="Calibri"/>
              </a:defRPr>
            </a:pPr>
            <a:r>
              <a:t>C-CAT TIP</a:t>
            </a:r>
          </a:p>
          <a:p>
            <a:pPr>
              <a:spcBef>
                <a:spcPts val="400"/>
              </a:spcBef>
              <a:defRPr sz="1200" b="0">
                <a:solidFill>
                  <a:srgbClr val="333333"/>
                </a:solidFill>
                <a:latin typeface="Calibri"/>
              </a:defRPr>
            </a:pPr>
            <a:r>
              <a:t>Module 1 covers 30-40% of C-CAT Computer Organization questions. Master these fundamentals before moving to Module 2!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