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212121"/>
                </a:solidFill>
                <a:latin typeface="Calibri"/>
              </a:rPr>
              <a:t>Evolution of Computers — Five Generations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757575"/>
                </a:solidFill>
                <a:latin typeface="Calibri"/>
              </a:rPr>
              <a:t>From room-sized machines to artificial intelligence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640080" y="3511296"/>
            <a:ext cx="10972800" cy="109728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920240" cy="237744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C62828"/>
                </a:solidFill>
                <a:latin typeface="Calibri"/>
              </a:rPr>
              <a:t>1st 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1st Gen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Vacuum Tubes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ENIAC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Machine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36592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424242"/>
                </a:solidFill>
                <a:latin typeface="Calibri"/>
              </a:rPr>
              <a:t>1940–1956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231136"/>
            <a:ext cx="2029968" cy="2487168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819656"/>
            <a:ext cx="20299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65100"/>
                </a:solidFill>
                <a:latin typeface="Calibri"/>
              </a:rPr>
              <a:t>2nd 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68296"/>
            <a:ext cx="1847088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2nd Gen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Transistors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IBM 1401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Assembly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791456"/>
            <a:ext cx="20299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424242"/>
                </a:solidFill>
                <a:latin typeface="Calibri"/>
              </a:rPr>
              <a:t>1956–1963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2176272"/>
            <a:ext cx="2139696" cy="259689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1764792"/>
            <a:ext cx="213969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D32"/>
                </a:solidFill>
                <a:latin typeface="Calibri"/>
              </a:rPr>
              <a:t>3rd 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313432"/>
            <a:ext cx="1956816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3rd Gen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Integrated Circuits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IBM 360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BASIC,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4846320"/>
            <a:ext cx="213969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424242"/>
                </a:solidFill>
                <a:latin typeface="Calibri"/>
              </a:rPr>
              <a:t>1964–1971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81544" y="2121408"/>
            <a:ext cx="2249424" cy="2706624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81544" y="1709928"/>
            <a:ext cx="224942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565C0"/>
                </a:solidFill>
                <a:latin typeface="Calibri"/>
              </a:rPr>
              <a:t>4th 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4" y="2258568"/>
            <a:ext cx="2066544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4th Gen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Microprocessors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Intel 4004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Personal Computers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4901184"/>
            <a:ext cx="224942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424242"/>
                </a:solidFill>
                <a:latin typeface="Calibri"/>
              </a:rPr>
              <a:t>1971–Present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51008" y="2066544"/>
            <a:ext cx="2359152" cy="2816352"/>
          </a:xfrm>
          <a:prstGeom prst="roundRect">
            <a:avLst>
              <a:gd name="adj" fmla="val 8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51008" y="1655064"/>
            <a:ext cx="23591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6A1B9A"/>
                </a:solidFill>
                <a:latin typeface="Calibri"/>
              </a:rPr>
              <a:t>5th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2448" y="2203704"/>
            <a:ext cx="2176272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5th Gen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AI &amp; ULSI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Watson, DeepMind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NLP,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51008" y="4956048"/>
            <a:ext cx="23591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424242"/>
                </a:solidFill>
                <a:latin typeface="Calibri"/>
              </a:rPr>
              <a:t>Present–Future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E9E9E"/>
                </a:solidFill>
                <a:latin typeface="Calibri"/>
              </a:rPr>
              <a:t>C-CAT Module 1  |  Computer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212121"/>
                </a:solidFill>
                <a:latin typeface="Calibri"/>
              </a:rPr>
              <a:t>Classification of Computers by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757575"/>
                </a:solidFill>
                <a:latin typeface="Calibri"/>
              </a:rPr>
              <a:t>From personal devices to the world's fastest machines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Microcomputer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Desktop, Laptop, Tablet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Single user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Cheapest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Most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743200"/>
            <a:ext cx="2377440" cy="292608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Minicomputer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PDP-11, IBM AS/400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Up to 200 users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Mid-range price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Department-level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011680"/>
            <a:ext cx="2377440" cy="36576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Mainframe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IBM zSeries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Thousands of users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Banking, Airlines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24/7 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280160"/>
            <a:ext cx="2377440" cy="4389120"/>
          </a:xfrm>
          <a:prstGeom prst="roundRect">
            <a:avLst>
              <a:gd name="adj" fmla="val 8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13716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Supercomputer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PARAM (India), Fugaku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Scientific computing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Fastest processing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Weather, Genomics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4400" y="5897880"/>
            <a:ext cx="10058400" cy="32004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16161"/>
                </a:solidFill>
                <a:latin typeface="Calibri"/>
              </a:rPr>
              <a:t>Increasing Size, Power &amp; Cost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E9E9E"/>
                </a:solidFill>
                <a:latin typeface="Calibri"/>
              </a:rPr>
              <a:t>C-CAT Module 1  |  Computer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212121"/>
                </a:solidFill>
                <a:latin typeface="Calibri"/>
              </a:rPr>
              <a:t>Types of Computers by Data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757575"/>
                </a:solidFill>
                <a:latin typeface="Calibri"/>
              </a:rPr>
              <a:t>How different computers process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ANALOG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3291840" cy="36576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Processes CONTINUOUS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Examples: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Speedometer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Thermometer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Voltmeter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Uses physical quantities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(voltage, pressure)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No discrete values —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smooth, flowing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76072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~ Continuous Wave ~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DIGITAL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965960"/>
            <a:ext cx="3291840" cy="3657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1488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Processes DISCRETE data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(0s and 1s)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Examples: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Laptop, Desktop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Smartphone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ALL modern computers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are digital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Binary: everything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is 0 or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576072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[ 0 1 0 1 ]  Binary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37160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965960"/>
            <a:ext cx="3291840" cy="36576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1488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Combines BOTH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analog + digital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Examples: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Hospital ICU Monitors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Fuel pump displays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Analog sensors →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Digital processing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4242"/>
                </a:solidFill>
                <a:latin typeface="Calibri"/>
              </a:rPr>
              <a:t>Best of both worlds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6072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~ + [ 0 1 ]  Combined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E9E9E"/>
                </a:solidFill>
                <a:latin typeface="Calibri"/>
              </a:rPr>
              <a:t>C-CAT Module 1  |  Computer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212121"/>
                </a:solidFill>
                <a:latin typeface="Calibri"/>
              </a:rPr>
              <a:t>The Revolution: Vacuum Tube → Transistor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029200" cy="438912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VACUUM TUBE  (1940s)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C62828"/>
                </a:solidFill>
                <a:latin typeface="Calibri"/>
              </a:rPr>
              <a:t>Size:  ~5 cm tall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C62828"/>
                </a:solidFill>
                <a:latin typeface="Calibri"/>
              </a:rPr>
              <a:t>Heat:  Enormous (rooms needed cooling)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C62828"/>
                </a:solidFill>
                <a:latin typeface="Calibri"/>
              </a:rPr>
              <a:t>Reliability:  Failed frequently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C62828"/>
                </a:solidFill>
                <a:latin typeface="Calibri"/>
              </a:rPr>
              <a:t>Power:  Huge consumption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C62828"/>
                </a:solidFill>
                <a:latin typeface="Calibri"/>
              </a:rPr>
              <a:t>Speed:  Thousands of ops/sec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C62828"/>
                </a:solidFill>
                <a:latin typeface="Calibri"/>
              </a:rPr>
              <a:t>Cost:  Very expensive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C62828"/>
                </a:solidFill>
                <a:latin typeface="Calibri"/>
              </a:rPr>
              <a:t>Lifespan:  ~1,000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097280"/>
            <a:ext cx="5029200" cy="43891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0972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TRANSISTOR  (1950s)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Calibri"/>
              </a:rPr>
              <a:t>Size:  ~1 cm (100x smaller!)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Calibri"/>
              </a:rPr>
              <a:t>Heat:  Much less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Calibri"/>
              </a:rPr>
              <a:t>Reliability:  Very reliable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Calibri"/>
              </a:rPr>
              <a:t>Power:  Low consumption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Calibri"/>
              </a:rPr>
              <a:t>Speed:  Millions of ops/sec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Calibri"/>
              </a:rPr>
              <a:t>Cost:  Much cheaper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Calibri"/>
              </a:rPr>
              <a:t>Lifespan:  Decades</a:t>
            </a:r>
          </a:p>
        </p:txBody>
      </p:sp>
      <p:sp>
        <p:nvSpPr>
          <p:cNvPr id="9" name="Oval 8"/>
          <p:cNvSpPr/>
          <p:nvPr/>
        </p:nvSpPr>
        <p:spPr>
          <a:xfrm>
            <a:off x="5577840" y="2743200"/>
            <a:ext cx="1005840" cy="100584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One invention changed everything. The transistor made modern computing 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E9E9E"/>
                </a:solidFill>
                <a:latin typeface="Calibri"/>
              </a:rPr>
              <a:t>C-CAT Module 1  |  Computer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212121"/>
                </a:solidFill>
                <a:latin typeface="Calibri"/>
              </a:rPr>
              <a:t>50 Years of Progress: The Microprocessor Revolution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029200" cy="4389120"/>
          </a:xfrm>
          <a:prstGeom prst="roundRect">
            <a:avLst>
              <a:gd name="adj" fmla="val 8000"/>
            </a:avLst>
          </a:prstGeom>
          <a:solidFill>
            <a:srgbClr val="EFEBE9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Intel 4004  (1971)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4800" b="1">
                <a:solidFill>
                  <a:srgbClr val="795548"/>
                </a:solidFill>
                <a:latin typeface="Calibri"/>
              </a:rPr>
              <a:t>2,300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8D6E63"/>
                </a:solidFill>
                <a:latin typeface="Calibri"/>
              </a:rPr>
              <a:t>transistors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00" b="0">
                <a:solidFill>
                  <a:srgbClr val="5D4037"/>
                </a:solidFill>
                <a:latin typeface="Calibri"/>
              </a:rPr>
              <a:t>Clock:  740 KHz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00" b="0">
                <a:solidFill>
                  <a:srgbClr val="5D4037"/>
                </a:solidFill>
                <a:latin typeface="Calibri"/>
              </a:rPr>
              <a:t>Process:  10 μm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00" b="0">
                <a:solidFill>
                  <a:srgbClr val="5D4037"/>
                </a:solidFill>
                <a:latin typeface="Calibri"/>
              </a:rPr>
              <a:t>Purpose:  Calculator chip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795548"/>
                </a:solidFill>
                <a:latin typeface="Calibri"/>
              </a:rPr>
              <a:t>"First microprocessor ever made"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097280"/>
            <a:ext cx="5029200" cy="438912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0972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Modern Processor 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4400" b="1">
                <a:solidFill>
                  <a:srgbClr val="1565C0"/>
                </a:solidFill>
                <a:latin typeface="Calibri"/>
              </a:rPr>
              <a:t>100 Billion+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2A5F5"/>
                </a:solidFill>
                <a:latin typeface="Calibri"/>
              </a:rPr>
              <a:t>transistors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00" b="0">
                <a:solidFill>
                  <a:srgbClr val="0D47A1"/>
                </a:solidFill>
                <a:latin typeface="Calibri"/>
              </a:rPr>
              <a:t>Clock:  5+ GHz (6,700x faster)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00" b="0">
                <a:solidFill>
                  <a:srgbClr val="0D47A1"/>
                </a:solidFill>
                <a:latin typeface="Calibri"/>
              </a:rPr>
              <a:t>Process:  3 nm (3,300x smaller)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00" b="0">
                <a:solidFill>
                  <a:srgbClr val="0D47A1"/>
                </a:solidFill>
                <a:latin typeface="Calibri"/>
              </a:rPr>
              <a:t>Purpose:  Everything — AI, Gaming, Science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424242"/>
                </a:solidFill>
                <a:latin typeface="Calibri"/>
              </a:rPr>
              <a:t> 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1565C0"/>
                </a:solidFill>
                <a:latin typeface="Calibri"/>
              </a:rPr>
              <a:t>"Billions of times more powerful"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3200400"/>
            <a:ext cx="1005840" cy="457200"/>
          </a:xfrm>
          <a:prstGeom prst="rightArrow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32120" y="2286000"/>
            <a:ext cx="1097280" cy="109728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46888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×43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Million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 50 years: from 2,300 transistors to 100 BILLION. This is Moore's Law in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E9E9E"/>
                </a:solidFill>
                <a:latin typeface="Calibri"/>
              </a:rPr>
              <a:t>C-CAT Module 1  |  Computer Fundamentals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