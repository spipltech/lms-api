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Annotated with color-coded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2  |  Slide 1/6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Preprocessor</a:t>
            </a:r>
            <a:br/>
            <a:r>
              <a:t>Directives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40" y="1554480"/>
            <a:ext cx="457200" cy="32004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1371600"/>
            <a:ext cx="5029200" cy="7315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#include &lt;stdio.h&gt;</a:t>
            </a:r>
            <a:br/>
            <a:r>
              <a:t>#define PI 3.14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01168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Global</a:t>
            </a:r>
            <a:br/>
            <a:r>
              <a:t>Declarations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2377440"/>
            <a:ext cx="45720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194560"/>
            <a:ext cx="5029200" cy="7315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 count = 0;</a:t>
            </a:r>
            <a:br/>
            <a:r>
              <a:t>float pi = 3.14;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201168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Main Function</a:t>
            </a:r>
            <a:br/>
            <a:r>
              <a:t>Header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06040" y="3200400"/>
            <a:ext cx="457200" cy="3200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3017520"/>
            <a:ext cx="5029200" cy="731520"/>
          </a:xfrm>
          <a:prstGeom prst="roundRect">
            <a:avLst/>
          </a:prstGeom>
          <a:solidFill>
            <a:srgbClr val="FDE8D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 main(void) {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201168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Local</a:t>
            </a:r>
            <a:br/>
            <a:r>
              <a:t>Variables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06040" y="4023360"/>
            <a:ext cx="457200" cy="320040"/>
          </a:xfrm>
          <a:prstGeom prst="right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3840480"/>
            <a:ext cx="5029200" cy="731520"/>
          </a:xfrm>
          <a:prstGeom prst="roundRect">
            <a:avLst/>
          </a:prstGeom>
          <a:solidFill>
            <a:srgbClr val="EBDEF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int x = 10;</a:t>
            </a:r>
            <a:br/>
            <a:r>
              <a:t>    float y = 2.5;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201168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Statements &amp;</a:t>
            </a:r>
            <a:br/>
            <a:r>
              <a:t>Expressions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06040" y="4846320"/>
            <a:ext cx="457200" cy="32004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4663440"/>
            <a:ext cx="5029200" cy="73152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printf("x = %d", x);</a:t>
            </a:r>
            <a:br/>
            <a:r>
              <a:t>    y = x * pi;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201168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Return</a:t>
            </a:r>
            <a:br/>
            <a:r>
              <a:t>Statement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606040" y="5669280"/>
            <a:ext cx="457200" cy="320040"/>
          </a:xfrm>
          <a:prstGeom prst="rightArrow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0" y="5486400"/>
            <a:ext cx="5029200" cy="731520"/>
          </a:xfrm>
          <a:prstGeom prst="roundRect">
            <a:avLst/>
          </a:prstGeom>
          <a:solidFill>
            <a:srgbClr val="D1F2EB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return 0;</a:t>
            </a:r>
            <a:br/>
            <a: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371600"/>
            <a:ext cx="3200400" cy="493776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KEY TIPS</a:t>
            </a:r>
            <a:br/>
            <a:br/>
            <a:r>
              <a:t>1. Every C program MUST have main()</a:t>
            </a:r>
            <a:br/>
            <a:br/>
            <a:r>
              <a:t>2. #include goes BEFORE main</a:t>
            </a:r>
            <a:br/>
            <a:br/>
            <a:r>
              <a:t>3. Statements end with ;</a:t>
            </a:r>
            <a:br/>
            <a:br/>
            <a:r>
              <a:t>4. Curly braces { } define scope</a:t>
            </a:r>
            <a:br/>
            <a:br/>
            <a:r>
              <a:t>5. return 0 =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Size shown as proportional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2  |  Slide 2/6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37160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463040"/>
            <a:ext cx="1005840" cy="822960"/>
          </a:xfrm>
          <a:prstGeom prst="roundRect">
            <a:avLst/>
          </a:prstGeom>
          <a:solidFill>
            <a:srgbClr val="FDE8D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1 Byte</a:t>
            </a:r>
            <a:br/>
            <a:r>
              <a:t>8 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0020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7E22"/>
                </a:solidFill>
                <a:latin typeface="Calibri"/>
              </a:defRPr>
            </a:pPr>
            <a:r>
              <a:t>Range: -128 to 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371600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468880"/>
            <a:ext cx="4023360" cy="82296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4 Bytes</a:t>
            </a:r>
            <a:br/>
            <a:r>
              <a:t>32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Range: -2B to +2B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13716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float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474720"/>
            <a:ext cx="4023360" cy="82296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4 Bytes</a:t>
            </a:r>
            <a:br/>
            <a:r>
              <a:t>32 bits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Range: 6 decimal digits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37160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double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480560"/>
            <a:ext cx="8046720" cy="822960"/>
          </a:xfrm>
          <a:prstGeom prst="roundRect">
            <a:avLst/>
          </a:prstGeom>
          <a:solidFill>
            <a:srgbClr val="EBDEF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8 Bytes</a:t>
            </a:r>
            <a:br/>
            <a:r>
              <a:t>64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461772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Range: 15 decimal digits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63040"/>
            <a:ext cx="3657600" cy="4572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MEMORY VISUAL</a:t>
            </a:r>
            <a:br/>
            <a:br/>
            <a:r>
              <a:t>char:    [_]</a:t>
            </a:r>
            <a:br/>
            <a:br/>
            <a:r>
              <a:t>int:     [____]</a:t>
            </a:r>
            <a:br/>
            <a:br/>
            <a:r>
              <a:t>float:   [____]</a:t>
            </a:r>
            <a:br/>
            <a:br/>
            <a:r>
              <a:t>double:  [________]</a:t>
            </a:r>
            <a:br/>
            <a:br/>
            <a:r>
              <a:t>Each [ ] = 1 byte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Operator Precedence 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Highest priority at top, lowest at 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2  |  Slide 3/6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38404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Postfix:  ()  []  -&gt;  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93392"/>
            <a:ext cx="50292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Unary:  !  ~  ++  --  (type)  *  &amp;  sizeof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615184"/>
            <a:ext cx="621792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Multiplicative:  *  / 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236976"/>
            <a:ext cx="7315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Additive:  +  -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858768"/>
            <a:ext cx="8412480" cy="5486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Shift:  &lt;&lt;  &gt;&gt;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480560"/>
            <a:ext cx="96012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Relational:  &lt;  &lt;=  &gt;  &gt;=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02352"/>
            <a:ext cx="10789920" cy="5486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Equality:  ==  !=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5724144"/>
            <a:ext cx="11430000" cy="5486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Assignment:  =  +=  -=  *=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Tip: "Please Excuse My Dear Aunt Sally" doesn't fully apply in C — memorize the full table!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Pre-Increment vs Post-Increment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Split-screen code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2  |  Slide 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4864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PRE-INCREMENT  (++x)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int x = 5;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int y = ++x;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E86C1"/>
                </a:solidFill>
                <a:latin typeface="Calibri"/>
              </a:defRPr>
            </a:pPr>
            <a:r>
              <a:t>Step 1: x increments → x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E86C1"/>
                </a:solidFill>
                <a:latin typeface="Calibri"/>
              </a:defRPr>
            </a:pPr>
            <a:r>
              <a:t>Step 2: y gets value  → y =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Result:  x = 6,  y =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45720" cy="47548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54864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POST-INCREMENT  (x++)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int x = 5;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int y = x++;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432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675120" y="30632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Step 1: y gets value  → y =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832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Step 2: x increments → x =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033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675120" y="40233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Result:  x = 6,  y =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029200"/>
            <a:ext cx="8229600" cy="109728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33333"/>
                </a:solidFill>
                <a:latin typeface="Calibri"/>
              </a:defRPr>
            </a:pPr>
            <a:r>
              <a:t>KEY DIFFERENCE:  Pre (++x) increments FIRST, then assigns.</a:t>
            </a:r>
            <a:br/>
            <a:r>
              <a:t>Post (x++) assigns FIRST, then increments.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Type Conversion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The #1 mistake in C programming exams!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2  |  Slide 5/6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463040"/>
            <a:ext cx="9418320" cy="164592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74C3C"/>
                </a:solidFill>
                <a:latin typeface="Calibri"/>
              </a:defRPr>
            </a:pPr>
            <a:r>
              <a:t>WARNING:  float x = 5 / 2;  gives  x = 2.000000  NOT  2.500000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5486400" cy="27432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WHY?</a:t>
            </a:r>
            <a:br/>
            <a:br/>
            <a:r>
              <a:t>5 and 2 are both int</a:t>
            </a:r>
            <a:br/>
            <a:r>
              <a:t>→ Integer division: 5/2 = 2</a:t>
            </a:r>
            <a:br/>
            <a:r>
              <a:t>→ Then 2 is cast to float = 2.0</a:t>
            </a:r>
            <a:br/>
            <a:br/>
            <a:r>
              <a:t>The division happens BEFORE</a:t>
            </a:r>
            <a:br/>
            <a:r>
              <a:t>the assignment to float!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5486400" cy="274320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FIXES:</a:t>
            </a:r>
            <a:br/>
            <a:br/>
            <a:r>
              <a:t>float x = 5.0 / 2;    → 2.5</a:t>
            </a:r>
            <a:br/>
            <a:r>
              <a:t>float x = 5 / 2.0;    → 2.5</a:t>
            </a:r>
            <a:br/>
            <a:r>
              <a:t>float x = (float)5/2; → 2.5</a:t>
            </a:r>
            <a:br/>
            <a:r>
              <a:t>float x = 5.0 / 2.0;  → 2.5</a:t>
            </a:r>
            <a:br/>
            <a:br/>
            <a:r>
              <a:t>Make at least ONE operand float!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printf Format Specifiers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Quick reference for output formatting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2  |  Slide 6/6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1097280" cy="10058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371600"/>
            <a:ext cx="4572000" cy="10058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Integer (decimal)</a:t>
            </a:r>
            <a:br/>
            <a:r>
              <a:t>printf("%d", 42);  →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651760"/>
            <a:ext cx="109728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651760"/>
            <a:ext cx="4572000" cy="100584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Float / Double</a:t>
            </a:r>
            <a:br/>
            <a:r>
              <a:t>printf("%f", 3.14);  → 3.140000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931920"/>
            <a:ext cx="1097280" cy="10058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931920"/>
            <a:ext cx="4572000" cy="1005840"/>
          </a:xfrm>
          <a:prstGeom prst="roundRect">
            <a:avLst/>
          </a:prstGeom>
          <a:solidFill>
            <a:srgbClr val="FDE8D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Character</a:t>
            </a:r>
            <a:br/>
            <a:r>
              <a:t>printf("%c", 'A');  →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212079"/>
            <a:ext cx="1097280" cy="10058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5212079"/>
            <a:ext cx="4572000" cy="1005840"/>
          </a:xfrm>
          <a:prstGeom prst="roundRect">
            <a:avLst/>
          </a:prstGeom>
          <a:solidFill>
            <a:srgbClr val="EBDEF0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String</a:t>
            </a:r>
            <a:br/>
            <a:r>
              <a:t>printf("%s", "Hi");  → 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1097280" cy="10058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1371600"/>
            <a:ext cx="4572000" cy="1005840"/>
          </a:xfrm>
          <a:prstGeom prst="roundRect">
            <a:avLst/>
          </a:prstGeom>
          <a:solidFill>
            <a:srgbClr val="D1F2EB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Octal</a:t>
            </a:r>
            <a:br/>
            <a:r>
              <a:t>printf("%o", 8);  →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1097280" cy="10058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2651760"/>
            <a:ext cx="4572000" cy="100584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Hexadecimal</a:t>
            </a:r>
            <a:br/>
            <a:r>
              <a:t>printf("%x", 255);  → 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1097280" cy="10058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3931920"/>
            <a:ext cx="4572000" cy="100584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Unsigned int</a:t>
            </a:r>
            <a:br/>
            <a:r>
              <a:t>printf("%u", 42);  → 42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212079"/>
            <a:ext cx="1097280" cy="10058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%ld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0" y="5212079"/>
            <a:ext cx="4572000" cy="10058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Long int</a:t>
            </a:r>
            <a:br/>
            <a:r>
              <a:t>printf("%ld", 100000L);  → 100000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